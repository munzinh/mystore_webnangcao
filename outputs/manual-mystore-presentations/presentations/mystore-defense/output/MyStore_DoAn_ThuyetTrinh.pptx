
<file path=[Content_Types].xml><?xml version="1.0" encoding="utf-8"?>
<Types xmlns="http://schemas.openxmlformats.org/package/2006/content-types">
  <Default Extension="xml" ContentType="application/vnd.openxmlformats-package.core-properties+xml"/>
  <Default Extension="bin" ContentType="image/webp"/>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bff7b3312414a51" /><Relationship Type="http://schemas.openxmlformats.org/officeDocument/2006/relationships/extended-properties" Target="/docProps/app.xml" Id="R36d2491ec13a4e96" /><Relationship Type="http://schemas.openxmlformats.org/officeDocument/2006/relationships/officeDocument" Target="/ppt/presentation.xml" Id="R6e59d5a5311748af" /></Relationships>
</file>

<file path=ppt/presentation.xml><?xml version="1.0" encoding="utf-8"?>
<p:presentation xmlns:p="http://schemas.openxmlformats.org/presentationml/2006/main">
  <p:sldMasterIdLst>
    <p:sldMasterId xmlns:r="http://schemas.openxmlformats.org/officeDocument/2006/relationships" id="2147483648" r:id="R0d8e6d5d1d794aa1"/>
  </p:sldMasterIdLst>
  <p:notesMasterIdLst>
    <p:notesMasterId xmlns:r="http://schemas.openxmlformats.org/officeDocument/2006/relationships" r:id="R65ee6c9baa064378"/>
  </p:notesMasterIdLst>
  <p:sldIdLst>
    <p:sldId xmlns:r="http://schemas.openxmlformats.org/officeDocument/2006/relationships" id="256" r:id="Ra99aadd7686c42ab"/>
    <p:sldId xmlns:r="http://schemas.openxmlformats.org/officeDocument/2006/relationships" id="257" r:id="R5b3806bf18cf496f"/>
    <p:sldId xmlns:r="http://schemas.openxmlformats.org/officeDocument/2006/relationships" id="258" r:id="R6190bf19377f4f13"/>
    <p:sldId xmlns:r="http://schemas.openxmlformats.org/officeDocument/2006/relationships" id="259" r:id="Re3ddaf2d574a420d"/>
    <p:sldId xmlns:r="http://schemas.openxmlformats.org/officeDocument/2006/relationships" id="260" r:id="R7f20b8c9aca3430e"/>
    <p:sldId xmlns:r="http://schemas.openxmlformats.org/officeDocument/2006/relationships" id="261" r:id="R29712c4103034c18"/>
    <p:sldId xmlns:r="http://schemas.openxmlformats.org/officeDocument/2006/relationships" id="262" r:id="R1e23c0b071f743ae"/>
    <p:sldId xmlns:r="http://schemas.openxmlformats.org/officeDocument/2006/relationships" id="263" r:id="Rd27d61de72e04660"/>
    <p:sldId xmlns:r="http://schemas.openxmlformats.org/officeDocument/2006/relationships" id="264" r:id="R3b5ff7970fe24f6e"/>
    <p:sldId xmlns:r="http://schemas.openxmlformats.org/officeDocument/2006/relationships" id="265" r:id="R2bfe465a89484a1c"/>
    <p:sldId xmlns:r="http://schemas.openxmlformats.org/officeDocument/2006/relationships" id="266" r:id="R4ae0103bc70b4816"/>
    <p:sldId xmlns:r="http://schemas.openxmlformats.org/officeDocument/2006/relationships" id="267" r:id="R83d1a22bf97b4308"/>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normalViewPr>
    <p:restoredLeft sz="15611"/>
    <p:restoredTop sz="94658"/>
  </p:normalViewPr>
  <p:slideViewPr>
    <p:cSldViewPr snapToGrid="0">
      <p:cViewPr varScale="1">
        <p:scale>
          <a:sx xmlns:a="http://schemas.openxmlformats.org/drawingml/2006/main" n="120" d="100"/>
          <a:sy xmlns:a="http://schemas.openxmlformats.org/drawingml/2006/main" n="120" d="100"/>
        </p:scale>
        <p:origin x="800" y="184"/>
      </p:cViewPr>
      <p:guideLst/>
    </p:cSldViewPr>
  </p:slideViewPr>
  <p:notesTextViewPr>
    <p:cViewPr>
      <p:scale>
        <a:sx xmlns:a="http://schemas.openxmlformats.org/drawingml/2006/main" n="1" d="1"/>
        <a:sy xmlns:a="http://schemas.openxmlformats.org/drawingml/2006/main"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656cf2af18c54082" /><Relationship Type="http://schemas.openxmlformats.org/officeDocument/2006/relationships/slideMaster" Target="/ppt/slideMasters/slideMaster1.xml" Id="R0d8e6d5d1d794aa1" /><Relationship Type="http://schemas.openxmlformats.org/officeDocument/2006/relationships/notesMaster" Target="/ppt/notesMasters/notesMaster1.xml" Id="R65ee6c9baa064378" /><Relationship Type="http://schemas.openxmlformats.org/officeDocument/2006/relationships/presProps" Target="/ppt/presProps.xml" Id="Rd77c8b900cae44d0" /><Relationship Type="http://schemas.openxmlformats.org/officeDocument/2006/relationships/viewProps" Target="/ppt/viewProps.xml" Id="R84d8c6fec61846da" /><Relationship Type="http://schemas.openxmlformats.org/officeDocument/2006/relationships/tableStyles" Target="/ppt/tableStyles.xml" Id="R727f5ffcfb8246ea" /><Relationship Type="http://schemas.openxmlformats.org/officeDocument/2006/relationships/slide" Target="/ppt/slides/slide1.xml" Id="Ra99aadd7686c42ab" /><Relationship Type="http://schemas.openxmlformats.org/officeDocument/2006/relationships/slide" Target="/ppt/slides/slide2.xml" Id="R5b3806bf18cf496f" /><Relationship Type="http://schemas.openxmlformats.org/officeDocument/2006/relationships/slide" Target="/ppt/slides/slide3.xml" Id="R6190bf19377f4f13" /><Relationship Type="http://schemas.openxmlformats.org/officeDocument/2006/relationships/slide" Target="/ppt/slides/slide4.xml" Id="Re3ddaf2d574a420d" /><Relationship Type="http://schemas.openxmlformats.org/officeDocument/2006/relationships/slide" Target="/ppt/slides/slide5.xml" Id="R7f20b8c9aca3430e" /><Relationship Type="http://schemas.openxmlformats.org/officeDocument/2006/relationships/slide" Target="/ppt/slides/slide6.xml" Id="R29712c4103034c18" /><Relationship Type="http://schemas.openxmlformats.org/officeDocument/2006/relationships/slide" Target="/ppt/slides/slide7.xml" Id="R1e23c0b071f743ae" /><Relationship Type="http://schemas.openxmlformats.org/officeDocument/2006/relationships/slide" Target="/ppt/slides/slide8.xml" Id="Rd27d61de72e04660" /><Relationship Type="http://schemas.openxmlformats.org/officeDocument/2006/relationships/slide" Target="/ppt/slides/slide9.xml" Id="R3b5ff7970fe24f6e" /><Relationship Type="http://schemas.openxmlformats.org/officeDocument/2006/relationships/slide" Target="/ppt/slides/slide10.xml" Id="R2bfe465a89484a1c" /><Relationship Type="http://schemas.openxmlformats.org/officeDocument/2006/relationships/slide" Target="/ppt/slides/slide11.xml" Id="R4ae0103bc70b4816" /><Relationship Type="http://schemas.openxmlformats.org/officeDocument/2006/relationships/slide" Target="/ppt/slides/slide12.xml" Id="R83d1a22bf97b430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3cd6bf5fe3245d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f46b3388c3040a2" /><Relationship Type="http://schemas.openxmlformats.org/officeDocument/2006/relationships/notesMaster" Target="/ppt/notesMasters/notesMaster1.xml" Id="Raea00f355273424d" /></Relationships>
</file>

<file path=ppt/notesSlides/_rels/notesSlide2.xml.rels>&#65279;<?xml version="1.0" encoding="utf-8"?><Relationships xmlns="http://schemas.openxmlformats.org/package/2006/relationships"><Relationship Type="http://schemas.openxmlformats.org/officeDocument/2006/relationships/slide" Target="/ppt/slides/slide2.xml" Id="Rcced75ea2870472a" /><Relationship Type="http://schemas.openxmlformats.org/officeDocument/2006/relationships/notesMaster" Target="/ppt/notesMasters/notesMaster1.xml" Id="R82d3c89d46434d44" /></Relationships>
</file>

<file path=ppt/notesSlides/_rels/notesSlide3.xml.rels>&#65279;<?xml version="1.0" encoding="utf-8"?><Relationships xmlns="http://schemas.openxmlformats.org/package/2006/relationships"><Relationship Type="http://schemas.openxmlformats.org/officeDocument/2006/relationships/slide" Target="/ppt/slides/slide3.xml" Id="Rc793daa1202c4d0d" /><Relationship Type="http://schemas.openxmlformats.org/officeDocument/2006/relationships/notesMaster" Target="/ppt/notesMasters/notesMaster1.xml" Id="R972aba71efd24150" /></Relationships>
</file>

<file path=ppt/notesSlides/_rels/notesSlide4.xml.rels>&#65279;<?xml version="1.0" encoding="utf-8"?><Relationships xmlns="http://schemas.openxmlformats.org/package/2006/relationships"><Relationship Type="http://schemas.openxmlformats.org/officeDocument/2006/relationships/slide" Target="/ppt/slides/slide4.xml" Id="R3219e7807b234c4f" /><Relationship Type="http://schemas.openxmlformats.org/officeDocument/2006/relationships/notesMaster" Target="/ppt/notesMasters/notesMaster1.xml" Id="R039ee449ba2a4770" /></Relationships>
</file>

<file path=ppt/notesSlides/_rels/notesSlide5.xml.rels>&#65279;<?xml version="1.0" encoding="utf-8"?><Relationships xmlns="http://schemas.openxmlformats.org/package/2006/relationships"><Relationship Type="http://schemas.openxmlformats.org/officeDocument/2006/relationships/slide" Target="/ppt/slides/slide5.xml" Id="Ra4ad90cd00be4bf4" /><Relationship Type="http://schemas.openxmlformats.org/officeDocument/2006/relationships/notesMaster" Target="/ppt/notesMasters/notesMaster1.xml" Id="R8b9578e7b73c48a1" /></Relationships>
</file>

<file path=ppt/notesSlides/_rels/notesSlide6.xml.rels>&#65279;<?xml version="1.0" encoding="utf-8"?><Relationships xmlns="http://schemas.openxmlformats.org/package/2006/relationships"><Relationship Type="http://schemas.openxmlformats.org/officeDocument/2006/relationships/slide" Target="/ppt/slides/slide6.xml" Id="Ra50ec8dc94d24aea" /><Relationship Type="http://schemas.openxmlformats.org/officeDocument/2006/relationships/notesMaster" Target="/ppt/notesMasters/notesMaster1.xml" Id="Rc243fd485c174276" /></Relationships>
</file>

<file path=ppt/notesSlides/_rels/notesSlide7.xml.rels>&#65279;<?xml version="1.0" encoding="utf-8"?><Relationships xmlns="http://schemas.openxmlformats.org/package/2006/relationships"><Relationship Type="http://schemas.openxmlformats.org/officeDocument/2006/relationships/slide" Target="/ppt/slides/slide7.xml" Id="Rc0872e1590cd4b51" /><Relationship Type="http://schemas.openxmlformats.org/officeDocument/2006/relationships/notesMaster" Target="/ppt/notesMasters/notesMaster1.xml" Id="Rfef4ad100aa44899" /></Relationships>
</file>

<file path=ppt/notesSlides/_rels/notesSlide8.xml.rels>&#65279;<?xml version="1.0" encoding="utf-8"?><Relationships xmlns="http://schemas.openxmlformats.org/package/2006/relationships"><Relationship Type="http://schemas.openxmlformats.org/officeDocument/2006/relationships/slide" Target="/ppt/slides/slide8.xml" Id="R2bee15d6e9584ce7" /><Relationship Type="http://schemas.openxmlformats.org/officeDocument/2006/relationships/notesMaster" Target="/ppt/notesMasters/notesMaster1.xml" Id="R619b2a86fa414a12" /></Relationships>
</file>

<file path=ppt/notesSlides/_rels/notesSlide9.xml.rels>&#65279;<?xml version="1.0" encoding="utf-8"?><Relationships xmlns="http://schemas.openxmlformats.org/package/2006/relationships"><Relationship Type="http://schemas.openxmlformats.org/officeDocument/2006/relationships/slide" Target="/ppt/slides/slide9.xml" Id="R983e5999d6c94d47" /><Relationship Type="http://schemas.openxmlformats.org/officeDocument/2006/relationships/notesMaster" Target="/ppt/notesMasters/notesMaster1.xml" Id="Rdaaf3c0190ba4ca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39c1d843e0747aa" /><Relationship Type="http://schemas.openxmlformats.org/officeDocument/2006/relationships/notesMaster" Target="/ppt/notesMasters/notesMaster1.xml" Id="Rdebbf08e7d1c4d9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163b6e0043a4207" /><Relationship Type="http://schemas.openxmlformats.org/officeDocument/2006/relationships/notesMaster" Target="/ppt/notesMasters/notesMaster1.xml" Id="R6430031fe39d4cf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6d61ba0c2b94ebf" /><Relationship Type="http://schemas.openxmlformats.org/officeDocument/2006/relationships/notesMaster" Target="/ppt/notesMasters/notesMaster1.xml" Id="R5f45ea6414aa4eb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b2b792d370e472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eed3bb5e3324301" /><Relationship Type="http://schemas.openxmlformats.org/officeDocument/2006/relationships/slideLayout" Target="/ppt/slideLayouts/slideLayout1.xml" Id="R8250891d82f344d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250891d82f344d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e380b67059547fa" /><Relationship Type="http://schemas.openxmlformats.org/officeDocument/2006/relationships/image" Target="/ppt/media/image.bin" Id="R42bb49c39d694a4e" /><Relationship Type="http://schemas.openxmlformats.org/officeDocument/2006/relationships/notesSlide" Target="/ppt/notesSlides/notesSlide1.xml" Id="R3ef8e656819049f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2ba63e5bb344b56" /><Relationship Type="http://schemas.openxmlformats.org/officeDocument/2006/relationships/notesSlide" Target="/ppt/notesSlides/notesSlide2.xml" Id="R793362a9b9ec4ef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03cc5e5166344e0" /><Relationship Type="http://schemas.openxmlformats.org/officeDocument/2006/relationships/notesSlide" Target="/ppt/notesSlides/notesSlide3.xml" Id="R9d46c2f88d14449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211cd123bad42f0" /><Relationship Type="http://schemas.openxmlformats.org/officeDocument/2006/relationships/notesSlide" Target="/ppt/notesSlides/notesSlide4.xml" Id="R5ccab970feab43d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06d182cd1904258" /><Relationship Type="http://schemas.openxmlformats.org/officeDocument/2006/relationships/notesSlide" Target="/ppt/notesSlides/notesSlide5.xml" Id="Rab92b84db57947b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3348a3b1a794434" /><Relationship Type="http://schemas.openxmlformats.org/officeDocument/2006/relationships/image" Target="/ppt/media/image.png" Id="Rf0b44b4784074fa9" /><Relationship Type="http://schemas.openxmlformats.org/officeDocument/2006/relationships/notesSlide" Target="/ppt/notesSlides/notesSlide6.xml" Id="Rad79f1e75cf4420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a1bc5ca31594607" /><Relationship Type="http://schemas.openxmlformats.org/officeDocument/2006/relationships/notesSlide" Target="/ppt/notesSlides/notesSlide7.xml" Id="Rf390e59820864f4f"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1b1be95f180e4ad0" /><Relationship Type="http://schemas.openxmlformats.org/officeDocument/2006/relationships/notesSlide" Target="/ppt/notesSlides/notesSlide8.xml" Id="Rded51e181a114304"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442c74560a004a06" /><Relationship Type="http://schemas.openxmlformats.org/officeDocument/2006/relationships/notesSlide" Target="/ppt/notesSlides/notesSlide9.xml" Id="Rdf6dcd77769647a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6e4ddaaf17504388" /><Relationship Type="http://schemas.openxmlformats.org/officeDocument/2006/relationships/notesSlide" Target="/ppt/notesSlides/notesSlide10.xml" Id="R5069e616b92d4be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4cfbab3341474f36" /><Relationship Type="http://schemas.openxmlformats.org/officeDocument/2006/relationships/notesSlide" Target="/ppt/notesSlides/notesSlide11.xml" Id="Re3ea108162c548a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f0aa3423bf0f48ac" /><Relationship Type="http://schemas.openxmlformats.org/officeDocument/2006/relationships/notesSlide" Target="/ppt/notesSlides/notesSlide12.xml" Id="Re19c1bfd22864eee"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C90529BC-452F-479D-BA20-78394422DE2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7202A"/>
          </a:solidFill>
          <a:ln xmlns:a="http://schemas.openxmlformats.org/drawingml/2006/main" w="0">
            <a:solidFill>
              <a:srgbClr val="000000">
                <a:alpha val="0"/>
              </a:srgbClr>
            </a:solidFill>
            <a:prstDash val="solid"/>
          </a:ln>
        </p:spPr>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42bb49c39d694a4e"/>
          <a:srcRect xmlns:a="http://schemas.openxmlformats.org/drawingml/2006/main" l="34300" t="0" r="34300" b="0"/>
          <a:stretch xmlns:a="http://schemas.openxmlformats.org/drawingml/2006/main">
            <a:fillRect l="0" t="0" r="0" b="0"/>
          </a:stretch>
        </p:blipFill>
        <p:spPr>
          <a:xfrm xmlns:a="http://schemas.openxmlformats.org/drawingml/2006/main">
            <a:off x="7239000" y="0"/>
            <a:ext cx="4953000" cy="68580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991D4066-BF2E-41C2-B29F-A69D002215E0}"/>
              </a:ext>
            </a:extLst>
          </p:cNvPr>
          <p:cNvSpPr>
            <a:spLocks xmlns:a="http://schemas.openxmlformats.org/drawingml/2006/main" noGrp="1"/>
          </p:cNvSpPr>
          <p:nvPr/>
        </p:nvSpPr>
        <p:spPr>
          <a:xfrm xmlns:a="http://schemas.openxmlformats.org/drawingml/2006/main">
            <a:off x="7000875" y="0"/>
            <a:ext cx="762000" cy="6858000"/>
          </a:xfrm>
          <a:prstGeom xmlns:a="http://schemas.openxmlformats.org/drawingml/2006/main" prst="rect">
            <a:avLst/>
          </a:prstGeom>
          <a:solidFill xmlns:a="http://schemas.openxmlformats.org/drawingml/2006/main">
            <a:srgbClr val="17202A">
              <a:alpha val="86667"/>
            </a:srgbClr>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CB89E0B4-8CDA-4255-BE34-16D21F38E090}"/>
              </a:ext>
            </a:extLst>
          </p:cNvPr>
          <p:cNvSpPr>
            <a:spLocks xmlns:a="http://schemas.openxmlformats.org/drawingml/2006/main" noGrp="1"/>
          </p:cNvSpPr>
          <p:nvPr/>
        </p:nvSpPr>
        <p:spPr>
          <a:xfrm xmlns:a="http://schemas.openxmlformats.org/drawingml/2006/main">
            <a:off x="666750" y="666750"/>
            <a:ext cx="4953000" cy="666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4350" b="1">
                <a:solidFill>
                  <a:srgbClr val="F7F4EE"/>
                </a:solidFill>
                <a:latin typeface="Aptos Display"/>
                <a:ea typeface="Aptos Display"/>
                <a:cs typeface="Aptos Display"/>
              </a:defRPr>
            </a:pPr>
            <a:r>
              <a:rPr sz="4350" b="1">
                <a:solidFill>
                  <a:srgbClr val="F7F4EE"/>
                </a:solidFill>
                <a:latin typeface="Aptos Display"/>
                <a:ea typeface="Aptos Display"/>
                <a:cs typeface="Aptos Display"/>
              </a:rPr>
              <a:t>MYSTORE</a:t>
            </a:r>
          </a:p>
        </p:txBody>
      </p:sp>
      <p:sp>
        <p:nvSpPr>
          <p:cNvPr id="5" name="">
            <a:extLst xmlns:a="http://schemas.openxmlformats.org/drawingml/2006/main">
              <a:ext uri="{FF2B5EF4-FFF2-40B4-BE49-F238E27FC236}">
                <a16:creationId xmlns:a16="http://schemas.microsoft.com/office/drawing/2014/main" id="{C37C5F27-5313-4638-997E-0B5DD9D77684}"/>
              </a:ext>
            </a:extLst>
          </p:cNvPr>
          <p:cNvSpPr>
            <a:spLocks xmlns:a="http://schemas.openxmlformats.org/drawingml/2006/main" noGrp="1"/>
          </p:cNvSpPr>
          <p:nvPr/>
        </p:nvSpPr>
        <p:spPr>
          <a:xfrm xmlns:a="http://schemas.openxmlformats.org/drawingml/2006/main">
            <a:off x="685800" y="1466850"/>
            <a:ext cx="6000750" cy="800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75" b="0">
                <a:solidFill>
                  <a:srgbClr val="E8E1D5"/>
                </a:solidFill>
                <a:latin typeface="Aptos"/>
                <a:ea typeface="Aptos"/>
                <a:cs typeface="Aptos"/>
              </a:defRPr>
            </a:pPr>
            <a:r>
              <a:rPr sz="1875" b="0">
                <a:solidFill>
                  <a:srgbClr val="E8E1D5"/>
                </a:solidFill>
                <a:latin typeface="Aptos"/>
                <a:ea typeface="Aptos"/>
                <a:cs typeface="Aptos"/>
              </a:rPr>
              <a:t>Website thương mại điện tử tích hợp hệ thống gợi ý sản phẩm thông minh</a:t>
            </a:r>
          </a:p>
        </p:txBody>
      </p:sp>
      <p:sp>
        <p:nvSpPr>
          <p:cNvPr id="6" name="">
            <a:extLst xmlns:a="http://schemas.openxmlformats.org/drawingml/2006/main">
              <a:ext uri="{FF2B5EF4-FFF2-40B4-BE49-F238E27FC236}">
                <a16:creationId xmlns:a16="http://schemas.microsoft.com/office/drawing/2014/main" id="{3829A6CF-EEF7-4F34-B66D-B9A909B46B4E}"/>
              </a:ext>
            </a:extLst>
          </p:cNvPr>
          <p:cNvSpPr>
            <a:spLocks xmlns:a="http://schemas.openxmlformats.org/drawingml/2006/main" noGrp="1"/>
          </p:cNvSpPr>
          <p:nvPr/>
        </p:nvSpPr>
        <p:spPr>
          <a:xfrm xmlns:a="http://schemas.openxmlformats.org/drawingml/2006/main">
            <a:off x="666750" y="2647950"/>
            <a:ext cx="5810250" cy="1047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425" b="0">
                <a:solidFill>
                  <a:srgbClr val="E8E1D5"/>
                </a:solidFill>
                <a:latin typeface="Aptos"/>
                <a:ea typeface="Aptos"/>
                <a:cs typeface="Aptos"/>
              </a:defRPr>
            </a:pPr>
            <a:r>
              <a:rPr sz="1425" b="0">
                <a:solidFill>
                  <a:srgbClr val="E8E1D5"/>
                </a:solidFill>
                <a:latin typeface="Aptos"/>
                <a:ea typeface="Aptos"/>
                <a:cs typeface="Aptos"/>
              </a:rPr>
              <a:t>Đồ án xây dựng nền tảng mua sắm trực tuyến cho thiết bị điện tử, kết hợp React, Node.js, MongoDB và Flask ML Service để cá nhân hóa trải nghiệm người dùng.</a:t>
            </a:r>
          </a:p>
        </p:txBody>
      </p:sp>
      <p:sp>
        <p:nvSpPr>
          <p:cNvPr id="7" name="">
            <a:extLst xmlns:a="http://schemas.openxmlformats.org/drawingml/2006/main">
              <a:ext uri="{FF2B5EF4-FFF2-40B4-BE49-F238E27FC236}">
                <a16:creationId xmlns:a16="http://schemas.microsoft.com/office/drawing/2014/main" id="{28A2A405-EC7D-4967-8C51-E42EBEE95511}"/>
              </a:ext>
            </a:extLst>
          </p:cNvPr>
          <p:cNvSpPr>
            <a:spLocks xmlns:a="http://schemas.openxmlformats.org/drawingml/2006/main" noGrp="1"/>
          </p:cNvSpPr>
          <p:nvPr/>
        </p:nvSpPr>
        <p:spPr>
          <a:xfrm xmlns:a="http://schemas.openxmlformats.org/drawingml/2006/main">
            <a:off x="666750" y="4286250"/>
            <a:ext cx="1285875" cy="285750"/>
          </a:xfrm>
          <a:prstGeom xmlns:a="http://schemas.openxmlformats.org/drawingml/2006/main" prst="rect">
            <a:avLst/>
          </a:prstGeom>
          <a:solidFill xmlns:a="http://schemas.openxmlformats.org/drawingml/2006/main">
            <a:srgbClr val="2F7D59"/>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03EF27C2-7323-4703-9DE4-AE90050924BD}"/>
              </a:ext>
            </a:extLst>
          </p:cNvPr>
          <p:cNvSpPr>
            <a:spLocks xmlns:a="http://schemas.openxmlformats.org/drawingml/2006/main" noGrp="1"/>
          </p:cNvSpPr>
          <p:nvPr/>
        </p:nvSpPr>
        <p:spPr>
          <a:xfrm xmlns:a="http://schemas.openxmlformats.org/drawingml/2006/main">
            <a:off x="666750" y="4305300"/>
            <a:ext cx="1285875"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975" b="1">
                <a:solidFill>
                  <a:srgbClr val="FFFFFF"/>
                </a:solidFill>
                <a:latin typeface="Aptos"/>
                <a:ea typeface="Aptos"/>
                <a:cs typeface="Aptos"/>
              </a:defRPr>
            </a:pPr>
            <a:r>
              <a:rPr sz="975" b="1">
                <a:solidFill>
                  <a:srgbClr val="FFFFFF"/>
                </a:solidFill>
                <a:latin typeface="Aptos"/>
                <a:ea typeface="Aptos"/>
                <a:cs typeface="Aptos"/>
              </a:rPr>
              <a:t>React + Vite</a:t>
            </a:r>
          </a:p>
        </p:txBody>
      </p:sp>
      <p:sp>
        <p:nvSpPr>
          <p:cNvPr id="9" name="">
            <a:extLst xmlns:a="http://schemas.openxmlformats.org/drawingml/2006/main">
              <a:ext uri="{FF2B5EF4-FFF2-40B4-BE49-F238E27FC236}">
                <a16:creationId xmlns:a16="http://schemas.microsoft.com/office/drawing/2014/main" id="{7AE5C1D9-3EF9-4EDB-B6B0-7B6C2E58AF44}"/>
              </a:ext>
            </a:extLst>
          </p:cNvPr>
          <p:cNvSpPr>
            <a:spLocks xmlns:a="http://schemas.openxmlformats.org/drawingml/2006/main" noGrp="1"/>
          </p:cNvSpPr>
          <p:nvPr/>
        </p:nvSpPr>
        <p:spPr>
          <a:xfrm xmlns:a="http://schemas.openxmlformats.org/drawingml/2006/main">
            <a:off x="2095500" y="4286250"/>
            <a:ext cx="1695450" cy="285750"/>
          </a:xfrm>
          <a:prstGeom xmlns:a="http://schemas.openxmlformats.org/drawingml/2006/main" prst="rect">
            <a:avLst/>
          </a:prstGeom>
          <a:solidFill xmlns:a="http://schemas.openxmlformats.org/drawingml/2006/main">
            <a:srgbClr val="3F6FA8"/>
          </a:solidFill>
          <a:ln xmlns:a="http://schemas.openxmlformats.org/drawingml/2006/main" w="0">
            <a:solidFill>
              <a:srgbClr val="000000">
                <a:alpha val="0"/>
              </a:srgbClr>
            </a:solidFill>
            <a:prstDash val="solid"/>
          </a:ln>
        </p:spPr>
      </p:sp>
      <p:sp>
        <p:nvSpPr>
          <p:cNvPr id="10" name="">
            <a:extLst xmlns:a="http://schemas.openxmlformats.org/drawingml/2006/main">
              <a:ext uri="{FF2B5EF4-FFF2-40B4-BE49-F238E27FC236}">
                <a16:creationId xmlns:a16="http://schemas.microsoft.com/office/drawing/2014/main" id="{042B4A64-33CD-4DD9-96C1-4574B1948215}"/>
              </a:ext>
            </a:extLst>
          </p:cNvPr>
          <p:cNvSpPr>
            <a:spLocks xmlns:a="http://schemas.openxmlformats.org/drawingml/2006/main" noGrp="1"/>
          </p:cNvSpPr>
          <p:nvPr/>
        </p:nvSpPr>
        <p:spPr>
          <a:xfrm xmlns:a="http://schemas.openxmlformats.org/drawingml/2006/main">
            <a:off x="2095500" y="4305300"/>
            <a:ext cx="16954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975" b="1">
                <a:solidFill>
                  <a:srgbClr val="FFFFFF"/>
                </a:solidFill>
                <a:latin typeface="Aptos"/>
                <a:ea typeface="Aptos"/>
                <a:cs typeface="Aptos"/>
              </a:defRPr>
            </a:pPr>
            <a:r>
              <a:rPr sz="975" b="1">
                <a:solidFill>
                  <a:srgbClr val="FFFFFF"/>
                </a:solidFill>
                <a:latin typeface="Aptos"/>
                <a:ea typeface="Aptos"/>
                <a:cs typeface="Aptos"/>
              </a:rPr>
              <a:t>Express + MongoDB</a:t>
            </a:r>
          </a:p>
        </p:txBody>
      </p:sp>
      <p:sp>
        <p:nvSpPr>
          <p:cNvPr id="11" name="">
            <a:extLst xmlns:a="http://schemas.openxmlformats.org/drawingml/2006/main">
              <a:ext uri="{FF2B5EF4-FFF2-40B4-BE49-F238E27FC236}">
                <a16:creationId xmlns:a16="http://schemas.microsoft.com/office/drawing/2014/main" id="{57C6891D-D28C-4108-B7EB-284C779185A1}"/>
              </a:ext>
            </a:extLst>
          </p:cNvPr>
          <p:cNvSpPr>
            <a:spLocks xmlns:a="http://schemas.openxmlformats.org/drawingml/2006/main" noGrp="1"/>
          </p:cNvSpPr>
          <p:nvPr/>
        </p:nvSpPr>
        <p:spPr>
          <a:xfrm xmlns:a="http://schemas.openxmlformats.org/drawingml/2006/main">
            <a:off x="3943350" y="4286250"/>
            <a:ext cx="1143000" cy="285750"/>
          </a:xfrm>
          <a:prstGeom xmlns:a="http://schemas.openxmlformats.org/drawingml/2006/main" prst="rect">
            <a:avLst/>
          </a:prstGeom>
          <a:solidFill xmlns:a="http://schemas.openxmlformats.org/drawingml/2006/main">
            <a:srgbClr val="D96B4C"/>
          </a:solidFill>
          <a:ln xmlns:a="http://schemas.openxmlformats.org/drawingml/2006/main" w="0">
            <a:solidFill>
              <a:srgbClr val="000000">
                <a:alpha val="0"/>
              </a:srgbClr>
            </a:solidFill>
            <a:prstDash val="solid"/>
          </a:ln>
        </p:spPr>
      </p:sp>
      <p:sp>
        <p:nvSpPr>
          <p:cNvPr id="12" name="">
            <a:extLst xmlns:a="http://schemas.openxmlformats.org/drawingml/2006/main">
              <a:ext uri="{FF2B5EF4-FFF2-40B4-BE49-F238E27FC236}">
                <a16:creationId xmlns:a16="http://schemas.microsoft.com/office/drawing/2014/main" id="{67FF8C04-6A47-4E84-B06A-957C4F487890}"/>
              </a:ext>
            </a:extLst>
          </p:cNvPr>
          <p:cNvSpPr>
            <a:spLocks xmlns:a="http://schemas.openxmlformats.org/drawingml/2006/main" noGrp="1"/>
          </p:cNvSpPr>
          <p:nvPr/>
        </p:nvSpPr>
        <p:spPr>
          <a:xfrm xmlns:a="http://schemas.openxmlformats.org/drawingml/2006/main">
            <a:off x="3943350" y="4305300"/>
            <a:ext cx="11430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975" b="1">
                <a:solidFill>
                  <a:srgbClr val="FFFFFF"/>
                </a:solidFill>
                <a:latin typeface="Aptos"/>
                <a:ea typeface="Aptos"/>
                <a:cs typeface="Aptos"/>
              </a:defRPr>
            </a:pPr>
            <a:r>
              <a:rPr sz="975" b="1">
                <a:solidFill>
                  <a:srgbClr val="FFFFFF"/>
                </a:solidFill>
                <a:latin typeface="Aptos"/>
                <a:ea typeface="Aptos"/>
                <a:cs typeface="Aptos"/>
              </a:rPr>
              <a:t>Flask ML</a:t>
            </a:r>
          </a:p>
        </p:txBody>
      </p:sp>
      <p:sp>
        <p:nvSpPr>
          <p:cNvPr id="13" name="">
            <a:extLst xmlns:a="http://schemas.openxmlformats.org/drawingml/2006/main">
              <a:ext uri="{FF2B5EF4-FFF2-40B4-BE49-F238E27FC236}">
                <a16:creationId xmlns:a16="http://schemas.microsoft.com/office/drawing/2014/main" id="{4CCD317A-DCF9-4773-8921-FE4612B1AD22}"/>
              </a:ext>
            </a:extLst>
          </p:cNvPr>
          <p:cNvSpPr>
            <a:spLocks xmlns:a="http://schemas.openxmlformats.org/drawingml/2006/main" noGrp="1"/>
          </p:cNvSpPr>
          <p:nvPr/>
        </p:nvSpPr>
        <p:spPr>
          <a:xfrm xmlns:a="http://schemas.openxmlformats.org/drawingml/2006/main">
            <a:off x="5238750" y="4286250"/>
            <a:ext cx="952500" cy="285750"/>
          </a:xfrm>
          <a:prstGeom xmlns:a="http://schemas.openxmlformats.org/drawingml/2006/main" prst="rect">
            <a:avLst/>
          </a:prstGeom>
          <a:solidFill xmlns:a="http://schemas.openxmlformats.org/drawingml/2006/main">
            <a:srgbClr val="C8952D"/>
          </a:solidFill>
          <a:ln xmlns:a="http://schemas.openxmlformats.org/drawingml/2006/main" w="0">
            <a:solidFill>
              <a:srgbClr val="000000">
                <a:alpha val="0"/>
              </a:srgbClr>
            </a:solidFill>
            <a:prstDash val="solid"/>
          </a:ln>
        </p:spPr>
      </p:sp>
      <p:sp>
        <p:nvSpPr>
          <p:cNvPr id="14" name="">
            <a:extLst xmlns:a="http://schemas.openxmlformats.org/drawingml/2006/main">
              <a:ext uri="{FF2B5EF4-FFF2-40B4-BE49-F238E27FC236}">
                <a16:creationId xmlns:a16="http://schemas.microsoft.com/office/drawing/2014/main" id="{26B0A899-0628-4EDB-B9D4-9295AC86DAC1}"/>
              </a:ext>
            </a:extLst>
          </p:cNvPr>
          <p:cNvSpPr>
            <a:spLocks xmlns:a="http://schemas.openxmlformats.org/drawingml/2006/main" noGrp="1"/>
          </p:cNvSpPr>
          <p:nvPr/>
        </p:nvSpPr>
        <p:spPr>
          <a:xfrm xmlns:a="http://schemas.openxmlformats.org/drawingml/2006/main">
            <a:off x="5238750" y="4305300"/>
            <a:ext cx="9525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975" b="1">
                <a:solidFill>
                  <a:srgbClr val="FFFFFF"/>
                </a:solidFill>
                <a:latin typeface="Aptos"/>
                <a:ea typeface="Aptos"/>
                <a:cs typeface="Aptos"/>
              </a:defRPr>
            </a:pPr>
            <a:r>
              <a:rPr sz="975" b="1">
                <a:solidFill>
                  <a:srgbClr val="FFFFFF"/>
                </a:solidFill>
                <a:latin typeface="Aptos"/>
                <a:ea typeface="Aptos"/>
                <a:cs typeface="Aptos"/>
              </a:rPr>
              <a:t>Vercel</a:t>
            </a:r>
          </a:p>
        </p:txBody>
      </p:sp>
      <p:sp>
        <p:nvSpPr>
          <p:cNvPr id="15" name="">
            <a:extLst xmlns:a="http://schemas.openxmlformats.org/drawingml/2006/main">
              <a:ext uri="{FF2B5EF4-FFF2-40B4-BE49-F238E27FC236}">
                <a16:creationId xmlns:a16="http://schemas.microsoft.com/office/drawing/2014/main" id="{8D2BB4F8-9523-4ACF-A079-093F3FDB3EDC}"/>
              </a:ext>
            </a:extLst>
          </p:cNvPr>
          <p:cNvSpPr>
            <a:spLocks xmlns:a="http://schemas.openxmlformats.org/drawingml/2006/main" noGrp="1"/>
          </p:cNvSpPr>
          <p:nvPr/>
        </p:nvSpPr>
        <p:spPr>
          <a:xfrm xmlns:a="http://schemas.openxmlformats.org/drawingml/2006/main">
            <a:off x="666750" y="5857875"/>
            <a:ext cx="3429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BEB6AA"/>
                </a:solidFill>
                <a:latin typeface="Aptos"/>
                <a:ea typeface="Aptos"/>
                <a:cs typeface="Aptos"/>
              </a:defRPr>
            </a:pPr>
            <a:r>
              <a:rPr sz="1125" b="0">
                <a:solidFill>
                  <a:srgbClr val="BEB6AA"/>
                </a:solidFill>
                <a:latin typeface="Aptos"/>
                <a:ea typeface="Aptos"/>
                <a:cs typeface="Aptos"/>
              </a:rPr>
              <a:t>Báo cáo bảo vệ đồ án tốt nghiệp</a:t>
            </a:r>
          </a:p>
        </p:txBody>
      </p:sp>
    </p:spTree>
    <p:extLst>
      <p:ext uri="{BB962C8B-B14F-4D97-AF65-F5344CB8AC3E}">
        <p14:creationId xmlns:p14="http://schemas.microsoft.com/office/powerpoint/2010/main" val="2133711961"/>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BB690938-C9ED-4C3C-AFA3-292CBBF1B7E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4EE"/>
          </a:solidFill>
          <a:ln xmlns:a="http://schemas.openxmlformats.org/drawingml/2006/main" w="0">
            <a:solidFill>
              <a:srgbClr val="000000">
                <a:alpha val="0"/>
              </a:srgbClr>
            </a:solidFill>
            <a:prstDash val="solid"/>
          </a:ln>
        </p:spPr>
      </p:sp>
      <p:sp>
        <p:nvSpPr>
          <p:cNvPr id="2" name="kicker-2-marker">
            <a:extLst xmlns:a="http://schemas.openxmlformats.org/drawingml/2006/main">
              <a:ext uri="{FF2B5EF4-FFF2-40B4-BE49-F238E27FC236}">
                <a16:creationId xmlns:a16="http://schemas.microsoft.com/office/drawing/2014/main" id="{A0CB43D6-1B2A-4D15-B513-2B85C64E3C1B}"/>
              </a:ext>
            </a:extLst>
          </p:cNvPr>
          <p:cNvSpPr>
            <a:spLocks xmlns:a="http://schemas.openxmlformats.org/drawingml/2006/main" noGrp="1"/>
          </p:cNvSpPr>
          <p:nvPr/>
        </p:nvSpPr>
        <p:spPr>
          <a:xfrm xmlns:a="http://schemas.openxmlformats.org/drawingml/2006/main">
            <a:off x="666750" y="542925"/>
            <a:ext cx="266700" cy="38100"/>
          </a:xfrm>
          <a:prstGeom xmlns:a="http://schemas.openxmlformats.org/drawingml/2006/main" prst="rect">
            <a:avLst/>
          </a:prstGeom>
          <a:solidFill xmlns:a="http://schemas.openxmlformats.org/drawingml/2006/main">
            <a:srgbClr val="D96B4C"/>
          </a:solidFill>
          <a:ln xmlns:a="http://schemas.openxmlformats.org/drawingml/2006/main" w="0">
            <a:solidFill>
              <a:srgbClr val="000000">
                <a:alpha val="0"/>
              </a:srgbClr>
            </a:solidFill>
            <a:prstDash val="solid"/>
          </a:ln>
        </p:spPr>
      </p:sp>
      <p:sp>
        <p:nvSpPr>
          <p:cNvPr id="3" name="kicker-2-label">
            <a:extLst xmlns:a="http://schemas.openxmlformats.org/drawingml/2006/main">
              <a:ext uri="{FF2B5EF4-FFF2-40B4-BE49-F238E27FC236}">
                <a16:creationId xmlns:a16="http://schemas.microsoft.com/office/drawing/2014/main" id="{D7554AC3-BAA4-436C-A0C7-95AC1CD53182}"/>
              </a:ext>
            </a:extLst>
          </p:cNvPr>
          <p:cNvSpPr>
            <a:spLocks xmlns:a="http://schemas.openxmlformats.org/drawingml/2006/main" noGrp="1"/>
          </p:cNvSpPr>
          <p:nvPr/>
        </p:nvSpPr>
        <p:spPr>
          <a:xfrm xmlns:a="http://schemas.openxmlformats.org/drawingml/2006/main">
            <a:off x="1066800" y="457200"/>
            <a:ext cx="31432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900" b="1">
                <a:solidFill>
                  <a:srgbClr val="D96B4C"/>
                </a:solidFill>
                <a:latin typeface="Aptos"/>
                <a:ea typeface="Aptos"/>
                <a:cs typeface="Aptos"/>
              </a:defRPr>
            </a:pPr>
            <a:r>
              <a:rPr sz="900" b="1">
                <a:solidFill>
                  <a:srgbClr val="D96B4C"/>
                </a:solidFill>
                <a:latin typeface="Aptos"/>
                <a:ea typeface="Aptos"/>
                <a:cs typeface="Aptos"/>
              </a:rPr>
              <a:t>BỐI CẢNH &amp; MỤC TIÊU</a:t>
            </a:r>
          </a:p>
        </p:txBody>
      </p:sp>
      <p:sp>
        <p:nvSpPr>
          <p:cNvPr id="4" name="">
            <a:extLst xmlns:a="http://schemas.openxmlformats.org/drawingml/2006/main">
              <a:ext uri="{FF2B5EF4-FFF2-40B4-BE49-F238E27FC236}">
                <a16:creationId xmlns:a16="http://schemas.microsoft.com/office/drawing/2014/main" id="{4CC24AB5-EFE5-4264-A466-4C056CCFA156}"/>
              </a:ext>
            </a:extLst>
          </p:cNvPr>
          <p:cNvSpPr>
            <a:spLocks xmlns:a="http://schemas.openxmlformats.org/drawingml/2006/main" noGrp="1"/>
          </p:cNvSpPr>
          <p:nvPr/>
        </p:nvSpPr>
        <p:spPr>
          <a:xfrm xmlns:a="http://schemas.openxmlformats.org/drawingml/2006/main">
            <a:off x="666750" y="781050"/>
            <a:ext cx="8382000" cy="914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775" b="1">
                <a:solidFill>
                  <a:srgbClr val="17202A"/>
                </a:solidFill>
                <a:latin typeface="Aptos Display"/>
                <a:ea typeface="Aptos Display"/>
                <a:cs typeface="Aptos Display"/>
              </a:defRPr>
            </a:pPr>
            <a:r>
              <a:rPr sz="2775" b="1">
                <a:solidFill>
                  <a:srgbClr val="17202A"/>
                </a:solidFill>
                <a:latin typeface="Aptos Display"/>
                <a:ea typeface="Aptos Display"/>
                <a:cs typeface="Aptos Display"/>
              </a:rPr>
              <a:t>Đồ án không chỉ bán hàng online, mà giải quyết bài toán khám phá sản phẩm.</a:t>
            </a:r>
          </a:p>
        </p:txBody>
      </p:sp>
      <p:sp>
        <p:nvSpPr>
          <p:cNvPr id="5" name="">
            <a:extLst xmlns:a="http://schemas.openxmlformats.org/drawingml/2006/main">
              <a:ext uri="{FF2B5EF4-FFF2-40B4-BE49-F238E27FC236}">
                <a16:creationId xmlns:a16="http://schemas.microsoft.com/office/drawing/2014/main" id="{89611FD0-93FF-4F24-A4DF-DE9BC952EF27}"/>
              </a:ext>
            </a:extLst>
          </p:cNvPr>
          <p:cNvSpPr>
            <a:spLocks xmlns:a="http://schemas.openxmlformats.org/drawingml/2006/main" noGrp="1"/>
          </p:cNvSpPr>
          <p:nvPr/>
        </p:nvSpPr>
        <p:spPr>
          <a:xfrm xmlns:a="http://schemas.openxmlformats.org/drawingml/2006/main">
            <a:off x="762000" y="2190750"/>
            <a:ext cx="3143250" cy="2476500"/>
          </a:xfrm>
          <a:prstGeom xmlns:a="http://schemas.openxmlformats.org/drawingml/2006/main" prst="rect">
            <a:avLst/>
          </a:prstGeom>
          <a:solidFill xmlns:a="http://schemas.openxmlformats.org/drawingml/2006/main">
            <a:srgbClr val="FFFFFF"/>
          </a:solidFill>
          <a:ln xmlns:a="http://schemas.openxmlformats.org/drawingml/2006/main" w="9525">
            <a:solidFill>
              <a:srgbClr val="D8D4CB"/>
            </a:solidFill>
            <a:prstDash val="solid"/>
          </a:ln>
        </p:spPr>
      </p:sp>
      <p:sp>
        <p:nvSpPr>
          <p:cNvPr id="6" name="">
            <a:extLst xmlns:a="http://schemas.openxmlformats.org/drawingml/2006/main">
              <a:ext uri="{FF2B5EF4-FFF2-40B4-BE49-F238E27FC236}">
                <a16:creationId xmlns:a16="http://schemas.microsoft.com/office/drawing/2014/main" id="{6DB8BF9A-E177-490F-8360-9650E64E1970}"/>
              </a:ext>
            </a:extLst>
          </p:cNvPr>
          <p:cNvSpPr>
            <a:spLocks xmlns:a="http://schemas.openxmlformats.org/drawingml/2006/main" noGrp="1"/>
          </p:cNvSpPr>
          <p:nvPr/>
        </p:nvSpPr>
        <p:spPr>
          <a:xfrm xmlns:a="http://schemas.openxmlformats.org/drawingml/2006/main">
            <a:off x="762000" y="2190750"/>
            <a:ext cx="66675" cy="2476500"/>
          </a:xfrm>
          <a:prstGeom xmlns:a="http://schemas.openxmlformats.org/drawingml/2006/main" prst="rect">
            <a:avLst/>
          </a:prstGeom>
          <a:solidFill xmlns:a="http://schemas.openxmlformats.org/drawingml/2006/main">
            <a:srgbClr val="D96B4C"/>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DF555451-3962-47FF-AB42-5A2558C5530E}"/>
              </a:ext>
            </a:extLst>
          </p:cNvPr>
          <p:cNvSpPr>
            <a:spLocks xmlns:a="http://schemas.openxmlformats.org/drawingml/2006/main" noGrp="1"/>
          </p:cNvSpPr>
          <p:nvPr/>
        </p:nvSpPr>
        <p:spPr>
          <a:xfrm xmlns:a="http://schemas.openxmlformats.org/drawingml/2006/main">
            <a:off x="914400" y="2286000"/>
            <a:ext cx="29146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D96B4C"/>
                </a:solidFill>
                <a:latin typeface="Aptos"/>
                <a:ea typeface="Aptos"/>
                <a:cs typeface="Aptos"/>
              </a:defRPr>
            </a:pPr>
            <a:r>
              <a:rPr sz="900" b="1">
                <a:solidFill>
                  <a:srgbClr val="D96B4C"/>
                </a:solidFill>
                <a:latin typeface="Aptos"/>
                <a:ea typeface="Aptos"/>
                <a:cs typeface="Aptos"/>
              </a:rPr>
              <a:t>Vấn đề</a:t>
            </a:r>
          </a:p>
        </p:txBody>
      </p:sp>
      <p:sp>
        <p:nvSpPr>
          <p:cNvPr id="8" name="">
            <a:extLst xmlns:a="http://schemas.openxmlformats.org/drawingml/2006/main">
              <a:ext uri="{FF2B5EF4-FFF2-40B4-BE49-F238E27FC236}">
                <a16:creationId xmlns:a16="http://schemas.microsoft.com/office/drawing/2014/main" id="{86EE76F8-6E18-466E-91DC-C0BD6BE03E85}"/>
              </a:ext>
            </a:extLst>
          </p:cNvPr>
          <p:cNvSpPr>
            <a:spLocks xmlns:a="http://schemas.openxmlformats.org/drawingml/2006/main" noGrp="1"/>
          </p:cNvSpPr>
          <p:nvPr/>
        </p:nvSpPr>
        <p:spPr>
          <a:xfrm xmlns:a="http://schemas.openxmlformats.org/drawingml/2006/main">
            <a:off x="876300" y="2552700"/>
            <a:ext cx="2914650" cy="2057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17202A"/>
                </a:solidFill>
                <a:latin typeface="Aptos"/>
                <a:ea typeface="Aptos"/>
                <a:cs typeface="Aptos"/>
              </a:defRPr>
            </a:pPr>
            <a:r>
              <a:rPr sz="1200" b="0">
                <a:solidFill>
                  <a:srgbClr val="17202A"/>
                </a:solidFill>
                <a:latin typeface="Aptos"/>
                <a:ea typeface="Aptos"/>
                <a:cs typeface="Aptos"/>
              </a:rPr>
              <a:t>Người dùng phải tự lọc giữa nhiều sản phẩm điện tử có biến thể, thông số và mức giá khác nhau.</a:t>
            </a:r>
          </a:p>
          <a:p xmlns:a="http://schemas.openxmlformats.org/drawingml/2006/main">
            <a:r>
              <a:t/>
            </a:r>
          </a:p>
          <a:p xmlns:a="http://schemas.openxmlformats.org/drawingml/2006/main">
            <a:pPr algn="l">
              <a:defRPr sz="1200" b="0">
                <a:solidFill>
                  <a:srgbClr val="17202A"/>
                </a:solidFill>
                <a:latin typeface="Aptos"/>
                <a:ea typeface="Aptos"/>
                <a:cs typeface="Aptos"/>
              </a:defRPr>
            </a:pPr>
            <a:r>
              <a:rPr sz="1200" b="0">
                <a:solidFill>
                  <a:srgbClr val="17202A"/>
                </a:solidFill>
                <a:latin typeface="Aptos"/>
                <a:ea typeface="Aptos"/>
                <a:cs typeface="Aptos"/>
              </a:rPr>
              <a:t>Nếu không cá nhân hóa, trang chủ và chi tiết sản phẩm dễ trở thành danh sách tĩnh.</a:t>
            </a:r>
          </a:p>
        </p:txBody>
      </p:sp>
      <p:sp>
        <p:nvSpPr>
          <p:cNvPr id="9" name="">
            <a:extLst xmlns:a="http://schemas.openxmlformats.org/drawingml/2006/main">
              <a:ext uri="{FF2B5EF4-FFF2-40B4-BE49-F238E27FC236}">
                <a16:creationId xmlns:a16="http://schemas.microsoft.com/office/drawing/2014/main" id="{E332DFF2-4E6B-4BDF-B795-80CC8B9D9578}"/>
              </a:ext>
            </a:extLst>
          </p:cNvPr>
          <p:cNvSpPr>
            <a:spLocks xmlns:a="http://schemas.openxmlformats.org/drawingml/2006/main" noGrp="1"/>
          </p:cNvSpPr>
          <p:nvPr/>
        </p:nvSpPr>
        <p:spPr>
          <a:xfrm xmlns:a="http://schemas.openxmlformats.org/drawingml/2006/main">
            <a:off x="4524375" y="2190750"/>
            <a:ext cx="3143250" cy="2476500"/>
          </a:xfrm>
          <a:prstGeom xmlns:a="http://schemas.openxmlformats.org/drawingml/2006/main" prst="rect">
            <a:avLst/>
          </a:prstGeom>
          <a:solidFill xmlns:a="http://schemas.openxmlformats.org/drawingml/2006/main">
            <a:srgbClr val="FFFFFF"/>
          </a:solidFill>
          <a:ln xmlns:a="http://schemas.openxmlformats.org/drawingml/2006/main" w="9525">
            <a:solidFill>
              <a:srgbClr val="D8D4CB"/>
            </a:solidFill>
            <a:prstDash val="solid"/>
          </a:ln>
        </p:spPr>
      </p:sp>
      <p:sp>
        <p:nvSpPr>
          <p:cNvPr id="10" name="">
            <a:extLst xmlns:a="http://schemas.openxmlformats.org/drawingml/2006/main">
              <a:ext uri="{FF2B5EF4-FFF2-40B4-BE49-F238E27FC236}">
                <a16:creationId xmlns:a16="http://schemas.microsoft.com/office/drawing/2014/main" id="{BF9C6E16-00FB-48FC-8332-BFB2BEF0A078}"/>
              </a:ext>
            </a:extLst>
          </p:cNvPr>
          <p:cNvSpPr>
            <a:spLocks xmlns:a="http://schemas.openxmlformats.org/drawingml/2006/main" noGrp="1"/>
          </p:cNvSpPr>
          <p:nvPr/>
        </p:nvSpPr>
        <p:spPr>
          <a:xfrm xmlns:a="http://schemas.openxmlformats.org/drawingml/2006/main">
            <a:off x="4524375" y="2190750"/>
            <a:ext cx="66675" cy="2476500"/>
          </a:xfrm>
          <a:prstGeom xmlns:a="http://schemas.openxmlformats.org/drawingml/2006/main" prst="rect">
            <a:avLst/>
          </a:prstGeom>
          <a:solidFill xmlns:a="http://schemas.openxmlformats.org/drawingml/2006/main">
            <a:srgbClr val="2F7D59"/>
          </a:solidFill>
          <a:ln xmlns:a="http://schemas.openxmlformats.org/drawingml/2006/main" w="0">
            <a:solidFill>
              <a:srgbClr val="000000">
                <a:alpha val="0"/>
              </a:srgbClr>
            </a:solidFill>
            <a:prstDash val="solid"/>
          </a:ln>
        </p:spPr>
      </p:sp>
      <p:sp>
        <p:nvSpPr>
          <p:cNvPr id="11" name="">
            <a:extLst xmlns:a="http://schemas.openxmlformats.org/drawingml/2006/main">
              <a:ext uri="{FF2B5EF4-FFF2-40B4-BE49-F238E27FC236}">
                <a16:creationId xmlns:a16="http://schemas.microsoft.com/office/drawing/2014/main" id="{D4645AF2-74E1-4AE1-926E-50D525D8F79A}"/>
              </a:ext>
            </a:extLst>
          </p:cNvPr>
          <p:cNvSpPr>
            <a:spLocks xmlns:a="http://schemas.openxmlformats.org/drawingml/2006/main" noGrp="1"/>
          </p:cNvSpPr>
          <p:nvPr/>
        </p:nvSpPr>
        <p:spPr>
          <a:xfrm xmlns:a="http://schemas.openxmlformats.org/drawingml/2006/main">
            <a:off x="4676775" y="2286000"/>
            <a:ext cx="29146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2F7D59"/>
                </a:solidFill>
                <a:latin typeface="Aptos"/>
                <a:ea typeface="Aptos"/>
                <a:cs typeface="Aptos"/>
              </a:defRPr>
            </a:pPr>
            <a:r>
              <a:rPr sz="900" b="1">
                <a:solidFill>
                  <a:srgbClr val="2F7D59"/>
                </a:solidFill>
                <a:latin typeface="Aptos"/>
                <a:ea typeface="Aptos"/>
                <a:cs typeface="Aptos"/>
              </a:rPr>
              <a:t>Mục tiêu hệ thống</a:t>
            </a:r>
          </a:p>
        </p:txBody>
      </p:sp>
      <p:sp>
        <p:nvSpPr>
          <p:cNvPr id="12" name="">
            <a:extLst xmlns:a="http://schemas.openxmlformats.org/drawingml/2006/main">
              <a:ext uri="{FF2B5EF4-FFF2-40B4-BE49-F238E27FC236}">
                <a16:creationId xmlns:a16="http://schemas.microsoft.com/office/drawing/2014/main" id="{BF081A44-6CD5-487F-985D-72033638B1BB}"/>
              </a:ext>
            </a:extLst>
          </p:cNvPr>
          <p:cNvSpPr>
            <a:spLocks xmlns:a="http://schemas.openxmlformats.org/drawingml/2006/main" noGrp="1"/>
          </p:cNvSpPr>
          <p:nvPr/>
        </p:nvSpPr>
        <p:spPr>
          <a:xfrm xmlns:a="http://schemas.openxmlformats.org/drawingml/2006/main">
            <a:off x="4638675" y="2552700"/>
            <a:ext cx="2914650" cy="2057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17202A"/>
                </a:solidFill>
                <a:latin typeface="Aptos"/>
                <a:ea typeface="Aptos"/>
                <a:cs typeface="Aptos"/>
              </a:defRPr>
            </a:pPr>
            <a:r>
              <a:rPr sz="1200" b="0">
                <a:solidFill>
                  <a:srgbClr val="17202A"/>
                </a:solidFill>
                <a:latin typeface="Aptos"/>
                <a:ea typeface="Aptos"/>
                <a:cs typeface="Aptos"/>
              </a:rPr>
              <a:t>Xây dựng quy trình mua sắm đầy đủ: tài khoản, sản phẩm, giỏ hàng, đơn hàng, thanh toán, đánh giá và quản trị seller.</a:t>
            </a:r>
          </a:p>
          <a:p xmlns:a="http://schemas.openxmlformats.org/drawingml/2006/main">
            <a:r>
              <a:t/>
            </a:r>
          </a:p>
          <a:p xmlns:a="http://schemas.openxmlformats.org/drawingml/2006/main">
            <a:pPr algn="l">
              <a:defRPr sz="1200" b="0">
                <a:solidFill>
                  <a:srgbClr val="17202A"/>
                </a:solidFill>
                <a:latin typeface="Aptos"/>
                <a:ea typeface="Aptos"/>
                <a:cs typeface="Aptos"/>
              </a:defRPr>
            </a:pPr>
            <a:r>
              <a:rPr sz="1200" b="0">
                <a:solidFill>
                  <a:srgbClr val="17202A"/>
                </a:solidFill>
                <a:latin typeface="Aptos"/>
                <a:ea typeface="Aptos"/>
                <a:cs typeface="Aptos"/>
              </a:rPr>
              <a:t>Dữ liệu hành vi trở thành đầu vào cho gợi ý thông minh.</a:t>
            </a:r>
          </a:p>
        </p:txBody>
      </p:sp>
      <p:sp>
        <p:nvSpPr>
          <p:cNvPr id="13" name="">
            <a:extLst xmlns:a="http://schemas.openxmlformats.org/drawingml/2006/main">
              <a:ext uri="{FF2B5EF4-FFF2-40B4-BE49-F238E27FC236}">
                <a16:creationId xmlns:a16="http://schemas.microsoft.com/office/drawing/2014/main" id="{9B99A8EC-E91D-41B6-AEE5-D15ECA2093E1}"/>
              </a:ext>
            </a:extLst>
          </p:cNvPr>
          <p:cNvSpPr>
            <a:spLocks xmlns:a="http://schemas.openxmlformats.org/drawingml/2006/main" noGrp="1"/>
          </p:cNvSpPr>
          <p:nvPr/>
        </p:nvSpPr>
        <p:spPr>
          <a:xfrm xmlns:a="http://schemas.openxmlformats.org/drawingml/2006/main">
            <a:off x="8286750" y="2190750"/>
            <a:ext cx="3143250" cy="2476500"/>
          </a:xfrm>
          <a:prstGeom xmlns:a="http://schemas.openxmlformats.org/drawingml/2006/main" prst="rect">
            <a:avLst/>
          </a:prstGeom>
          <a:solidFill xmlns:a="http://schemas.openxmlformats.org/drawingml/2006/main">
            <a:srgbClr val="FFFFFF"/>
          </a:solidFill>
          <a:ln xmlns:a="http://schemas.openxmlformats.org/drawingml/2006/main" w="9525">
            <a:solidFill>
              <a:srgbClr val="D8D4CB"/>
            </a:solidFill>
            <a:prstDash val="solid"/>
          </a:ln>
        </p:spPr>
      </p:sp>
      <p:sp>
        <p:nvSpPr>
          <p:cNvPr id="14" name="">
            <a:extLst xmlns:a="http://schemas.openxmlformats.org/drawingml/2006/main">
              <a:ext uri="{FF2B5EF4-FFF2-40B4-BE49-F238E27FC236}">
                <a16:creationId xmlns:a16="http://schemas.microsoft.com/office/drawing/2014/main" id="{4C845E80-7086-4A46-8ACB-41774D2343C2}"/>
              </a:ext>
            </a:extLst>
          </p:cNvPr>
          <p:cNvSpPr>
            <a:spLocks xmlns:a="http://schemas.openxmlformats.org/drawingml/2006/main" noGrp="1"/>
          </p:cNvSpPr>
          <p:nvPr/>
        </p:nvSpPr>
        <p:spPr>
          <a:xfrm xmlns:a="http://schemas.openxmlformats.org/drawingml/2006/main">
            <a:off x="8286750" y="2190750"/>
            <a:ext cx="66675" cy="2476500"/>
          </a:xfrm>
          <a:prstGeom xmlns:a="http://schemas.openxmlformats.org/drawingml/2006/main" prst="rect">
            <a:avLst/>
          </a:prstGeom>
          <a:solidFill xmlns:a="http://schemas.openxmlformats.org/drawingml/2006/main">
            <a:srgbClr val="3F6FA8"/>
          </a:solidFill>
          <a:ln xmlns:a="http://schemas.openxmlformats.org/drawingml/2006/main" w="0">
            <a:solidFill>
              <a:srgbClr val="000000">
                <a:alpha val="0"/>
              </a:srgbClr>
            </a:solidFill>
            <a:prstDash val="solid"/>
          </a:ln>
        </p:spPr>
      </p:sp>
      <p:sp>
        <p:nvSpPr>
          <p:cNvPr id="15" name="">
            <a:extLst xmlns:a="http://schemas.openxmlformats.org/drawingml/2006/main">
              <a:ext uri="{FF2B5EF4-FFF2-40B4-BE49-F238E27FC236}">
                <a16:creationId xmlns:a16="http://schemas.microsoft.com/office/drawing/2014/main" id="{734F9EE3-9024-48B4-9201-94F168BED1A8}"/>
              </a:ext>
            </a:extLst>
          </p:cNvPr>
          <p:cNvSpPr>
            <a:spLocks xmlns:a="http://schemas.openxmlformats.org/drawingml/2006/main" noGrp="1"/>
          </p:cNvSpPr>
          <p:nvPr/>
        </p:nvSpPr>
        <p:spPr>
          <a:xfrm xmlns:a="http://schemas.openxmlformats.org/drawingml/2006/main">
            <a:off x="8439150" y="2286000"/>
            <a:ext cx="29146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3F6FA8"/>
                </a:solidFill>
                <a:latin typeface="Aptos"/>
                <a:ea typeface="Aptos"/>
                <a:cs typeface="Aptos"/>
              </a:defRPr>
            </a:pPr>
            <a:r>
              <a:rPr sz="900" b="1">
                <a:solidFill>
                  <a:srgbClr val="3F6FA8"/>
                </a:solidFill>
                <a:latin typeface="Aptos"/>
                <a:ea typeface="Aptos"/>
                <a:cs typeface="Aptos"/>
              </a:rPr>
              <a:t>Điểm khác biệt</a:t>
            </a:r>
          </a:p>
        </p:txBody>
      </p:sp>
      <p:sp>
        <p:nvSpPr>
          <p:cNvPr id="16" name="">
            <a:extLst xmlns:a="http://schemas.openxmlformats.org/drawingml/2006/main">
              <a:ext uri="{FF2B5EF4-FFF2-40B4-BE49-F238E27FC236}">
                <a16:creationId xmlns:a16="http://schemas.microsoft.com/office/drawing/2014/main" id="{A96A6464-4F46-4016-829E-EE44BB29911F}"/>
              </a:ext>
            </a:extLst>
          </p:cNvPr>
          <p:cNvSpPr>
            <a:spLocks xmlns:a="http://schemas.openxmlformats.org/drawingml/2006/main" noGrp="1"/>
          </p:cNvSpPr>
          <p:nvPr/>
        </p:nvSpPr>
        <p:spPr>
          <a:xfrm xmlns:a="http://schemas.openxmlformats.org/drawingml/2006/main">
            <a:off x="8401050" y="2552700"/>
            <a:ext cx="2914650" cy="2057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17202A"/>
                </a:solidFill>
                <a:latin typeface="Aptos"/>
                <a:ea typeface="Aptos"/>
                <a:cs typeface="Aptos"/>
              </a:defRPr>
            </a:pPr>
            <a:r>
              <a:rPr sz="1200" b="0">
                <a:solidFill>
                  <a:srgbClr val="17202A"/>
                </a:solidFill>
                <a:latin typeface="Aptos"/>
                <a:ea typeface="Aptos"/>
                <a:cs typeface="Aptos"/>
              </a:rPr>
              <a:t>Recommendation dual-layer: ưu tiên ML Service Python, tự động fallback bằng Node.js TF-IDF khi service không khả dụng.</a:t>
            </a:r>
          </a:p>
          <a:p xmlns:a="http://schemas.openxmlformats.org/drawingml/2006/main">
            <a:r>
              <a:t/>
            </a:r>
          </a:p>
          <a:p xmlns:a="http://schemas.openxmlformats.org/drawingml/2006/main">
            <a:pPr algn="l">
              <a:defRPr sz="1200" b="0">
                <a:solidFill>
                  <a:srgbClr val="17202A"/>
                </a:solidFill>
                <a:latin typeface="Aptos"/>
                <a:ea typeface="Aptos"/>
                <a:cs typeface="Aptos"/>
              </a:defRPr>
            </a:pPr>
            <a:r>
              <a:rPr sz="1200" b="0">
                <a:solidFill>
                  <a:srgbClr val="17202A"/>
                </a:solidFill>
                <a:latin typeface="Aptos"/>
                <a:ea typeface="Aptos"/>
                <a:cs typeface="Aptos"/>
              </a:rPr>
              <a:t>Cách triển khai này giúp demo và vận hành ổn định hơn.</a:t>
            </a:r>
          </a:p>
        </p:txBody>
      </p:sp>
      <p:sp>
        <p:nvSpPr>
          <p:cNvPr id="17" name="">
            <a:extLst xmlns:a="http://schemas.openxmlformats.org/drawingml/2006/main">
              <a:ext uri="{FF2B5EF4-FFF2-40B4-BE49-F238E27FC236}">
                <a16:creationId xmlns:a16="http://schemas.microsoft.com/office/drawing/2014/main" id="{57AE1DC4-A154-4854-BB0B-78CCACC767CE}"/>
              </a:ext>
            </a:extLst>
          </p:cNvPr>
          <p:cNvSpPr>
            <a:spLocks xmlns:a="http://schemas.openxmlformats.org/drawingml/2006/main" noGrp="1"/>
          </p:cNvSpPr>
          <p:nvPr/>
        </p:nvSpPr>
        <p:spPr>
          <a:xfrm xmlns:a="http://schemas.openxmlformats.org/drawingml/2006/main">
            <a:off x="666750" y="6553200"/>
            <a:ext cx="7810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7A7470"/>
                </a:solidFill>
                <a:latin typeface="Aptos"/>
                <a:ea typeface="Aptos"/>
                <a:cs typeface="Aptos"/>
              </a:defRPr>
            </a:pPr>
            <a:r>
              <a:rPr sz="750" b="0">
                <a:solidFill>
                  <a:srgbClr val="7A7470"/>
                </a:solidFill>
                <a:latin typeface="Aptos"/>
                <a:ea typeface="Aptos"/>
                <a:cs typeface="Aptos"/>
              </a:rPr>
              <a:t>Nguồn: Báo cáo đồ án MyStore và mã nguồn dự án</a:t>
            </a:r>
          </a:p>
        </p:txBody>
      </p:sp>
      <p:sp>
        <p:nvSpPr>
          <p:cNvPr id="18" name="">
            <a:extLst xmlns:a="http://schemas.openxmlformats.org/drawingml/2006/main">
              <a:ext uri="{FF2B5EF4-FFF2-40B4-BE49-F238E27FC236}">
                <a16:creationId xmlns:a16="http://schemas.microsoft.com/office/drawing/2014/main" id="{EFBE815A-4BE5-4B22-A1D3-8118F9BA7447}"/>
              </a:ext>
            </a:extLst>
          </p:cNvPr>
          <p:cNvSpPr>
            <a:spLocks xmlns:a="http://schemas.openxmlformats.org/drawingml/2006/main" noGrp="1"/>
          </p:cNvSpPr>
          <p:nvPr/>
        </p:nvSpPr>
        <p:spPr>
          <a:xfrm xmlns:a="http://schemas.openxmlformats.org/drawingml/2006/main">
            <a:off x="11239500" y="6515100"/>
            <a:ext cx="3810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825" b="1">
                <a:solidFill>
                  <a:srgbClr val="7A7470"/>
                </a:solidFill>
                <a:latin typeface="Aptos"/>
                <a:ea typeface="Aptos"/>
                <a:cs typeface="Aptos"/>
              </a:defRPr>
            </a:pPr>
            <a:r>
              <a:rPr sz="825" b="1">
                <a:solidFill>
                  <a:srgbClr val="7A7470"/>
                </a:solidFill>
                <a:latin typeface="Aptos"/>
                <a:ea typeface="Aptos"/>
                <a:cs typeface="Aptos"/>
              </a:rPr>
              <a:t>02</a:t>
            </a:r>
          </a:p>
        </p:txBody>
      </p:sp>
    </p:spTree>
    <p:extLst>
      <p:ext uri="{BB962C8B-B14F-4D97-AF65-F5344CB8AC3E}">
        <p14:creationId xmlns:p14="http://schemas.microsoft.com/office/powerpoint/2010/main" val="1931133509"/>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7E504FF-EA6C-4CE5-A873-BFC58ED4A98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4EE"/>
          </a:solidFill>
          <a:ln xmlns:a="http://schemas.openxmlformats.org/drawingml/2006/main" w="0">
            <a:solidFill>
              <a:srgbClr val="000000">
                <a:alpha val="0"/>
              </a:srgbClr>
            </a:solidFill>
            <a:prstDash val="solid"/>
          </a:ln>
        </p:spPr>
      </p:sp>
      <p:sp>
        <p:nvSpPr>
          <p:cNvPr id="2" name="kicker-3-marker">
            <a:extLst xmlns:a="http://schemas.openxmlformats.org/drawingml/2006/main">
              <a:ext uri="{FF2B5EF4-FFF2-40B4-BE49-F238E27FC236}">
                <a16:creationId xmlns:a16="http://schemas.microsoft.com/office/drawing/2014/main" id="{AC2DB2A4-8D4A-439A-9976-33ADEC9C8EB4}"/>
              </a:ext>
            </a:extLst>
          </p:cNvPr>
          <p:cNvSpPr>
            <a:spLocks xmlns:a="http://schemas.openxmlformats.org/drawingml/2006/main" noGrp="1"/>
          </p:cNvSpPr>
          <p:nvPr/>
        </p:nvSpPr>
        <p:spPr>
          <a:xfrm xmlns:a="http://schemas.openxmlformats.org/drawingml/2006/main">
            <a:off x="666750" y="542925"/>
            <a:ext cx="266700" cy="38100"/>
          </a:xfrm>
          <a:prstGeom xmlns:a="http://schemas.openxmlformats.org/drawingml/2006/main" prst="rect">
            <a:avLst/>
          </a:prstGeom>
          <a:solidFill xmlns:a="http://schemas.openxmlformats.org/drawingml/2006/main">
            <a:srgbClr val="2F7D59"/>
          </a:solidFill>
          <a:ln xmlns:a="http://schemas.openxmlformats.org/drawingml/2006/main" w="0">
            <a:solidFill>
              <a:srgbClr val="000000">
                <a:alpha val="0"/>
              </a:srgbClr>
            </a:solidFill>
            <a:prstDash val="solid"/>
          </a:ln>
        </p:spPr>
      </p:sp>
      <p:sp>
        <p:nvSpPr>
          <p:cNvPr id="3" name="kicker-3-label">
            <a:extLst xmlns:a="http://schemas.openxmlformats.org/drawingml/2006/main">
              <a:ext uri="{FF2B5EF4-FFF2-40B4-BE49-F238E27FC236}">
                <a16:creationId xmlns:a16="http://schemas.microsoft.com/office/drawing/2014/main" id="{37CAA5A8-7E44-41FC-979E-7F311A90E684}"/>
              </a:ext>
            </a:extLst>
          </p:cNvPr>
          <p:cNvSpPr>
            <a:spLocks xmlns:a="http://schemas.openxmlformats.org/drawingml/2006/main" noGrp="1"/>
          </p:cNvSpPr>
          <p:nvPr/>
        </p:nvSpPr>
        <p:spPr>
          <a:xfrm xmlns:a="http://schemas.openxmlformats.org/drawingml/2006/main">
            <a:off x="1066800" y="457200"/>
            <a:ext cx="31432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900" b="1">
                <a:solidFill>
                  <a:srgbClr val="2F7D59"/>
                </a:solidFill>
                <a:latin typeface="Aptos"/>
                <a:ea typeface="Aptos"/>
                <a:cs typeface="Aptos"/>
              </a:defRPr>
            </a:pPr>
            <a:r>
              <a:rPr sz="900" b="1">
                <a:solidFill>
                  <a:srgbClr val="2F7D59"/>
                </a:solidFill>
                <a:latin typeface="Aptos"/>
                <a:ea typeface="Aptos"/>
                <a:cs typeface="Aptos"/>
              </a:rPr>
              <a:t>CÔNG NGHỆ</a:t>
            </a:r>
          </a:p>
        </p:txBody>
      </p:sp>
      <p:sp>
        <p:nvSpPr>
          <p:cNvPr id="4" name="">
            <a:extLst xmlns:a="http://schemas.openxmlformats.org/drawingml/2006/main">
              <a:ext uri="{FF2B5EF4-FFF2-40B4-BE49-F238E27FC236}">
                <a16:creationId xmlns:a16="http://schemas.microsoft.com/office/drawing/2014/main" id="{7CA5C8CE-3C2F-4FA0-AD24-37E364BB9363}"/>
              </a:ext>
            </a:extLst>
          </p:cNvPr>
          <p:cNvSpPr>
            <a:spLocks xmlns:a="http://schemas.openxmlformats.org/drawingml/2006/main" noGrp="1"/>
          </p:cNvSpPr>
          <p:nvPr/>
        </p:nvSpPr>
        <p:spPr>
          <a:xfrm xmlns:a="http://schemas.openxmlformats.org/drawingml/2006/main">
            <a:off x="666750" y="781050"/>
            <a:ext cx="7429500" cy="914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850" b="1">
                <a:solidFill>
                  <a:srgbClr val="17202A"/>
                </a:solidFill>
                <a:latin typeface="Aptos Display"/>
                <a:ea typeface="Aptos Display"/>
                <a:cs typeface="Aptos Display"/>
              </a:defRPr>
            </a:pPr>
            <a:r>
              <a:rPr sz="2850" b="1">
                <a:solidFill>
                  <a:srgbClr val="17202A"/>
                </a:solidFill>
                <a:latin typeface="Aptos Display"/>
                <a:ea typeface="Aptos Display"/>
                <a:cs typeface="Aptos Display"/>
              </a:rPr>
              <a:t>Stack được chia lớp rõ ràng để mỗi phần có trách nhiệm riêng.</a:t>
            </a:r>
          </a:p>
        </p:txBody>
      </p:sp>
      <p:sp>
        <p:nvSpPr>
          <p:cNvPr id="5" name="">
            <a:extLst xmlns:a="http://schemas.openxmlformats.org/drawingml/2006/main">
              <a:ext uri="{FF2B5EF4-FFF2-40B4-BE49-F238E27FC236}">
                <a16:creationId xmlns:a16="http://schemas.microsoft.com/office/drawing/2014/main" id="{31CBD34E-D217-45F6-8B22-8E914842E364}"/>
              </a:ext>
            </a:extLst>
          </p:cNvPr>
          <p:cNvSpPr>
            <a:spLocks xmlns:a="http://schemas.openxmlformats.org/drawingml/2006/main" noGrp="1"/>
          </p:cNvSpPr>
          <p:nvPr/>
        </p:nvSpPr>
        <p:spPr>
          <a:xfrm xmlns:a="http://schemas.openxmlformats.org/drawingml/2006/main">
            <a:off x="809625" y="2247900"/>
            <a:ext cx="2238375" cy="323850"/>
          </a:xfrm>
          <a:prstGeom xmlns:a="http://schemas.openxmlformats.org/drawingml/2006/main" prst="rect">
            <a:avLst/>
          </a:prstGeom>
          <a:solidFill xmlns:a="http://schemas.openxmlformats.org/drawingml/2006/main">
            <a:srgbClr val="2F7D59"/>
          </a:solidFill>
          <a:ln xmlns:a="http://schemas.openxmlformats.org/drawingml/2006/main" w="0">
            <a:solidFill>
              <a:srgbClr val="000000">
                <a:alpha val="0"/>
              </a:srgbClr>
            </a:solidFill>
            <a:prstDash val="solid"/>
          </a:ln>
        </p:spPr>
        <p:txBody>
          <a:bodyPr xmlns:a="http://schemas.openxmlformats.org/drawingml/2006/main" lIns="114300" tIns="95250" rIns="114300" bIns="95250" anchor="ctr"/>
          <a:lstStyle xmlns:a="http://schemas.openxmlformats.org/drawingml/2006/main"/>
          <a:p xmlns:a="http://schemas.openxmlformats.org/drawingml/2006/main">
            <a:pPr algn="ctr">
              <a:defRPr sz="1500" b="1">
                <a:solidFill>
                  <a:srgbClr val="FFFFFF"/>
                </a:solidFill>
                <a:latin typeface="Aptos"/>
                <a:ea typeface="Aptos"/>
                <a:cs typeface="Aptos"/>
              </a:defRPr>
            </a:pPr>
            <a:r>
              <a:rPr sz="1500" b="1">
                <a:solidFill>
                  <a:srgbClr val="FFFFFF"/>
                </a:solidFill>
                <a:latin typeface="Aptos"/>
                <a:ea typeface="Aptos"/>
                <a:cs typeface="Aptos"/>
              </a:rPr>
              <a:t>Frontend</a:t>
            </a:r>
          </a:p>
        </p:txBody>
      </p:sp>
      <p:sp>
        <p:nvSpPr>
          <p:cNvPr id="6" name="">
            <a:extLst xmlns:a="http://schemas.openxmlformats.org/drawingml/2006/main">
              <a:ext uri="{FF2B5EF4-FFF2-40B4-BE49-F238E27FC236}">
                <a16:creationId xmlns:a16="http://schemas.microsoft.com/office/drawing/2014/main" id="{81E47B7B-E6C3-4690-8B12-5D2F250B40CB}"/>
              </a:ext>
            </a:extLst>
          </p:cNvPr>
          <p:cNvSpPr>
            <a:spLocks xmlns:a="http://schemas.openxmlformats.org/drawingml/2006/main" noGrp="1"/>
          </p:cNvSpPr>
          <p:nvPr/>
        </p:nvSpPr>
        <p:spPr>
          <a:xfrm xmlns:a="http://schemas.openxmlformats.org/drawingml/2006/main">
            <a:off x="809625" y="2724150"/>
            <a:ext cx="2238375" cy="1714500"/>
          </a:xfrm>
          <a:prstGeom xmlns:a="http://schemas.openxmlformats.org/drawingml/2006/main" prst="rect">
            <a:avLst/>
          </a:prstGeom>
          <a:solidFill xmlns:a="http://schemas.openxmlformats.org/drawingml/2006/main">
            <a:srgbClr val="FFFFFF"/>
          </a:solidFill>
          <a:ln xmlns:a="http://schemas.openxmlformats.org/drawingml/2006/main" w="9525">
            <a:solidFill>
              <a:srgbClr val="D8D4CB"/>
            </a:solidFill>
            <a:prstDash val="solid"/>
          </a:ln>
        </p:spPr>
        <p:txBody>
          <a:bodyPr xmlns:a="http://schemas.openxmlformats.org/drawingml/2006/main" lIns="114300" tIns="95250" rIns="114300" bIns="95250" anchor="ctr"/>
          <a:lstStyle xmlns:a="http://schemas.openxmlformats.org/drawingml/2006/main"/>
          <a:p xmlns:a="http://schemas.openxmlformats.org/drawingml/2006/main">
            <a:pPr algn="ctr">
              <a:defRPr sz="1500" b="0">
                <a:solidFill>
                  <a:srgbClr val="17202A"/>
                </a:solidFill>
                <a:latin typeface="Aptos"/>
                <a:ea typeface="Aptos"/>
                <a:cs typeface="Aptos"/>
              </a:defRPr>
            </a:pPr>
            <a:r>
              <a:rPr sz="1500" b="0">
                <a:solidFill>
                  <a:srgbClr val="17202A"/>
                </a:solidFill>
                <a:latin typeface="Aptos"/>
                <a:ea typeface="Aptos"/>
                <a:cs typeface="Aptos"/>
              </a:rPr>
              <a:t>React 19</a:t>
            </a:r>
          </a:p>
          <a:p xmlns:a="http://schemas.openxmlformats.org/drawingml/2006/main">
            <a:pPr algn="ctr">
              <a:defRPr sz="1500" b="0">
                <a:solidFill>
                  <a:srgbClr val="17202A"/>
                </a:solidFill>
                <a:latin typeface="Aptos"/>
                <a:ea typeface="Aptos"/>
                <a:cs typeface="Aptos"/>
              </a:defRPr>
            </a:pPr>
            <a:r>
              <a:rPr sz="1500" b="0">
                <a:solidFill>
                  <a:srgbClr val="17202A"/>
                </a:solidFill>
                <a:latin typeface="Aptos"/>
                <a:ea typeface="Aptos"/>
                <a:cs typeface="Aptos"/>
              </a:rPr>
              <a:t>Vite</a:t>
            </a:r>
          </a:p>
          <a:p xmlns:a="http://schemas.openxmlformats.org/drawingml/2006/main">
            <a:pPr algn="ctr">
              <a:defRPr sz="1500" b="0">
                <a:solidFill>
                  <a:srgbClr val="17202A"/>
                </a:solidFill>
                <a:latin typeface="Aptos"/>
                <a:ea typeface="Aptos"/>
                <a:cs typeface="Aptos"/>
              </a:defRPr>
            </a:pPr>
            <a:r>
              <a:rPr sz="1500" b="0">
                <a:solidFill>
                  <a:srgbClr val="17202A"/>
                </a:solidFill>
                <a:latin typeface="Aptos"/>
                <a:ea typeface="Aptos"/>
                <a:cs typeface="Aptos"/>
              </a:rPr>
              <a:t>Tailwind CSS</a:t>
            </a:r>
          </a:p>
          <a:p xmlns:a="http://schemas.openxmlformats.org/drawingml/2006/main">
            <a:pPr algn="ctr">
              <a:defRPr sz="1500" b="0">
                <a:solidFill>
                  <a:srgbClr val="17202A"/>
                </a:solidFill>
                <a:latin typeface="Aptos"/>
                <a:ea typeface="Aptos"/>
                <a:cs typeface="Aptos"/>
              </a:defRPr>
            </a:pPr>
            <a:r>
              <a:rPr sz="1500" b="0">
                <a:solidFill>
                  <a:srgbClr val="17202A"/>
                </a:solidFill>
                <a:latin typeface="Aptos"/>
                <a:ea typeface="Aptos"/>
                <a:cs typeface="Aptos"/>
              </a:rPr>
              <a:t>React Router</a:t>
            </a:r>
          </a:p>
        </p:txBody>
      </p:sp>
      <p:sp>
        <p:nvSpPr>
          <p:cNvPr id="7" name="">
            <a:extLst xmlns:a="http://schemas.openxmlformats.org/drawingml/2006/main">
              <a:ext uri="{FF2B5EF4-FFF2-40B4-BE49-F238E27FC236}">
                <a16:creationId xmlns:a16="http://schemas.microsoft.com/office/drawing/2014/main" id="{0E1C40B8-41A6-4E0F-8273-7AD45E5ED520}"/>
              </a:ext>
            </a:extLst>
          </p:cNvPr>
          <p:cNvSpPr>
            <a:spLocks xmlns:a="http://schemas.openxmlformats.org/drawingml/2006/main" noGrp="1"/>
          </p:cNvSpPr>
          <p:nvPr/>
        </p:nvSpPr>
        <p:spPr>
          <a:xfrm xmlns:a="http://schemas.openxmlformats.org/drawingml/2006/main">
            <a:off x="3048000" y="3543300"/>
            <a:ext cx="571500" cy="28575"/>
          </a:xfrm>
          <a:prstGeom xmlns:a="http://schemas.openxmlformats.org/drawingml/2006/main" prst="rect">
            <a:avLst/>
          </a:prstGeom>
          <a:solidFill xmlns:a="http://schemas.openxmlformats.org/drawingml/2006/main">
            <a:srgbClr val="B9B1A5"/>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51FEE741-24CD-4E56-AB54-DDCFF802C125}"/>
              </a:ext>
            </a:extLst>
          </p:cNvPr>
          <p:cNvSpPr>
            <a:spLocks xmlns:a="http://schemas.openxmlformats.org/drawingml/2006/main" noGrp="1"/>
          </p:cNvSpPr>
          <p:nvPr/>
        </p:nvSpPr>
        <p:spPr>
          <a:xfrm xmlns:a="http://schemas.openxmlformats.org/drawingml/2006/main">
            <a:off x="3619500" y="2247900"/>
            <a:ext cx="2238375" cy="323850"/>
          </a:xfrm>
          <a:prstGeom xmlns:a="http://schemas.openxmlformats.org/drawingml/2006/main" prst="rect">
            <a:avLst/>
          </a:prstGeom>
          <a:solidFill xmlns:a="http://schemas.openxmlformats.org/drawingml/2006/main">
            <a:srgbClr val="3F6FA8"/>
          </a:solidFill>
          <a:ln xmlns:a="http://schemas.openxmlformats.org/drawingml/2006/main" w="0">
            <a:solidFill>
              <a:srgbClr val="000000">
                <a:alpha val="0"/>
              </a:srgbClr>
            </a:solidFill>
            <a:prstDash val="solid"/>
          </a:ln>
        </p:spPr>
        <p:txBody>
          <a:bodyPr xmlns:a="http://schemas.openxmlformats.org/drawingml/2006/main" lIns="114300" tIns="95250" rIns="114300" bIns="95250" anchor="ctr"/>
          <a:lstStyle xmlns:a="http://schemas.openxmlformats.org/drawingml/2006/main"/>
          <a:p xmlns:a="http://schemas.openxmlformats.org/drawingml/2006/main">
            <a:pPr algn="ctr">
              <a:defRPr sz="1500" b="1">
                <a:solidFill>
                  <a:srgbClr val="FFFFFF"/>
                </a:solidFill>
                <a:latin typeface="Aptos"/>
                <a:ea typeface="Aptos"/>
                <a:cs typeface="Aptos"/>
              </a:defRPr>
            </a:pPr>
            <a:r>
              <a:rPr sz="1500" b="1">
                <a:solidFill>
                  <a:srgbClr val="FFFFFF"/>
                </a:solidFill>
                <a:latin typeface="Aptos"/>
                <a:ea typeface="Aptos"/>
                <a:cs typeface="Aptos"/>
              </a:rPr>
              <a:t>Backend</a:t>
            </a:r>
          </a:p>
        </p:txBody>
      </p:sp>
      <p:sp>
        <p:nvSpPr>
          <p:cNvPr id="9" name="">
            <a:extLst xmlns:a="http://schemas.openxmlformats.org/drawingml/2006/main">
              <a:ext uri="{FF2B5EF4-FFF2-40B4-BE49-F238E27FC236}">
                <a16:creationId xmlns:a16="http://schemas.microsoft.com/office/drawing/2014/main" id="{1DE019B5-EA85-42FF-A2CB-CAB5A6743F77}"/>
              </a:ext>
            </a:extLst>
          </p:cNvPr>
          <p:cNvSpPr>
            <a:spLocks xmlns:a="http://schemas.openxmlformats.org/drawingml/2006/main" noGrp="1"/>
          </p:cNvSpPr>
          <p:nvPr/>
        </p:nvSpPr>
        <p:spPr>
          <a:xfrm xmlns:a="http://schemas.openxmlformats.org/drawingml/2006/main">
            <a:off x="3619500" y="2724150"/>
            <a:ext cx="2238375" cy="1714500"/>
          </a:xfrm>
          <a:prstGeom xmlns:a="http://schemas.openxmlformats.org/drawingml/2006/main" prst="rect">
            <a:avLst/>
          </a:prstGeom>
          <a:solidFill xmlns:a="http://schemas.openxmlformats.org/drawingml/2006/main">
            <a:srgbClr val="FFFFFF"/>
          </a:solidFill>
          <a:ln xmlns:a="http://schemas.openxmlformats.org/drawingml/2006/main" w="9525">
            <a:solidFill>
              <a:srgbClr val="D8D4CB"/>
            </a:solidFill>
            <a:prstDash val="solid"/>
          </a:ln>
        </p:spPr>
        <p:txBody>
          <a:bodyPr xmlns:a="http://schemas.openxmlformats.org/drawingml/2006/main" lIns="114300" tIns="95250" rIns="114300" bIns="95250" anchor="ctr"/>
          <a:lstStyle xmlns:a="http://schemas.openxmlformats.org/drawingml/2006/main"/>
          <a:p xmlns:a="http://schemas.openxmlformats.org/drawingml/2006/main">
            <a:pPr algn="ctr">
              <a:defRPr sz="1500" b="0">
                <a:solidFill>
                  <a:srgbClr val="17202A"/>
                </a:solidFill>
                <a:latin typeface="Aptos"/>
                <a:ea typeface="Aptos"/>
                <a:cs typeface="Aptos"/>
              </a:defRPr>
            </a:pPr>
            <a:r>
              <a:rPr sz="1500" b="0">
                <a:solidFill>
                  <a:srgbClr val="17202A"/>
                </a:solidFill>
                <a:latin typeface="Aptos"/>
                <a:ea typeface="Aptos"/>
                <a:cs typeface="Aptos"/>
              </a:rPr>
              <a:t>Node.js</a:t>
            </a:r>
          </a:p>
          <a:p xmlns:a="http://schemas.openxmlformats.org/drawingml/2006/main">
            <a:pPr algn="ctr">
              <a:defRPr sz="1500" b="0">
                <a:solidFill>
                  <a:srgbClr val="17202A"/>
                </a:solidFill>
                <a:latin typeface="Aptos"/>
                <a:ea typeface="Aptos"/>
                <a:cs typeface="Aptos"/>
              </a:defRPr>
            </a:pPr>
            <a:r>
              <a:rPr sz="1500" b="0">
                <a:solidFill>
                  <a:srgbClr val="17202A"/>
                </a:solidFill>
                <a:latin typeface="Aptos"/>
                <a:ea typeface="Aptos"/>
                <a:cs typeface="Aptos"/>
              </a:rPr>
              <a:t>Express 5</a:t>
            </a:r>
          </a:p>
          <a:p xmlns:a="http://schemas.openxmlformats.org/drawingml/2006/main">
            <a:pPr algn="ctr">
              <a:defRPr sz="1500" b="0">
                <a:solidFill>
                  <a:srgbClr val="17202A"/>
                </a:solidFill>
                <a:latin typeface="Aptos"/>
                <a:ea typeface="Aptos"/>
                <a:cs typeface="Aptos"/>
              </a:defRPr>
            </a:pPr>
            <a:r>
              <a:rPr sz="1500" b="0">
                <a:solidFill>
                  <a:srgbClr val="17202A"/>
                </a:solidFill>
                <a:latin typeface="Aptos"/>
                <a:ea typeface="Aptos"/>
                <a:cs typeface="Aptos"/>
              </a:rPr>
              <a:t>Mongoose</a:t>
            </a:r>
          </a:p>
          <a:p xmlns:a="http://schemas.openxmlformats.org/drawingml/2006/main">
            <a:pPr algn="ctr">
              <a:defRPr sz="1500" b="0">
                <a:solidFill>
                  <a:srgbClr val="17202A"/>
                </a:solidFill>
                <a:latin typeface="Aptos"/>
                <a:ea typeface="Aptos"/>
                <a:cs typeface="Aptos"/>
              </a:defRPr>
            </a:pPr>
            <a:r>
              <a:rPr sz="1500" b="0">
                <a:solidFill>
                  <a:srgbClr val="17202A"/>
                </a:solidFill>
                <a:latin typeface="Aptos"/>
                <a:ea typeface="Aptos"/>
                <a:cs typeface="Aptos"/>
              </a:rPr>
              <a:t>JWT middleware</a:t>
            </a:r>
          </a:p>
        </p:txBody>
      </p:sp>
      <p:sp>
        <p:nvSpPr>
          <p:cNvPr id="10" name="">
            <a:extLst xmlns:a="http://schemas.openxmlformats.org/drawingml/2006/main">
              <a:ext uri="{FF2B5EF4-FFF2-40B4-BE49-F238E27FC236}">
                <a16:creationId xmlns:a16="http://schemas.microsoft.com/office/drawing/2014/main" id="{E96859F7-D149-4186-8D00-5697225A1003}"/>
              </a:ext>
            </a:extLst>
          </p:cNvPr>
          <p:cNvSpPr>
            <a:spLocks xmlns:a="http://schemas.openxmlformats.org/drawingml/2006/main" noGrp="1"/>
          </p:cNvSpPr>
          <p:nvPr/>
        </p:nvSpPr>
        <p:spPr>
          <a:xfrm xmlns:a="http://schemas.openxmlformats.org/drawingml/2006/main">
            <a:off x="5857875" y="3543300"/>
            <a:ext cx="571500" cy="28575"/>
          </a:xfrm>
          <a:prstGeom xmlns:a="http://schemas.openxmlformats.org/drawingml/2006/main" prst="rect">
            <a:avLst/>
          </a:prstGeom>
          <a:solidFill xmlns:a="http://schemas.openxmlformats.org/drawingml/2006/main">
            <a:srgbClr val="B9B1A5"/>
          </a:solidFill>
          <a:ln xmlns:a="http://schemas.openxmlformats.org/drawingml/2006/main" w="0">
            <a:solidFill>
              <a:srgbClr val="000000">
                <a:alpha val="0"/>
              </a:srgbClr>
            </a:solidFill>
            <a:prstDash val="solid"/>
          </a:ln>
        </p:spPr>
      </p:sp>
      <p:sp>
        <p:nvSpPr>
          <p:cNvPr id="11" name="">
            <a:extLst xmlns:a="http://schemas.openxmlformats.org/drawingml/2006/main">
              <a:ext uri="{FF2B5EF4-FFF2-40B4-BE49-F238E27FC236}">
                <a16:creationId xmlns:a16="http://schemas.microsoft.com/office/drawing/2014/main" id="{F5132F54-2F8D-4BC8-93D3-8DAA6FC82653}"/>
              </a:ext>
            </a:extLst>
          </p:cNvPr>
          <p:cNvSpPr>
            <a:spLocks xmlns:a="http://schemas.openxmlformats.org/drawingml/2006/main" noGrp="1"/>
          </p:cNvSpPr>
          <p:nvPr/>
        </p:nvSpPr>
        <p:spPr>
          <a:xfrm xmlns:a="http://schemas.openxmlformats.org/drawingml/2006/main">
            <a:off x="6429375" y="2247900"/>
            <a:ext cx="2238375" cy="323850"/>
          </a:xfrm>
          <a:prstGeom xmlns:a="http://schemas.openxmlformats.org/drawingml/2006/main" prst="rect">
            <a:avLst/>
          </a:prstGeom>
          <a:solidFill xmlns:a="http://schemas.openxmlformats.org/drawingml/2006/main">
            <a:srgbClr val="C8952D"/>
          </a:solidFill>
          <a:ln xmlns:a="http://schemas.openxmlformats.org/drawingml/2006/main" w="0">
            <a:solidFill>
              <a:srgbClr val="000000">
                <a:alpha val="0"/>
              </a:srgbClr>
            </a:solidFill>
            <a:prstDash val="solid"/>
          </a:ln>
        </p:spPr>
        <p:txBody>
          <a:bodyPr xmlns:a="http://schemas.openxmlformats.org/drawingml/2006/main" lIns="114300" tIns="95250" rIns="114300" bIns="95250" anchor="ctr"/>
          <a:lstStyle xmlns:a="http://schemas.openxmlformats.org/drawingml/2006/main"/>
          <a:p xmlns:a="http://schemas.openxmlformats.org/drawingml/2006/main">
            <a:pPr algn="ctr">
              <a:defRPr sz="1500" b="1">
                <a:solidFill>
                  <a:srgbClr val="FFFFFF"/>
                </a:solidFill>
                <a:latin typeface="Aptos"/>
                <a:ea typeface="Aptos"/>
                <a:cs typeface="Aptos"/>
              </a:defRPr>
            </a:pPr>
            <a:r>
              <a:rPr sz="1500" b="1">
                <a:solidFill>
                  <a:srgbClr val="FFFFFF"/>
                </a:solidFill>
                <a:latin typeface="Aptos"/>
                <a:ea typeface="Aptos"/>
                <a:cs typeface="Aptos"/>
              </a:rPr>
              <a:t>Data &amp; Media</a:t>
            </a:r>
          </a:p>
        </p:txBody>
      </p:sp>
      <p:sp>
        <p:nvSpPr>
          <p:cNvPr id="12" name="">
            <a:extLst xmlns:a="http://schemas.openxmlformats.org/drawingml/2006/main">
              <a:ext uri="{FF2B5EF4-FFF2-40B4-BE49-F238E27FC236}">
                <a16:creationId xmlns:a16="http://schemas.microsoft.com/office/drawing/2014/main" id="{0AC21A17-235D-4F21-A88E-4CCD58C8F45E}"/>
              </a:ext>
            </a:extLst>
          </p:cNvPr>
          <p:cNvSpPr>
            <a:spLocks xmlns:a="http://schemas.openxmlformats.org/drawingml/2006/main" noGrp="1"/>
          </p:cNvSpPr>
          <p:nvPr/>
        </p:nvSpPr>
        <p:spPr>
          <a:xfrm xmlns:a="http://schemas.openxmlformats.org/drawingml/2006/main">
            <a:off x="6429375" y="2724150"/>
            <a:ext cx="2238375" cy="1714500"/>
          </a:xfrm>
          <a:prstGeom xmlns:a="http://schemas.openxmlformats.org/drawingml/2006/main" prst="rect">
            <a:avLst/>
          </a:prstGeom>
          <a:solidFill xmlns:a="http://schemas.openxmlformats.org/drawingml/2006/main">
            <a:srgbClr val="FFFFFF"/>
          </a:solidFill>
          <a:ln xmlns:a="http://schemas.openxmlformats.org/drawingml/2006/main" w="9525">
            <a:solidFill>
              <a:srgbClr val="D8D4CB"/>
            </a:solidFill>
            <a:prstDash val="solid"/>
          </a:ln>
        </p:spPr>
        <p:txBody>
          <a:bodyPr xmlns:a="http://schemas.openxmlformats.org/drawingml/2006/main" lIns="114300" tIns="95250" rIns="114300" bIns="95250" anchor="ctr"/>
          <a:lstStyle xmlns:a="http://schemas.openxmlformats.org/drawingml/2006/main"/>
          <a:p xmlns:a="http://schemas.openxmlformats.org/drawingml/2006/main">
            <a:pPr algn="ctr">
              <a:defRPr sz="1500" b="0">
                <a:solidFill>
                  <a:srgbClr val="17202A"/>
                </a:solidFill>
                <a:latin typeface="Aptos"/>
                <a:ea typeface="Aptos"/>
                <a:cs typeface="Aptos"/>
              </a:defRPr>
            </a:pPr>
            <a:r>
              <a:rPr sz="1500" b="0">
                <a:solidFill>
                  <a:srgbClr val="17202A"/>
                </a:solidFill>
                <a:latin typeface="Aptos"/>
                <a:ea typeface="Aptos"/>
                <a:cs typeface="Aptos"/>
              </a:rPr>
              <a:t>MongoDB Atlas</a:t>
            </a:r>
          </a:p>
          <a:p xmlns:a="http://schemas.openxmlformats.org/drawingml/2006/main">
            <a:pPr algn="ctr">
              <a:defRPr sz="1500" b="0">
                <a:solidFill>
                  <a:srgbClr val="17202A"/>
                </a:solidFill>
                <a:latin typeface="Aptos"/>
                <a:ea typeface="Aptos"/>
                <a:cs typeface="Aptos"/>
              </a:defRPr>
            </a:pPr>
            <a:r>
              <a:rPr sz="1500" b="0">
                <a:solidFill>
                  <a:srgbClr val="17202A"/>
                </a:solidFill>
                <a:latin typeface="Aptos"/>
                <a:ea typeface="Aptos"/>
                <a:cs typeface="Aptos"/>
              </a:rPr>
              <a:t>Cloudinary</a:t>
            </a:r>
          </a:p>
          <a:p xmlns:a="http://schemas.openxmlformats.org/drawingml/2006/main">
            <a:pPr algn="ctr">
              <a:defRPr sz="1500" b="0">
                <a:solidFill>
                  <a:srgbClr val="17202A"/>
                </a:solidFill>
                <a:latin typeface="Aptos"/>
                <a:ea typeface="Aptos"/>
                <a:cs typeface="Aptos"/>
              </a:defRPr>
            </a:pPr>
            <a:r>
              <a:rPr sz="1500" b="0">
                <a:solidFill>
                  <a:srgbClr val="17202A"/>
                </a:solidFill>
                <a:latin typeface="Aptos"/>
                <a:ea typeface="Aptos"/>
                <a:cs typeface="Aptos"/>
              </a:rPr>
              <a:t>Stripe webhook</a:t>
            </a:r>
          </a:p>
          <a:p xmlns:a="http://schemas.openxmlformats.org/drawingml/2006/main">
            <a:pPr algn="ctr">
              <a:defRPr sz="1500" b="0">
                <a:solidFill>
                  <a:srgbClr val="17202A"/>
                </a:solidFill>
                <a:latin typeface="Aptos"/>
                <a:ea typeface="Aptos"/>
                <a:cs typeface="Aptos"/>
              </a:defRPr>
            </a:pPr>
            <a:r>
              <a:rPr sz="1500" b="0">
                <a:solidFill>
                  <a:srgbClr val="17202A"/>
                </a:solidFill>
                <a:latin typeface="Aptos"/>
                <a:ea typeface="Aptos"/>
                <a:cs typeface="Aptos"/>
              </a:rPr>
              <a:t>Leaflet map</a:t>
            </a:r>
          </a:p>
        </p:txBody>
      </p:sp>
      <p:sp>
        <p:nvSpPr>
          <p:cNvPr id="13" name="">
            <a:extLst xmlns:a="http://schemas.openxmlformats.org/drawingml/2006/main">
              <a:ext uri="{FF2B5EF4-FFF2-40B4-BE49-F238E27FC236}">
                <a16:creationId xmlns:a16="http://schemas.microsoft.com/office/drawing/2014/main" id="{BA067663-A0A4-4C9F-B5E4-1CE85E9484CD}"/>
              </a:ext>
            </a:extLst>
          </p:cNvPr>
          <p:cNvSpPr>
            <a:spLocks xmlns:a="http://schemas.openxmlformats.org/drawingml/2006/main" noGrp="1"/>
          </p:cNvSpPr>
          <p:nvPr/>
        </p:nvSpPr>
        <p:spPr>
          <a:xfrm xmlns:a="http://schemas.openxmlformats.org/drawingml/2006/main">
            <a:off x="8667750" y="3543300"/>
            <a:ext cx="571500" cy="28575"/>
          </a:xfrm>
          <a:prstGeom xmlns:a="http://schemas.openxmlformats.org/drawingml/2006/main" prst="rect">
            <a:avLst/>
          </a:prstGeom>
          <a:solidFill xmlns:a="http://schemas.openxmlformats.org/drawingml/2006/main">
            <a:srgbClr val="B9B1A5"/>
          </a:solidFill>
          <a:ln xmlns:a="http://schemas.openxmlformats.org/drawingml/2006/main" w="0">
            <a:solidFill>
              <a:srgbClr val="000000">
                <a:alpha val="0"/>
              </a:srgbClr>
            </a:solidFill>
            <a:prstDash val="solid"/>
          </a:ln>
        </p:spPr>
      </p:sp>
      <p:sp>
        <p:nvSpPr>
          <p:cNvPr id="14" name="">
            <a:extLst xmlns:a="http://schemas.openxmlformats.org/drawingml/2006/main">
              <a:ext uri="{FF2B5EF4-FFF2-40B4-BE49-F238E27FC236}">
                <a16:creationId xmlns:a16="http://schemas.microsoft.com/office/drawing/2014/main" id="{5460E911-4748-489C-8315-D8F16DDD4F62}"/>
              </a:ext>
            </a:extLst>
          </p:cNvPr>
          <p:cNvSpPr>
            <a:spLocks xmlns:a="http://schemas.openxmlformats.org/drawingml/2006/main" noGrp="1"/>
          </p:cNvSpPr>
          <p:nvPr/>
        </p:nvSpPr>
        <p:spPr>
          <a:xfrm xmlns:a="http://schemas.openxmlformats.org/drawingml/2006/main">
            <a:off x="9239250" y="2247900"/>
            <a:ext cx="2238375" cy="323850"/>
          </a:xfrm>
          <a:prstGeom xmlns:a="http://schemas.openxmlformats.org/drawingml/2006/main" prst="rect">
            <a:avLst/>
          </a:prstGeom>
          <a:solidFill xmlns:a="http://schemas.openxmlformats.org/drawingml/2006/main">
            <a:srgbClr val="D96B4C"/>
          </a:solidFill>
          <a:ln xmlns:a="http://schemas.openxmlformats.org/drawingml/2006/main" w="0">
            <a:solidFill>
              <a:srgbClr val="000000">
                <a:alpha val="0"/>
              </a:srgbClr>
            </a:solidFill>
            <a:prstDash val="solid"/>
          </a:ln>
        </p:spPr>
        <p:txBody>
          <a:bodyPr xmlns:a="http://schemas.openxmlformats.org/drawingml/2006/main" lIns="114300" tIns="95250" rIns="114300" bIns="95250" anchor="ctr"/>
          <a:lstStyle xmlns:a="http://schemas.openxmlformats.org/drawingml/2006/main"/>
          <a:p xmlns:a="http://schemas.openxmlformats.org/drawingml/2006/main">
            <a:pPr algn="ctr">
              <a:defRPr sz="1500" b="1">
                <a:solidFill>
                  <a:srgbClr val="FFFFFF"/>
                </a:solidFill>
                <a:latin typeface="Aptos"/>
                <a:ea typeface="Aptos"/>
                <a:cs typeface="Aptos"/>
              </a:defRPr>
            </a:pPr>
            <a:r>
              <a:rPr sz="1500" b="1">
                <a:solidFill>
                  <a:srgbClr val="FFFFFF"/>
                </a:solidFill>
                <a:latin typeface="Aptos"/>
                <a:ea typeface="Aptos"/>
                <a:cs typeface="Aptos"/>
              </a:rPr>
              <a:t>ML Service</a:t>
            </a:r>
          </a:p>
        </p:txBody>
      </p:sp>
      <p:sp>
        <p:nvSpPr>
          <p:cNvPr id="15" name="">
            <a:extLst xmlns:a="http://schemas.openxmlformats.org/drawingml/2006/main">
              <a:ext uri="{FF2B5EF4-FFF2-40B4-BE49-F238E27FC236}">
                <a16:creationId xmlns:a16="http://schemas.microsoft.com/office/drawing/2014/main" id="{93830167-2689-4E4D-AF22-FEF07A5B4A37}"/>
              </a:ext>
            </a:extLst>
          </p:cNvPr>
          <p:cNvSpPr>
            <a:spLocks xmlns:a="http://schemas.openxmlformats.org/drawingml/2006/main" noGrp="1"/>
          </p:cNvSpPr>
          <p:nvPr/>
        </p:nvSpPr>
        <p:spPr>
          <a:xfrm xmlns:a="http://schemas.openxmlformats.org/drawingml/2006/main">
            <a:off x="9239250" y="2724150"/>
            <a:ext cx="2238375" cy="1714500"/>
          </a:xfrm>
          <a:prstGeom xmlns:a="http://schemas.openxmlformats.org/drawingml/2006/main" prst="rect">
            <a:avLst/>
          </a:prstGeom>
          <a:solidFill xmlns:a="http://schemas.openxmlformats.org/drawingml/2006/main">
            <a:srgbClr val="FFFFFF"/>
          </a:solidFill>
          <a:ln xmlns:a="http://schemas.openxmlformats.org/drawingml/2006/main" w="9525">
            <a:solidFill>
              <a:srgbClr val="D8D4CB"/>
            </a:solidFill>
            <a:prstDash val="solid"/>
          </a:ln>
        </p:spPr>
        <p:txBody>
          <a:bodyPr xmlns:a="http://schemas.openxmlformats.org/drawingml/2006/main" lIns="114300" tIns="95250" rIns="114300" bIns="95250" anchor="ctr"/>
          <a:lstStyle xmlns:a="http://schemas.openxmlformats.org/drawingml/2006/main"/>
          <a:p xmlns:a="http://schemas.openxmlformats.org/drawingml/2006/main">
            <a:pPr algn="ctr">
              <a:defRPr sz="1500" b="0">
                <a:solidFill>
                  <a:srgbClr val="17202A"/>
                </a:solidFill>
                <a:latin typeface="Aptos"/>
                <a:ea typeface="Aptos"/>
                <a:cs typeface="Aptos"/>
              </a:defRPr>
            </a:pPr>
            <a:r>
              <a:rPr sz="1500" b="0">
                <a:solidFill>
                  <a:srgbClr val="17202A"/>
                </a:solidFill>
                <a:latin typeface="Aptos"/>
                <a:ea typeface="Aptos"/>
                <a:cs typeface="Aptos"/>
              </a:rPr>
              <a:t>Python Flask</a:t>
            </a:r>
          </a:p>
          <a:p xmlns:a="http://schemas.openxmlformats.org/drawingml/2006/main">
            <a:pPr algn="ctr">
              <a:defRPr sz="1500" b="0">
                <a:solidFill>
                  <a:srgbClr val="17202A"/>
                </a:solidFill>
                <a:latin typeface="Aptos"/>
                <a:ea typeface="Aptos"/>
                <a:cs typeface="Aptos"/>
              </a:defRPr>
            </a:pPr>
            <a:r>
              <a:rPr sz="1500" b="0">
                <a:solidFill>
                  <a:srgbClr val="17202A"/>
                </a:solidFill>
                <a:latin typeface="Aptos"/>
                <a:ea typeface="Aptos"/>
                <a:cs typeface="Aptos"/>
              </a:rPr>
              <a:t>scikit-learn</a:t>
            </a:r>
          </a:p>
          <a:p xmlns:a="http://schemas.openxmlformats.org/drawingml/2006/main">
            <a:pPr algn="ctr">
              <a:defRPr sz="1500" b="0">
                <a:solidFill>
                  <a:srgbClr val="17202A"/>
                </a:solidFill>
                <a:latin typeface="Aptos"/>
                <a:ea typeface="Aptos"/>
                <a:cs typeface="Aptos"/>
              </a:defRPr>
            </a:pPr>
            <a:r>
              <a:rPr sz="1500" b="0">
                <a:solidFill>
                  <a:srgbClr val="17202A"/>
                </a:solidFill>
                <a:latin typeface="Aptos"/>
                <a:ea typeface="Aptos"/>
                <a:cs typeface="Aptos"/>
              </a:rPr>
              <a:t>pandas / numpy</a:t>
            </a:r>
          </a:p>
          <a:p xmlns:a="http://schemas.openxmlformats.org/drawingml/2006/main">
            <a:pPr algn="ctr">
              <a:defRPr sz="1500" b="0">
                <a:solidFill>
                  <a:srgbClr val="17202A"/>
                </a:solidFill>
                <a:latin typeface="Aptos"/>
                <a:ea typeface="Aptos"/>
                <a:cs typeface="Aptos"/>
              </a:defRPr>
            </a:pPr>
            <a:r>
              <a:rPr sz="1500" b="0">
                <a:solidFill>
                  <a:srgbClr val="17202A"/>
                </a:solidFill>
                <a:latin typeface="Aptos"/>
                <a:ea typeface="Aptos"/>
                <a:cs typeface="Aptos"/>
              </a:rPr>
              <a:t>SVD + TF-IDF</a:t>
            </a:r>
          </a:p>
        </p:txBody>
      </p:sp>
      <p:sp>
        <p:nvSpPr>
          <p:cNvPr id="16" name="">
            <a:extLst xmlns:a="http://schemas.openxmlformats.org/drawingml/2006/main">
              <a:ext uri="{FF2B5EF4-FFF2-40B4-BE49-F238E27FC236}">
                <a16:creationId xmlns:a16="http://schemas.microsoft.com/office/drawing/2014/main" id="{6D090DCD-831D-4638-8452-2929C4E71BF2}"/>
              </a:ext>
            </a:extLst>
          </p:cNvPr>
          <p:cNvSpPr>
            <a:spLocks xmlns:a="http://schemas.openxmlformats.org/drawingml/2006/main" noGrp="1"/>
          </p:cNvSpPr>
          <p:nvPr/>
        </p:nvSpPr>
        <p:spPr>
          <a:xfrm xmlns:a="http://schemas.openxmlformats.org/drawingml/2006/main">
            <a:off x="1200150" y="5143500"/>
            <a:ext cx="9791700" cy="552450"/>
          </a:xfrm>
          <a:prstGeom xmlns:a="http://schemas.openxmlformats.org/drawingml/2006/main" prst="rect">
            <a:avLst/>
          </a:prstGeom>
          <a:solidFill xmlns:a="http://schemas.openxmlformats.org/drawingml/2006/main">
            <a:srgbClr val="DDEBDD"/>
          </a:solidFill>
          <a:ln xmlns:a="http://schemas.openxmlformats.org/drawingml/2006/main" w="0">
            <a:solidFill>
              <a:srgbClr val="000000">
                <a:alpha val="0"/>
              </a:srgbClr>
            </a:solidFill>
            <a:prstDash val="solid"/>
          </a:ln>
        </p:spPr>
        <p:txBody>
          <a:bodyPr xmlns:a="http://schemas.openxmlformats.org/drawingml/2006/main" lIns="114300" tIns="95250" rIns="114300" bIns="95250" anchor="ctr"/>
          <a:lstStyle xmlns:a="http://schemas.openxmlformats.org/drawingml/2006/main"/>
          <a:p xmlns:a="http://schemas.openxmlformats.org/drawingml/2006/main">
            <a:pPr algn="ctr">
              <a:defRPr sz="1500" b="0">
                <a:solidFill>
                  <a:srgbClr val="17202A"/>
                </a:solidFill>
                <a:latin typeface="Aptos"/>
                <a:ea typeface="Aptos"/>
                <a:cs typeface="Aptos"/>
              </a:defRPr>
            </a:pPr>
            <a:r>
              <a:rPr sz="1500" b="0">
                <a:solidFill>
                  <a:srgbClr val="17202A"/>
                </a:solidFill>
                <a:latin typeface="Aptos"/>
                <a:ea typeface="Aptos"/>
                <a:cs typeface="Aptos"/>
              </a:rPr>
              <a:t>Thiết kế này giúp frontend tập trung trải nghiệm, backend giữ nghiệp vụ và bảo mật, ML Service xử lý thuật toán, còn database lưu cả giao dịch lẫn tín hiệu hành vi.</a:t>
            </a:r>
          </a:p>
        </p:txBody>
      </p:sp>
      <p:sp>
        <p:nvSpPr>
          <p:cNvPr id="17" name="">
            <a:extLst xmlns:a="http://schemas.openxmlformats.org/drawingml/2006/main">
              <a:ext uri="{FF2B5EF4-FFF2-40B4-BE49-F238E27FC236}">
                <a16:creationId xmlns:a16="http://schemas.microsoft.com/office/drawing/2014/main" id="{8CE47CF0-3183-4918-92BB-66652988DAAD}"/>
              </a:ext>
            </a:extLst>
          </p:cNvPr>
          <p:cNvSpPr>
            <a:spLocks xmlns:a="http://schemas.openxmlformats.org/drawingml/2006/main" noGrp="1"/>
          </p:cNvSpPr>
          <p:nvPr/>
        </p:nvSpPr>
        <p:spPr>
          <a:xfrm xmlns:a="http://schemas.openxmlformats.org/drawingml/2006/main">
            <a:off x="666750" y="6553200"/>
            <a:ext cx="7810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7A7470"/>
                </a:solidFill>
                <a:latin typeface="Aptos"/>
                <a:ea typeface="Aptos"/>
                <a:cs typeface="Aptos"/>
              </a:defRPr>
            </a:pPr>
            <a:r>
              <a:rPr sz="750" b="0">
                <a:solidFill>
                  <a:srgbClr val="7A7470"/>
                </a:solidFill>
                <a:latin typeface="Aptos"/>
                <a:ea typeface="Aptos"/>
                <a:cs typeface="Aptos"/>
              </a:rPr>
              <a:t>Nguồn: Báo cáo đồ án MyStore và mã nguồn dự án</a:t>
            </a:r>
          </a:p>
        </p:txBody>
      </p:sp>
      <p:sp>
        <p:nvSpPr>
          <p:cNvPr id="18" name="">
            <a:extLst xmlns:a="http://schemas.openxmlformats.org/drawingml/2006/main">
              <a:ext uri="{FF2B5EF4-FFF2-40B4-BE49-F238E27FC236}">
                <a16:creationId xmlns:a16="http://schemas.microsoft.com/office/drawing/2014/main" id="{3CB411C8-F49B-4735-965B-665323ED75FD}"/>
              </a:ext>
            </a:extLst>
          </p:cNvPr>
          <p:cNvSpPr>
            <a:spLocks xmlns:a="http://schemas.openxmlformats.org/drawingml/2006/main" noGrp="1"/>
          </p:cNvSpPr>
          <p:nvPr/>
        </p:nvSpPr>
        <p:spPr>
          <a:xfrm xmlns:a="http://schemas.openxmlformats.org/drawingml/2006/main">
            <a:off x="11239500" y="6515100"/>
            <a:ext cx="3810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825" b="1">
                <a:solidFill>
                  <a:srgbClr val="7A7470"/>
                </a:solidFill>
                <a:latin typeface="Aptos"/>
                <a:ea typeface="Aptos"/>
                <a:cs typeface="Aptos"/>
              </a:defRPr>
            </a:pPr>
            <a:r>
              <a:rPr sz="825" b="1">
                <a:solidFill>
                  <a:srgbClr val="7A7470"/>
                </a:solidFill>
                <a:latin typeface="Aptos"/>
                <a:ea typeface="Aptos"/>
                <a:cs typeface="Aptos"/>
              </a:rPr>
              <a:t>03</a:t>
            </a:r>
          </a:p>
        </p:txBody>
      </p:sp>
    </p:spTree>
    <p:extLst>
      <p:ext uri="{BB962C8B-B14F-4D97-AF65-F5344CB8AC3E}">
        <p14:creationId xmlns:p14="http://schemas.microsoft.com/office/powerpoint/2010/main" val="308000316"/>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AB8AD030-DB4B-4804-8C42-CDBD49505FE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4EE"/>
          </a:solidFill>
          <a:ln xmlns:a="http://schemas.openxmlformats.org/drawingml/2006/main" w="0">
            <a:solidFill>
              <a:srgbClr val="000000">
                <a:alpha val="0"/>
              </a:srgbClr>
            </a:solidFill>
            <a:prstDash val="solid"/>
          </a:ln>
        </p:spPr>
      </p:sp>
      <p:sp>
        <p:nvSpPr>
          <p:cNvPr id="2" name="kicker-4-marker">
            <a:extLst xmlns:a="http://schemas.openxmlformats.org/drawingml/2006/main">
              <a:ext uri="{FF2B5EF4-FFF2-40B4-BE49-F238E27FC236}">
                <a16:creationId xmlns:a16="http://schemas.microsoft.com/office/drawing/2014/main" id="{BAB4AC98-CEAC-4768-94AE-191DA763BCBB}"/>
              </a:ext>
            </a:extLst>
          </p:cNvPr>
          <p:cNvSpPr>
            <a:spLocks xmlns:a="http://schemas.openxmlformats.org/drawingml/2006/main" noGrp="1"/>
          </p:cNvSpPr>
          <p:nvPr/>
        </p:nvSpPr>
        <p:spPr>
          <a:xfrm xmlns:a="http://schemas.openxmlformats.org/drawingml/2006/main">
            <a:off x="666750" y="542925"/>
            <a:ext cx="266700" cy="38100"/>
          </a:xfrm>
          <a:prstGeom xmlns:a="http://schemas.openxmlformats.org/drawingml/2006/main" prst="rect">
            <a:avLst/>
          </a:prstGeom>
          <a:solidFill xmlns:a="http://schemas.openxmlformats.org/drawingml/2006/main">
            <a:srgbClr val="3F6FA8"/>
          </a:solidFill>
          <a:ln xmlns:a="http://schemas.openxmlformats.org/drawingml/2006/main" w="0">
            <a:solidFill>
              <a:srgbClr val="000000">
                <a:alpha val="0"/>
              </a:srgbClr>
            </a:solidFill>
            <a:prstDash val="solid"/>
          </a:ln>
        </p:spPr>
      </p:sp>
      <p:sp>
        <p:nvSpPr>
          <p:cNvPr id="3" name="kicker-4-label">
            <a:extLst xmlns:a="http://schemas.openxmlformats.org/drawingml/2006/main">
              <a:ext uri="{FF2B5EF4-FFF2-40B4-BE49-F238E27FC236}">
                <a16:creationId xmlns:a16="http://schemas.microsoft.com/office/drawing/2014/main" id="{D6251D9D-A26B-48AD-AF57-DD106AB8841E}"/>
              </a:ext>
            </a:extLst>
          </p:cNvPr>
          <p:cNvSpPr>
            <a:spLocks xmlns:a="http://schemas.openxmlformats.org/drawingml/2006/main" noGrp="1"/>
          </p:cNvSpPr>
          <p:nvPr/>
        </p:nvSpPr>
        <p:spPr>
          <a:xfrm xmlns:a="http://schemas.openxmlformats.org/drawingml/2006/main">
            <a:off x="1066800" y="457200"/>
            <a:ext cx="31432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900" b="1">
                <a:solidFill>
                  <a:srgbClr val="3F6FA8"/>
                </a:solidFill>
                <a:latin typeface="Aptos"/>
                <a:ea typeface="Aptos"/>
                <a:cs typeface="Aptos"/>
              </a:defRPr>
            </a:pPr>
            <a:r>
              <a:rPr sz="900" b="1">
                <a:solidFill>
                  <a:srgbClr val="3F6FA8"/>
                </a:solidFill>
                <a:latin typeface="Aptos"/>
                <a:ea typeface="Aptos"/>
                <a:cs typeface="Aptos"/>
              </a:rPr>
              <a:t>KIẾN TRÚC HỆ THỐNG</a:t>
            </a:r>
          </a:p>
        </p:txBody>
      </p:sp>
      <p:sp>
        <p:nvSpPr>
          <p:cNvPr id="4" name="">
            <a:extLst xmlns:a="http://schemas.openxmlformats.org/drawingml/2006/main">
              <a:ext uri="{FF2B5EF4-FFF2-40B4-BE49-F238E27FC236}">
                <a16:creationId xmlns:a16="http://schemas.microsoft.com/office/drawing/2014/main" id="{6C712E2A-B62C-4155-8C0E-CAA1B445918D}"/>
              </a:ext>
            </a:extLst>
          </p:cNvPr>
          <p:cNvSpPr>
            <a:spLocks xmlns:a="http://schemas.openxmlformats.org/drawingml/2006/main" noGrp="1"/>
          </p:cNvSpPr>
          <p:nvPr/>
        </p:nvSpPr>
        <p:spPr>
          <a:xfrm xmlns:a="http://schemas.openxmlformats.org/drawingml/2006/main">
            <a:off x="666750" y="781050"/>
            <a:ext cx="8001000" cy="914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850" b="1">
                <a:solidFill>
                  <a:srgbClr val="17202A"/>
                </a:solidFill>
                <a:latin typeface="Aptos Display"/>
                <a:ea typeface="Aptos Display"/>
                <a:cs typeface="Aptos Display"/>
              </a:defRPr>
            </a:pPr>
            <a:r>
              <a:rPr sz="2850" b="1">
                <a:solidFill>
                  <a:srgbClr val="17202A"/>
                </a:solidFill>
                <a:latin typeface="Aptos Display"/>
                <a:ea typeface="Aptos Display"/>
                <a:cs typeface="Aptos Display"/>
              </a:rPr>
              <a:t>Luồng chính đi qua Node.js; ML là lớp tăng cường có fallback.</a:t>
            </a:r>
          </a:p>
        </p:txBody>
      </p:sp>
      <p:sp>
        <p:nvSpPr>
          <p:cNvPr id="5" name="">
            <a:extLst xmlns:a="http://schemas.openxmlformats.org/drawingml/2006/main">
              <a:ext uri="{FF2B5EF4-FFF2-40B4-BE49-F238E27FC236}">
                <a16:creationId xmlns:a16="http://schemas.microsoft.com/office/drawing/2014/main" id="{E51F5B58-AA58-4882-9A7E-47D1F900D2E4}"/>
              </a:ext>
            </a:extLst>
          </p:cNvPr>
          <p:cNvSpPr>
            <a:spLocks xmlns:a="http://schemas.openxmlformats.org/drawingml/2006/main" noGrp="1"/>
          </p:cNvSpPr>
          <p:nvPr/>
        </p:nvSpPr>
        <p:spPr>
          <a:xfrm xmlns:a="http://schemas.openxmlformats.org/drawingml/2006/main">
            <a:off x="857250" y="2428875"/>
            <a:ext cx="2190750" cy="1143000"/>
          </a:xfrm>
          <a:prstGeom xmlns:a="http://schemas.openxmlformats.org/drawingml/2006/main" prst="rect">
            <a:avLst/>
          </a:prstGeom>
          <a:solidFill xmlns:a="http://schemas.openxmlformats.org/drawingml/2006/main">
            <a:srgbClr val="FFFFFF"/>
          </a:solidFill>
          <a:ln xmlns:a="http://schemas.openxmlformats.org/drawingml/2006/main" w="9525">
            <a:solidFill>
              <a:srgbClr val="D8D4CB"/>
            </a:solidFill>
            <a:prstDash val="solid"/>
          </a:ln>
        </p:spPr>
      </p:sp>
      <p:sp>
        <p:nvSpPr>
          <p:cNvPr id="6" name="">
            <a:extLst xmlns:a="http://schemas.openxmlformats.org/drawingml/2006/main">
              <a:ext uri="{FF2B5EF4-FFF2-40B4-BE49-F238E27FC236}">
                <a16:creationId xmlns:a16="http://schemas.microsoft.com/office/drawing/2014/main" id="{109EBE4D-A45E-493D-90E0-34DDA3796C54}"/>
              </a:ext>
            </a:extLst>
          </p:cNvPr>
          <p:cNvSpPr>
            <a:spLocks xmlns:a="http://schemas.openxmlformats.org/drawingml/2006/main" noGrp="1"/>
          </p:cNvSpPr>
          <p:nvPr/>
        </p:nvSpPr>
        <p:spPr>
          <a:xfrm xmlns:a="http://schemas.openxmlformats.org/drawingml/2006/main">
            <a:off x="857250" y="2428875"/>
            <a:ext cx="66675" cy="1143000"/>
          </a:xfrm>
          <a:prstGeom xmlns:a="http://schemas.openxmlformats.org/drawingml/2006/main" prst="rect">
            <a:avLst/>
          </a:prstGeom>
          <a:solidFill xmlns:a="http://schemas.openxmlformats.org/drawingml/2006/main">
            <a:srgbClr val="2F7D59"/>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8CF36BF8-AE52-484A-98D0-D05363CFE670}"/>
              </a:ext>
            </a:extLst>
          </p:cNvPr>
          <p:cNvSpPr>
            <a:spLocks xmlns:a="http://schemas.openxmlformats.org/drawingml/2006/main" noGrp="1"/>
          </p:cNvSpPr>
          <p:nvPr/>
        </p:nvSpPr>
        <p:spPr>
          <a:xfrm xmlns:a="http://schemas.openxmlformats.org/drawingml/2006/main">
            <a:off x="1009650" y="2524125"/>
            <a:ext cx="19621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2F7D59"/>
                </a:solidFill>
                <a:latin typeface="Aptos"/>
                <a:ea typeface="Aptos"/>
                <a:cs typeface="Aptos"/>
              </a:defRPr>
            </a:pPr>
            <a:r>
              <a:rPr sz="900" b="1">
                <a:solidFill>
                  <a:srgbClr val="2F7D59"/>
                </a:solidFill>
                <a:latin typeface="Aptos"/>
                <a:ea typeface="Aptos"/>
                <a:cs typeface="Aptos"/>
              </a:rPr>
              <a:t>Client</a:t>
            </a:r>
          </a:p>
        </p:txBody>
      </p:sp>
      <p:sp>
        <p:nvSpPr>
          <p:cNvPr id="8" name="">
            <a:extLst xmlns:a="http://schemas.openxmlformats.org/drawingml/2006/main">
              <a:ext uri="{FF2B5EF4-FFF2-40B4-BE49-F238E27FC236}">
                <a16:creationId xmlns:a16="http://schemas.microsoft.com/office/drawing/2014/main" id="{3636F6FD-3706-4E84-A7F1-EB4185F9E753}"/>
              </a:ext>
            </a:extLst>
          </p:cNvPr>
          <p:cNvSpPr>
            <a:spLocks xmlns:a="http://schemas.openxmlformats.org/drawingml/2006/main" noGrp="1"/>
          </p:cNvSpPr>
          <p:nvPr/>
        </p:nvSpPr>
        <p:spPr>
          <a:xfrm xmlns:a="http://schemas.openxmlformats.org/drawingml/2006/main">
            <a:off x="971550" y="2790825"/>
            <a:ext cx="1962150" cy="723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17202A"/>
                </a:solidFill>
                <a:latin typeface="Aptos"/>
                <a:ea typeface="Aptos"/>
                <a:cs typeface="Aptos"/>
              </a:defRPr>
            </a:pPr>
            <a:r>
              <a:rPr sz="1200" b="0">
                <a:solidFill>
                  <a:srgbClr val="17202A"/>
                </a:solidFill>
                <a:latin typeface="Aptos"/>
                <a:ea typeface="Aptos"/>
                <a:cs typeface="Aptos"/>
              </a:rPr>
              <a:t>User UI</a:t>
            </a:r>
          </a:p>
          <a:p xmlns:a="http://schemas.openxmlformats.org/drawingml/2006/main">
            <a:pPr algn="l">
              <a:defRPr sz="1200" b="0">
                <a:solidFill>
                  <a:srgbClr val="17202A"/>
                </a:solidFill>
                <a:latin typeface="Aptos"/>
                <a:ea typeface="Aptos"/>
                <a:cs typeface="Aptos"/>
              </a:defRPr>
            </a:pPr>
            <a:r>
              <a:rPr sz="1200" b="0">
                <a:solidFill>
                  <a:srgbClr val="17202A"/>
                </a:solidFill>
                <a:latin typeface="Aptos"/>
                <a:ea typeface="Aptos"/>
                <a:cs typeface="Aptos"/>
              </a:rPr>
              <a:t>Seller UI</a:t>
            </a:r>
          </a:p>
          <a:p xmlns:a="http://schemas.openxmlformats.org/drawingml/2006/main">
            <a:pPr algn="l">
              <a:defRPr sz="1200" b="0">
                <a:solidFill>
                  <a:srgbClr val="17202A"/>
                </a:solidFill>
                <a:latin typeface="Aptos"/>
                <a:ea typeface="Aptos"/>
                <a:cs typeface="Aptos"/>
              </a:defRPr>
            </a:pPr>
            <a:r>
              <a:rPr sz="1200" b="0">
                <a:solidFill>
                  <a:srgbClr val="17202A"/>
                </a:solidFill>
                <a:latin typeface="Aptos"/>
                <a:ea typeface="Aptos"/>
                <a:cs typeface="Aptos"/>
              </a:rPr>
              <a:t>Recommendation UI</a:t>
            </a:r>
          </a:p>
        </p:txBody>
      </p:sp>
      <p:sp>
        <p:nvSpPr>
          <p:cNvPr id="9" name="">
            <a:extLst xmlns:a="http://schemas.openxmlformats.org/drawingml/2006/main">
              <a:ext uri="{FF2B5EF4-FFF2-40B4-BE49-F238E27FC236}">
                <a16:creationId xmlns:a16="http://schemas.microsoft.com/office/drawing/2014/main" id="{A15D4199-7A7B-47DC-A464-685AEADB80D2}"/>
              </a:ext>
            </a:extLst>
          </p:cNvPr>
          <p:cNvSpPr>
            <a:spLocks xmlns:a="http://schemas.openxmlformats.org/drawingml/2006/main" noGrp="1"/>
          </p:cNvSpPr>
          <p:nvPr/>
        </p:nvSpPr>
        <p:spPr>
          <a:xfrm xmlns:a="http://schemas.openxmlformats.org/drawingml/2006/main">
            <a:off x="3857625" y="2286000"/>
            <a:ext cx="2476500" cy="1428750"/>
          </a:xfrm>
          <a:prstGeom xmlns:a="http://schemas.openxmlformats.org/drawingml/2006/main" prst="rect">
            <a:avLst/>
          </a:prstGeom>
          <a:solidFill xmlns:a="http://schemas.openxmlformats.org/drawingml/2006/main">
            <a:srgbClr val="FFFFFF"/>
          </a:solidFill>
          <a:ln xmlns:a="http://schemas.openxmlformats.org/drawingml/2006/main" w="9525">
            <a:solidFill>
              <a:srgbClr val="D8D4CB"/>
            </a:solidFill>
            <a:prstDash val="solid"/>
          </a:ln>
        </p:spPr>
      </p:sp>
      <p:sp>
        <p:nvSpPr>
          <p:cNvPr id="10" name="">
            <a:extLst xmlns:a="http://schemas.openxmlformats.org/drawingml/2006/main">
              <a:ext uri="{FF2B5EF4-FFF2-40B4-BE49-F238E27FC236}">
                <a16:creationId xmlns:a16="http://schemas.microsoft.com/office/drawing/2014/main" id="{5075C62D-64C7-4079-88BB-88A5A1378728}"/>
              </a:ext>
            </a:extLst>
          </p:cNvPr>
          <p:cNvSpPr>
            <a:spLocks xmlns:a="http://schemas.openxmlformats.org/drawingml/2006/main" noGrp="1"/>
          </p:cNvSpPr>
          <p:nvPr/>
        </p:nvSpPr>
        <p:spPr>
          <a:xfrm xmlns:a="http://schemas.openxmlformats.org/drawingml/2006/main">
            <a:off x="3857625" y="2286000"/>
            <a:ext cx="66675" cy="1428750"/>
          </a:xfrm>
          <a:prstGeom xmlns:a="http://schemas.openxmlformats.org/drawingml/2006/main" prst="rect">
            <a:avLst/>
          </a:prstGeom>
          <a:solidFill xmlns:a="http://schemas.openxmlformats.org/drawingml/2006/main">
            <a:srgbClr val="3F6FA8"/>
          </a:solidFill>
          <a:ln xmlns:a="http://schemas.openxmlformats.org/drawingml/2006/main" w="0">
            <a:solidFill>
              <a:srgbClr val="000000">
                <a:alpha val="0"/>
              </a:srgbClr>
            </a:solidFill>
            <a:prstDash val="solid"/>
          </a:ln>
        </p:spPr>
      </p:sp>
      <p:sp>
        <p:nvSpPr>
          <p:cNvPr id="11" name="">
            <a:extLst xmlns:a="http://schemas.openxmlformats.org/drawingml/2006/main">
              <a:ext uri="{FF2B5EF4-FFF2-40B4-BE49-F238E27FC236}">
                <a16:creationId xmlns:a16="http://schemas.microsoft.com/office/drawing/2014/main" id="{24642E46-EAEF-4435-8D80-FED9FFD0DB47}"/>
              </a:ext>
            </a:extLst>
          </p:cNvPr>
          <p:cNvSpPr>
            <a:spLocks xmlns:a="http://schemas.openxmlformats.org/drawingml/2006/main" noGrp="1"/>
          </p:cNvSpPr>
          <p:nvPr/>
        </p:nvSpPr>
        <p:spPr>
          <a:xfrm xmlns:a="http://schemas.openxmlformats.org/drawingml/2006/main">
            <a:off x="4010025" y="2381250"/>
            <a:ext cx="22479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3F6FA8"/>
                </a:solidFill>
                <a:latin typeface="Aptos"/>
                <a:ea typeface="Aptos"/>
                <a:cs typeface="Aptos"/>
              </a:defRPr>
            </a:pPr>
            <a:r>
              <a:rPr sz="900" b="1">
                <a:solidFill>
                  <a:srgbClr val="3F6FA8"/>
                </a:solidFill>
                <a:latin typeface="Aptos"/>
                <a:ea typeface="Aptos"/>
                <a:cs typeface="Aptos"/>
              </a:rPr>
              <a:t>Node.js Server</a:t>
            </a:r>
          </a:p>
        </p:txBody>
      </p:sp>
      <p:sp>
        <p:nvSpPr>
          <p:cNvPr id="12" name="">
            <a:extLst xmlns:a="http://schemas.openxmlformats.org/drawingml/2006/main">
              <a:ext uri="{FF2B5EF4-FFF2-40B4-BE49-F238E27FC236}">
                <a16:creationId xmlns:a16="http://schemas.microsoft.com/office/drawing/2014/main" id="{ABA700FD-3A59-4FA1-8FB0-760CD48A926F}"/>
              </a:ext>
            </a:extLst>
          </p:cNvPr>
          <p:cNvSpPr>
            <a:spLocks xmlns:a="http://schemas.openxmlformats.org/drawingml/2006/main" noGrp="1"/>
          </p:cNvSpPr>
          <p:nvPr/>
        </p:nvSpPr>
        <p:spPr>
          <a:xfrm xmlns:a="http://schemas.openxmlformats.org/drawingml/2006/main">
            <a:off x="3971925" y="2647950"/>
            <a:ext cx="2247900" cy="1009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17202A"/>
                </a:solidFill>
                <a:latin typeface="Aptos"/>
                <a:ea typeface="Aptos"/>
                <a:cs typeface="Aptos"/>
              </a:defRPr>
            </a:pPr>
            <a:r>
              <a:rPr sz="1200" b="0">
                <a:solidFill>
                  <a:srgbClr val="17202A"/>
                </a:solidFill>
                <a:latin typeface="Aptos"/>
                <a:ea typeface="Aptos"/>
                <a:cs typeface="Aptos"/>
              </a:rPr>
              <a:t>Routes -&gt; Controllers -&gt; Models</a:t>
            </a:r>
          </a:p>
          <a:p xmlns:a="http://schemas.openxmlformats.org/drawingml/2006/main">
            <a:pPr algn="l">
              <a:defRPr sz="1200" b="0">
                <a:solidFill>
                  <a:srgbClr val="17202A"/>
                </a:solidFill>
                <a:latin typeface="Aptos"/>
                <a:ea typeface="Aptos"/>
                <a:cs typeface="Aptos"/>
              </a:defRPr>
            </a:pPr>
            <a:r>
              <a:rPr sz="1200" b="0">
                <a:solidFill>
                  <a:srgbClr val="17202A"/>
                </a:solidFill>
                <a:latin typeface="Aptos"/>
                <a:ea typeface="Aptos"/>
                <a:cs typeface="Aptos"/>
              </a:rPr>
              <a:t>Auth middleware</a:t>
            </a:r>
          </a:p>
          <a:p xmlns:a="http://schemas.openxmlformats.org/drawingml/2006/main">
            <a:pPr algn="l">
              <a:defRPr sz="1200" b="0">
                <a:solidFill>
                  <a:srgbClr val="17202A"/>
                </a:solidFill>
                <a:latin typeface="Aptos"/>
                <a:ea typeface="Aptos"/>
                <a:cs typeface="Aptos"/>
              </a:defRPr>
            </a:pPr>
            <a:r>
              <a:rPr sz="1200" b="0">
                <a:solidFill>
                  <a:srgbClr val="17202A"/>
                </a:solidFill>
                <a:latin typeface="Aptos"/>
                <a:ea typeface="Aptos"/>
                <a:cs typeface="Aptos"/>
              </a:rPr>
              <a:t>Stripe + Cloudinary</a:t>
            </a:r>
          </a:p>
        </p:txBody>
      </p:sp>
      <p:sp>
        <p:nvSpPr>
          <p:cNvPr id="13" name="">
            <a:extLst xmlns:a="http://schemas.openxmlformats.org/drawingml/2006/main">
              <a:ext uri="{FF2B5EF4-FFF2-40B4-BE49-F238E27FC236}">
                <a16:creationId xmlns:a16="http://schemas.microsoft.com/office/drawing/2014/main" id="{BBEFFD34-2739-4FA4-8812-FC67187115B3}"/>
              </a:ext>
            </a:extLst>
          </p:cNvPr>
          <p:cNvSpPr>
            <a:spLocks xmlns:a="http://schemas.openxmlformats.org/drawingml/2006/main" noGrp="1"/>
          </p:cNvSpPr>
          <p:nvPr/>
        </p:nvSpPr>
        <p:spPr>
          <a:xfrm xmlns:a="http://schemas.openxmlformats.org/drawingml/2006/main">
            <a:off x="7239000" y="1619250"/>
            <a:ext cx="2476500" cy="1143000"/>
          </a:xfrm>
          <a:prstGeom xmlns:a="http://schemas.openxmlformats.org/drawingml/2006/main" prst="rect">
            <a:avLst/>
          </a:prstGeom>
          <a:solidFill xmlns:a="http://schemas.openxmlformats.org/drawingml/2006/main">
            <a:srgbClr val="FFFFFF"/>
          </a:solidFill>
          <a:ln xmlns:a="http://schemas.openxmlformats.org/drawingml/2006/main" w="9525">
            <a:solidFill>
              <a:srgbClr val="D8D4CB"/>
            </a:solidFill>
            <a:prstDash val="solid"/>
          </a:ln>
        </p:spPr>
      </p:sp>
      <p:sp>
        <p:nvSpPr>
          <p:cNvPr id="14" name="">
            <a:extLst xmlns:a="http://schemas.openxmlformats.org/drawingml/2006/main">
              <a:ext uri="{FF2B5EF4-FFF2-40B4-BE49-F238E27FC236}">
                <a16:creationId xmlns:a16="http://schemas.microsoft.com/office/drawing/2014/main" id="{DF509240-429C-4EEB-B6D1-04DBC06C0EB6}"/>
              </a:ext>
            </a:extLst>
          </p:cNvPr>
          <p:cNvSpPr>
            <a:spLocks xmlns:a="http://schemas.openxmlformats.org/drawingml/2006/main" noGrp="1"/>
          </p:cNvSpPr>
          <p:nvPr/>
        </p:nvSpPr>
        <p:spPr>
          <a:xfrm xmlns:a="http://schemas.openxmlformats.org/drawingml/2006/main">
            <a:off x="7239000" y="1619250"/>
            <a:ext cx="66675" cy="1143000"/>
          </a:xfrm>
          <a:prstGeom xmlns:a="http://schemas.openxmlformats.org/drawingml/2006/main" prst="rect">
            <a:avLst/>
          </a:prstGeom>
          <a:solidFill xmlns:a="http://schemas.openxmlformats.org/drawingml/2006/main">
            <a:srgbClr val="C8952D"/>
          </a:solidFill>
          <a:ln xmlns:a="http://schemas.openxmlformats.org/drawingml/2006/main" w="0">
            <a:solidFill>
              <a:srgbClr val="000000">
                <a:alpha val="0"/>
              </a:srgbClr>
            </a:solidFill>
            <a:prstDash val="solid"/>
          </a:ln>
        </p:spPr>
      </p:sp>
      <p:sp>
        <p:nvSpPr>
          <p:cNvPr id="15" name="">
            <a:extLst xmlns:a="http://schemas.openxmlformats.org/drawingml/2006/main">
              <a:ext uri="{FF2B5EF4-FFF2-40B4-BE49-F238E27FC236}">
                <a16:creationId xmlns:a16="http://schemas.microsoft.com/office/drawing/2014/main" id="{1BA47CBA-D4AC-463F-B792-AA98576B7F56}"/>
              </a:ext>
            </a:extLst>
          </p:cNvPr>
          <p:cNvSpPr>
            <a:spLocks xmlns:a="http://schemas.openxmlformats.org/drawingml/2006/main" noGrp="1"/>
          </p:cNvSpPr>
          <p:nvPr/>
        </p:nvSpPr>
        <p:spPr>
          <a:xfrm xmlns:a="http://schemas.openxmlformats.org/drawingml/2006/main">
            <a:off x="7391400" y="1714500"/>
            <a:ext cx="22479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C8952D"/>
                </a:solidFill>
                <a:latin typeface="Aptos"/>
                <a:ea typeface="Aptos"/>
                <a:cs typeface="Aptos"/>
              </a:defRPr>
            </a:pPr>
            <a:r>
              <a:rPr sz="900" b="1">
                <a:solidFill>
                  <a:srgbClr val="C8952D"/>
                </a:solidFill>
                <a:latin typeface="Aptos"/>
                <a:ea typeface="Aptos"/>
                <a:cs typeface="Aptos"/>
              </a:rPr>
              <a:t>MongoDB Atlas</a:t>
            </a:r>
          </a:p>
        </p:txBody>
      </p:sp>
      <p:sp>
        <p:nvSpPr>
          <p:cNvPr id="16" name="">
            <a:extLst xmlns:a="http://schemas.openxmlformats.org/drawingml/2006/main">
              <a:ext uri="{FF2B5EF4-FFF2-40B4-BE49-F238E27FC236}">
                <a16:creationId xmlns:a16="http://schemas.microsoft.com/office/drawing/2014/main" id="{9AFD977E-DC8D-4C11-B9A5-F8D5DC8B18DB}"/>
              </a:ext>
            </a:extLst>
          </p:cNvPr>
          <p:cNvSpPr>
            <a:spLocks xmlns:a="http://schemas.openxmlformats.org/drawingml/2006/main" noGrp="1"/>
          </p:cNvSpPr>
          <p:nvPr/>
        </p:nvSpPr>
        <p:spPr>
          <a:xfrm xmlns:a="http://schemas.openxmlformats.org/drawingml/2006/main">
            <a:off x="7353300" y="1981200"/>
            <a:ext cx="2247900" cy="723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17202A"/>
                </a:solidFill>
                <a:latin typeface="Aptos"/>
                <a:ea typeface="Aptos"/>
                <a:cs typeface="Aptos"/>
              </a:defRPr>
            </a:pPr>
            <a:r>
              <a:rPr sz="1200" b="0">
                <a:solidFill>
                  <a:srgbClr val="17202A"/>
                </a:solidFill>
                <a:latin typeface="Aptos"/>
                <a:ea typeface="Aptos"/>
                <a:cs typeface="Aptos"/>
              </a:rPr>
              <a:t>Products, orders, reviews,</a:t>
            </a:r>
          </a:p>
          <a:p xmlns:a="http://schemas.openxmlformats.org/drawingml/2006/main">
            <a:pPr algn="l">
              <a:defRPr sz="1200" b="0">
                <a:solidFill>
                  <a:srgbClr val="17202A"/>
                </a:solidFill>
                <a:latin typeface="Aptos"/>
                <a:ea typeface="Aptos"/>
                <a:cs typeface="Aptos"/>
              </a:defRPr>
            </a:pPr>
            <a:r>
              <a:rPr sz="1200" b="0">
                <a:solidFill>
                  <a:srgbClr val="17202A"/>
                </a:solidFill>
                <a:latin typeface="Aptos"/>
                <a:ea typeface="Aptos"/>
                <a:cs typeface="Aptos"/>
              </a:rPr>
              <a:t>user behaviors, cache</a:t>
            </a:r>
          </a:p>
        </p:txBody>
      </p:sp>
      <p:sp>
        <p:nvSpPr>
          <p:cNvPr id="17" name="">
            <a:extLst xmlns:a="http://schemas.openxmlformats.org/drawingml/2006/main">
              <a:ext uri="{FF2B5EF4-FFF2-40B4-BE49-F238E27FC236}">
                <a16:creationId xmlns:a16="http://schemas.microsoft.com/office/drawing/2014/main" id="{D2E2FC5B-CEBC-4DFB-A65D-F6F0DBAD27AC}"/>
              </a:ext>
            </a:extLst>
          </p:cNvPr>
          <p:cNvSpPr>
            <a:spLocks xmlns:a="http://schemas.openxmlformats.org/drawingml/2006/main" noGrp="1"/>
          </p:cNvSpPr>
          <p:nvPr/>
        </p:nvSpPr>
        <p:spPr>
          <a:xfrm xmlns:a="http://schemas.openxmlformats.org/drawingml/2006/main">
            <a:off x="7239000" y="3476625"/>
            <a:ext cx="2476500" cy="1143000"/>
          </a:xfrm>
          <a:prstGeom xmlns:a="http://schemas.openxmlformats.org/drawingml/2006/main" prst="rect">
            <a:avLst/>
          </a:prstGeom>
          <a:solidFill xmlns:a="http://schemas.openxmlformats.org/drawingml/2006/main">
            <a:srgbClr val="FFFFFF"/>
          </a:solidFill>
          <a:ln xmlns:a="http://schemas.openxmlformats.org/drawingml/2006/main" w="9525">
            <a:solidFill>
              <a:srgbClr val="D8D4CB"/>
            </a:solidFill>
            <a:prstDash val="solid"/>
          </a:ln>
        </p:spPr>
      </p:sp>
      <p:sp>
        <p:nvSpPr>
          <p:cNvPr id="18" name="">
            <a:extLst xmlns:a="http://schemas.openxmlformats.org/drawingml/2006/main">
              <a:ext uri="{FF2B5EF4-FFF2-40B4-BE49-F238E27FC236}">
                <a16:creationId xmlns:a16="http://schemas.microsoft.com/office/drawing/2014/main" id="{8B4EEDDA-1F8F-49B4-AD0A-336A2F62685D}"/>
              </a:ext>
            </a:extLst>
          </p:cNvPr>
          <p:cNvSpPr>
            <a:spLocks xmlns:a="http://schemas.openxmlformats.org/drawingml/2006/main" noGrp="1"/>
          </p:cNvSpPr>
          <p:nvPr/>
        </p:nvSpPr>
        <p:spPr>
          <a:xfrm xmlns:a="http://schemas.openxmlformats.org/drawingml/2006/main">
            <a:off x="7239000" y="3476625"/>
            <a:ext cx="66675" cy="1143000"/>
          </a:xfrm>
          <a:prstGeom xmlns:a="http://schemas.openxmlformats.org/drawingml/2006/main" prst="rect">
            <a:avLst/>
          </a:prstGeom>
          <a:solidFill xmlns:a="http://schemas.openxmlformats.org/drawingml/2006/main">
            <a:srgbClr val="D96B4C"/>
          </a:solidFill>
          <a:ln xmlns:a="http://schemas.openxmlformats.org/drawingml/2006/main" w="0">
            <a:solidFill>
              <a:srgbClr val="000000">
                <a:alpha val="0"/>
              </a:srgbClr>
            </a:solidFill>
            <a:prstDash val="solid"/>
          </a:ln>
        </p:spPr>
      </p:sp>
      <p:sp>
        <p:nvSpPr>
          <p:cNvPr id="19" name="">
            <a:extLst xmlns:a="http://schemas.openxmlformats.org/drawingml/2006/main">
              <a:ext uri="{FF2B5EF4-FFF2-40B4-BE49-F238E27FC236}">
                <a16:creationId xmlns:a16="http://schemas.microsoft.com/office/drawing/2014/main" id="{FBB215AC-574C-433E-8373-A9C7FC0A5755}"/>
              </a:ext>
            </a:extLst>
          </p:cNvPr>
          <p:cNvSpPr>
            <a:spLocks xmlns:a="http://schemas.openxmlformats.org/drawingml/2006/main" noGrp="1"/>
          </p:cNvSpPr>
          <p:nvPr/>
        </p:nvSpPr>
        <p:spPr>
          <a:xfrm xmlns:a="http://schemas.openxmlformats.org/drawingml/2006/main">
            <a:off x="7391400" y="3571875"/>
            <a:ext cx="22479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D96B4C"/>
                </a:solidFill>
                <a:latin typeface="Aptos"/>
                <a:ea typeface="Aptos"/>
                <a:cs typeface="Aptos"/>
              </a:defRPr>
            </a:pPr>
            <a:r>
              <a:rPr sz="900" b="1">
                <a:solidFill>
                  <a:srgbClr val="D96B4C"/>
                </a:solidFill>
                <a:latin typeface="Aptos"/>
                <a:ea typeface="Aptos"/>
                <a:cs typeface="Aptos"/>
              </a:rPr>
              <a:t>Flask ML Service</a:t>
            </a:r>
          </a:p>
        </p:txBody>
      </p:sp>
      <p:sp>
        <p:nvSpPr>
          <p:cNvPr id="20" name="">
            <a:extLst xmlns:a="http://schemas.openxmlformats.org/drawingml/2006/main">
              <a:ext uri="{FF2B5EF4-FFF2-40B4-BE49-F238E27FC236}">
                <a16:creationId xmlns:a16="http://schemas.microsoft.com/office/drawing/2014/main" id="{5C2A6600-646B-4F0C-AF99-28B70BFE0026}"/>
              </a:ext>
            </a:extLst>
          </p:cNvPr>
          <p:cNvSpPr>
            <a:spLocks xmlns:a="http://schemas.openxmlformats.org/drawingml/2006/main" noGrp="1"/>
          </p:cNvSpPr>
          <p:nvPr/>
        </p:nvSpPr>
        <p:spPr>
          <a:xfrm xmlns:a="http://schemas.openxmlformats.org/drawingml/2006/main">
            <a:off x="7353300" y="3838575"/>
            <a:ext cx="2247900" cy="723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17202A"/>
                </a:solidFill>
                <a:latin typeface="Aptos"/>
                <a:ea typeface="Aptos"/>
                <a:cs typeface="Aptos"/>
              </a:defRPr>
            </a:pPr>
            <a:r>
              <a:rPr sz="1200" b="0">
                <a:solidFill>
                  <a:srgbClr val="17202A"/>
                </a:solidFill>
                <a:latin typeface="Aptos"/>
                <a:ea typeface="Aptos"/>
                <a:cs typeface="Aptos"/>
              </a:rPr>
              <a:t>Content-based</a:t>
            </a:r>
          </a:p>
          <a:p xmlns:a="http://schemas.openxmlformats.org/drawingml/2006/main">
            <a:pPr algn="l">
              <a:defRPr sz="1200" b="0">
                <a:solidFill>
                  <a:srgbClr val="17202A"/>
                </a:solidFill>
                <a:latin typeface="Aptos"/>
                <a:ea typeface="Aptos"/>
                <a:cs typeface="Aptos"/>
              </a:defRPr>
            </a:pPr>
            <a:r>
              <a:rPr sz="1200" b="0">
                <a:solidFill>
                  <a:srgbClr val="17202A"/>
                </a:solidFill>
                <a:latin typeface="Aptos"/>
                <a:ea typeface="Aptos"/>
                <a:cs typeface="Aptos"/>
              </a:rPr>
              <a:t>Collaborative Filtering</a:t>
            </a:r>
          </a:p>
          <a:p xmlns:a="http://schemas.openxmlformats.org/drawingml/2006/main">
            <a:pPr algn="l">
              <a:defRPr sz="1200" b="0">
                <a:solidFill>
                  <a:srgbClr val="17202A"/>
                </a:solidFill>
                <a:latin typeface="Aptos"/>
                <a:ea typeface="Aptos"/>
                <a:cs typeface="Aptos"/>
              </a:defRPr>
            </a:pPr>
            <a:r>
              <a:rPr sz="1200" b="0">
                <a:solidFill>
                  <a:srgbClr val="17202A"/>
                </a:solidFill>
                <a:latin typeface="Aptos"/>
                <a:ea typeface="Aptos"/>
                <a:cs typeface="Aptos"/>
              </a:rPr>
              <a:t>Hybrid recommendation</a:t>
            </a:r>
          </a:p>
        </p:txBody>
      </p:sp>
      <p:sp>
        <p:nvSpPr>
          <p:cNvPr id="21" name="">
            <a:extLst xmlns:a="http://schemas.openxmlformats.org/drawingml/2006/main">
              <a:ext uri="{FF2B5EF4-FFF2-40B4-BE49-F238E27FC236}">
                <a16:creationId xmlns:a16="http://schemas.microsoft.com/office/drawing/2014/main" id="{FA76BC21-5957-40C9-AA2B-208EE758848E}"/>
              </a:ext>
            </a:extLst>
          </p:cNvPr>
          <p:cNvSpPr>
            <a:spLocks xmlns:a="http://schemas.openxmlformats.org/drawingml/2006/main" noGrp="1"/>
          </p:cNvSpPr>
          <p:nvPr/>
        </p:nvSpPr>
        <p:spPr>
          <a:xfrm xmlns:a="http://schemas.openxmlformats.org/drawingml/2006/main">
            <a:off x="3048000" y="3000375"/>
            <a:ext cx="809625" cy="28575"/>
          </a:xfrm>
          <a:prstGeom xmlns:a="http://schemas.openxmlformats.org/drawingml/2006/main" prst="rect">
            <a:avLst/>
          </a:prstGeom>
          <a:solidFill xmlns:a="http://schemas.openxmlformats.org/drawingml/2006/main">
            <a:srgbClr val="3F6FA8"/>
          </a:solidFill>
          <a:ln xmlns:a="http://schemas.openxmlformats.org/drawingml/2006/main" w="0">
            <a:solidFill>
              <a:srgbClr val="000000">
                <a:alpha val="0"/>
              </a:srgbClr>
            </a:solidFill>
            <a:prstDash val="solid"/>
          </a:ln>
        </p:spPr>
      </p:sp>
      <p:sp>
        <p:nvSpPr>
          <p:cNvPr id="22" name="">
            <a:extLst xmlns:a="http://schemas.openxmlformats.org/drawingml/2006/main">
              <a:ext uri="{FF2B5EF4-FFF2-40B4-BE49-F238E27FC236}">
                <a16:creationId xmlns:a16="http://schemas.microsoft.com/office/drawing/2014/main" id="{EBFC1A2C-6E63-4BBF-9323-E6DCC1865D06}"/>
              </a:ext>
            </a:extLst>
          </p:cNvPr>
          <p:cNvSpPr>
            <a:spLocks xmlns:a="http://schemas.openxmlformats.org/drawingml/2006/main" noGrp="1"/>
          </p:cNvSpPr>
          <p:nvPr/>
        </p:nvSpPr>
        <p:spPr>
          <a:xfrm xmlns:a="http://schemas.openxmlformats.org/drawingml/2006/main">
            <a:off x="6334125" y="2190750"/>
            <a:ext cx="904875" cy="28575"/>
          </a:xfrm>
          <a:prstGeom xmlns:a="http://schemas.openxmlformats.org/drawingml/2006/main" prst="rect">
            <a:avLst/>
          </a:prstGeom>
          <a:solidFill xmlns:a="http://schemas.openxmlformats.org/drawingml/2006/main">
            <a:srgbClr val="C8952D"/>
          </a:solidFill>
          <a:ln xmlns:a="http://schemas.openxmlformats.org/drawingml/2006/main" w="0">
            <a:solidFill>
              <a:srgbClr val="000000">
                <a:alpha val="0"/>
              </a:srgbClr>
            </a:solidFill>
            <a:prstDash val="solid"/>
          </a:ln>
        </p:spPr>
      </p:sp>
      <p:sp>
        <p:nvSpPr>
          <p:cNvPr id="23" name="">
            <a:extLst xmlns:a="http://schemas.openxmlformats.org/drawingml/2006/main">
              <a:ext uri="{FF2B5EF4-FFF2-40B4-BE49-F238E27FC236}">
                <a16:creationId xmlns:a16="http://schemas.microsoft.com/office/drawing/2014/main" id="{59E901C5-2020-4482-9EB9-A7F6CCDB773D}"/>
              </a:ext>
            </a:extLst>
          </p:cNvPr>
          <p:cNvSpPr>
            <a:spLocks xmlns:a="http://schemas.openxmlformats.org/drawingml/2006/main" noGrp="1"/>
          </p:cNvSpPr>
          <p:nvPr/>
        </p:nvSpPr>
        <p:spPr>
          <a:xfrm xmlns:a="http://schemas.openxmlformats.org/drawingml/2006/main">
            <a:off x="6334125" y="3238500"/>
            <a:ext cx="904875" cy="28575"/>
          </a:xfrm>
          <a:prstGeom xmlns:a="http://schemas.openxmlformats.org/drawingml/2006/main" prst="rect">
            <a:avLst/>
          </a:prstGeom>
          <a:solidFill xmlns:a="http://schemas.openxmlformats.org/drawingml/2006/main">
            <a:srgbClr val="D96B4C"/>
          </a:solidFill>
          <a:ln xmlns:a="http://schemas.openxmlformats.org/drawingml/2006/main" w="0">
            <a:solidFill>
              <a:srgbClr val="000000">
                <a:alpha val="0"/>
              </a:srgbClr>
            </a:solidFill>
            <a:prstDash val="solid"/>
          </a:ln>
        </p:spPr>
      </p:sp>
      <p:sp>
        <p:nvSpPr>
          <p:cNvPr id="24" name="">
            <a:extLst xmlns:a="http://schemas.openxmlformats.org/drawingml/2006/main">
              <a:ext uri="{FF2B5EF4-FFF2-40B4-BE49-F238E27FC236}">
                <a16:creationId xmlns:a16="http://schemas.microsoft.com/office/drawing/2014/main" id="{73E26636-6021-452C-B969-76538363C48C}"/>
              </a:ext>
            </a:extLst>
          </p:cNvPr>
          <p:cNvSpPr>
            <a:spLocks xmlns:a="http://schemas.openxmlformats.org/drawingml/2006/main" noGrp="1"/>
          </p:cNvSpPr>
          <p:nvPr/>
        </p:nvSpPr>
        <p:spPr>
          <a:xfrm xmlns:a="http://schemas.openxmlformats.org/drawingml/2006/main">
            <a:off x="3105150" y="2724150"/>
            <a:ext cx="666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3F6FA8"/>
                </a:solidFill>
                <a:latin typeface="Aptos"/>
                <a:ea typeface="Aptos"/>
                <a:cs typeface="Aptos"/>
              </a:defRPr>
            </a:pPr>
            <a:r>
              <a:rPr sz="900" b="1">
                <a:solidFill>
                  <a:srgbClr val="3F6FA8"/>
                </a:solidFill>
                <a:latin typeface="Aptos"/>
                <a:ea typeface="Aptos"/>
                <a:cs typeface="Aptos"/>
              </a:rPr>
              <a:t>REST API</a:t>
            </a:r>
          </a:p>
        </p:txBody>
      </p:sp>
      <p:sp>
        <p:nvSpPr>
          <p:cNvPr id="25" name="">
            <a:extLst xmlns:a="http://schemas.openxmlformats.org/drawingml/2006/main">
              <a:ext uri="{FF2B5EF4-FFF2-40B4-BE49-F238E27FC236}">
                <a16:creationId xmlns:a16="http://schemas.microsoft.com/office/drawing/2014/main" id="{EE313A89-6CE7-4EEB-8C32-896C2DC05964}"/>
              </a:ext>
            </a:extLst>
          </p:cNvPr>
          <p:cNvSpPr>
            <a:spLocks xmlns:a="http://schemas.openxmlformats.org/drawingml/2006/main" noGrp="1"/>
          </p:cNvSpPr>
          <p:nvPr/>
        </p:nvSpPr>
        <p:spPr>
          <a:xfrm xmlns:a="http://schemas.openxmlformats.org/drawingml/2006/main">
            <a:off x="3619500" y="4619625"/>
            <a:ext cx="4095750" cy="342900"/>
          </a:xfrm>
          <a:prstGeom xmlns:a="http://schemas.openxmlformats.org/drawingml/2006/main" prst="rect">
            <a:avLst/>
          </a:prstGeom>
          <a:solidFill xmlns:a="http://schemas.openxmlformats.org/drawingml/2006/main">
            <a:srgbClr val="F7D8CE"/>
          </a:solidFill>
          <a:ln xmlns:a="http://schemas.openxmlformats.org/drawingml/2006/main" w="0">
            <a:solidFill>
              <a:srgbClr val="000000">
                <a:alpha val="0"/>
              </a:srgbClr>
            </a:solidFill>
            <a:prstDash val="solid"/>
          </a:ln>
        </p:spPr>
        <p:txBody>
          <a:bodyPr xmlns:a="http://schemas.openxmlformats.org/drawingml/2006/main" lIns="114300" tIns="95250" rIns="114300" bIns="95250" anchor="ctr"/>
          <a:lstStyle xmlns:a="http://schemas.openxmlformats.org/drawingml/2006/main"/>
          <a:p xmlns:a="http://schemas.openxmlformats.org/drawingml/2006/main">
            <a:pPr algn="ctr">
              <a:defRPr sz="1275" b="1">
                <a:solidFill>
                  <a:srgbClr val="D96B4C"/>
                </a:solidFill>
                <a:latin typeface="Aptos"/>
                <a:ea typeface="Aptos"/>
                <a:cs typeface="Aptos"/>
              </a:defRPr>
            </a:pPr>
            <a:r>
              <a:rPr sz="1275" b="1">
                <a:solidFill>
                  <a:srgbClr val="D96B4C"/>
                </a:solidFill>
                <a:latin typeface="Aptos"/>
                <a:ea typeface="Aptos"/>
                <a:cs typeface="Aptos"/>
              </a:rPr>
              <a:t>ML unavailable -&gt; Node TF-IDF fallback</a:t>
            </a:r>
          </a:p>
        </p:txBody>
      </p:sp>
      <p:sp>
        <p:nvSpPr>
          <p:cNvPr id="26" name="">
            <a:extLst xmlns:a="http://schemas.openxmlformats.org/drawingml/2006/main">
              <a:ext uri="{FF2B5EF4-FFF2-40B4-BE49-F238E27FC236}">
                <a16:creationId xmlns:a16="http://schemas.microsoft.com/office/drawing/2014/main" id="{37C99532-0C4E-46E4-BD52-BE29821DEE14}"/>
              </a:ext>
            </a:extLst>
          </p:cNvPr>
          <p:cNvSpPr>
            <a:spLocks xmlns:a="http://schemas.openxmlformats.org/drawingml/2006/main" noGrp="1"/>
          </p:cNvSpPr>
          <p:nvPr/>
        </p:nvSpPr>
        <p:spPr>
          <a:xfrm xmlns:a="http://schemas.openxmlformats.org/drawingml/2006/main">
            <a:off x="7772400" y="3009900"/>
            <a:ext cx="1666875"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95250" rIns="114300" bIns="95250" anchor="ctr"/>
          <a:lstStyle xmlns:a="http://schemas.openxmlformats.org/drawingml/2006/main"/>
          <a:p xmlns:a="http://schemas.openxmlformats.org/drawingml/2006/main">
            <a:pPr algn="ctr">
              <a:defRPr sz="975" b="1">
                <a:solidFill>
                  <a:srgbClr val="C8952D"/>
                </a:solidFill>
                <a:latin typeface="Aptos"/>
                <a:ea typeface="Aptos"/>
                <a:cs typeface="Aptos"/>
              </a:defRPr>
            </a:pPr>
            <a:r>
              <a:rPr sz="975" b="1">
                <a:solidFill>
                  <a:srgbClr val="C8952D"/>
                </a:solidFill>
                <a:latin typeface="Aptos"/>
                <a:ea typeface="Aptos"/>
                <a:cs typeface="Aptos"/>
              </a:rPr>
              <a:t>Cache recommendation</a:t>
            </a:r>
          </a:p>
        </p:txBody>
      </p:sp>
      <p:sp>
        <p:nvSpPr>
          <p:cNvPr id="27" name="">
            <a:extLst xmlns:a="http://schemas.openxmlformats.org/drawingml/2006/main">
              <a:ext uri="{FF2B5EF4-FFF2-40B4-BE49-F238E27FC236}">
                <a16:creationId xmlns:a16="http://schemas.microsoft.com/office/drawing/2014/main" id="{90102983-13D1-41F4-BA9F-3B270BE9925C}"/>
              </a:ext>
            </a:extLst>
          </p:cNvPr>
          <p:cNvSpPr>
            <a:spLocks xmlns:a="http://schemas.openxmlformats.org/drawingml/2006/main" noGrp="1"/>
          </p:cNvSpPr>
          <p:nvPr/>
        </p:nvSpPr>
        <p:spPr>
          <a:xfrm xmlns:a="http://schemas.openxmlformats.org/drawingml/2006/main">
            <a:off x="666750" y="6553200"/>
            <a:ext cx="7810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7A7470"/>
                </a:solidFill>
                <a:latin typeface="Aptos"/>
                <a:ea typeface="Aptos"/>
                <a:cs typeface="Aptos"/>
              </a:defRPr>
            </a:pPr>
            <a:r>
              <a:rPr sz="750" b="0">
                <a:solidFill>
                  <a:srgbClr val="7A7470"/>
                </a:solidFill>
                <a:latin typeface="Aptos"/>
                <a:ea typeface="Aptos"/>
                <a:cs typeface="Aptos"/>
              </a:rPr>
              <a:t>Nguồn: Báo cáo đồ án MyStore và mã nguồn dự án</a:t>
            </a:r>
          </a:p>
        </p:txBody>
      </p:sp>
      <p:sp>
        <p:nvSpPr>
          <p:cNvPr id="28" name="">
            <a:extLst xmlns:a="http://schemas.openxmlformats.org/drawingml/2006/main">
              <a:ext uri="{FF2B5EF4-FFF2-40B4-BE49-F238E27FC236}">
                <a16:creationId xmlns:a16="http://schemas.microsoft.com/office/drawing/2014/main" id="{015EB592-F1BB-4609-9D38-272F8E1CCF6F}"/>
              </a:ext>
            </a:extLst>
          </p:cNvPr>
          <p:cNvSpPr>
            <a:spLocks xmlns:a="http://schemas.openxmlformats.org/drawingml/2006/main" noGrp="1"/>
          </p:cNvSpPr>
          <p:nvPr/>
        </p:nvSpPr>
        <p:spPr>
          <a:xfrm xmlns:a="http://schemas.openxmlformats.org/drawingml/2006/main">
            <a:off x="11239500" y="6515100"/>
            <a:ext cx="3810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825" b="1">
                <a:solidFill>
                  <a:srgbClr val="7A7470"/>
                </a:solidFill>
                <a:latin typeface="Aptos"/>
                <a:ea typeface="Aptos"/>
                <a:cs typeface="Aptos"/>
              </a:defRPr>
            </a:pPr>
            <a:r>
              <a:rPr sz="825" b="1">
                <a:solidFill>
                  <a:srgbClr val="7A7470"/>
                </a:solidFill>
                <a:latin typeface="Aptos"/>
                <a:ea typeface="Aptos"/>
                <a:cs typeface="Aptos"/>
              </a:rPr>
              <a:t>04</a:t>
            </a:r>
          </a:p>
        </p:txBody>
      </p:sp>
    </p:spTree>
    <p:extLst>
      <p:ext uri="{BB962C8B-B14F-4D97-AF65-F5344CB8AC3E}">
        <p14:creationId xmlns:p14="http://schemas.microsoft.com/office/powerpoint/2010/main" val="1076891202"/>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16CFF956-F2A7-4C21-A2DC-1D6A2BD5571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4EE"/>
          </a:solidFill>
          <a:ln xmlns:a="http://schemas.openxmlformats.org/drawingml/2006/main" w="0">
            <a:solidFill>
              <a:srgbClr val="000000">
                <a:alpha val="0"/>
              </a:srgbClr>
            </a:solidFill>
            <a:prstDash val="solid"/>
          </a:ln>
        </p:spPr>
      </p:sp>
      <p:sp>
        <p:nvSpPr>
          <p:cNvPr id="2" name="kicker-5-marker">
            <a:extLst xmlns:a="http://schemas.openxmlformats.org/drawingml/2006/main">
              <a:ext uri="{FF2B5EF4-FFF2-40B4-BE49-F238E27FC236}">
                <a16:creationId xmlns:a16="http://schemas.microsoft.com/office/drawing/2014/main" id="{4EBE1F2B-5B41-4F06-973C-7B57D7994902}"/>
              </a:ext>
            </a:extLst>
          </p:cNvPr>
          <p:cNvSpPr>
            <a:spLocks xmlns:a="http://schemas.openxmlformats.org/drawingml/2006/main" noGrp="1"/>
          </p:cNvSpPr>
          <p:nvPr/>
        </p:nvSpPr>
        <p:spPr>
          <a:xfrm xmlns:a="http://schemas.openxmlformats.org/drawingml/2006/main">
            <a:off x="666750" y="542925"/>
            <a:ext cx="266700" cy="38100"/>
          </a:xfrm>
          <a:prstGeom xmlns:a="http://schemas.openxmlformats.org/drawingml/2006/main" prst="rect">
            <a:avLst/>
          </a:prstGeom>
          <a:solidFill xmlns:a="http://schemas.openxmlformats.org/drawingml/2006/main">
            <a:srgbClr val="2F7D59"/>
          </a:solidFill>
          <a:ln xmlns:a="http://schemas.openxmlformats.org/drawingml/2006/main" w="0">
            <a:solidFill>
              <a:srgbClr val="000000">
                <a:alpha val="0"/>
              </a:srgbClr>
            </a:solidFill>
            <a:prstDash val="solid"/>
          </a:ln>
        </p:spPr>
      </p:sp>
      <p:sp>
        <p:nvSpPr>
          <p:cNvPr id="3" name="kicker-5-label">
            <a:extLst xmlns:a="http://schemas.openxmlformats.org/drawingml/2006/main">
              <a:ext uri="{FF2B5EF4-FFF2-40B4-BE49-F238E27FC236}">
                <a16:creationId xmlns:a16="http://schemas.microsoft.com/office/drawing/2014/main" id="{9A99539F-1BDD-4A7A-8DA7-E0BAABD88207}"/>
              </a:ext>
            </a:extLst>
          </p:cNvPr>
          <p:cNvSpPr>
            <a:spLocks xmlns:a="http://schemas.openxmlformats.org/drawingml/2006/main" noGrp="1"/>
          </p:cNvSpPr>
          <p:nvPr/>
        </p:nvSpPr>
        <p:spPr>
          <a:xfrm xmlns:a="http://schemas.openxmlformats.org/drawingml/2006/main">
            <a:off x="1066800" y="457200"/>
            <a:ext cx="31432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900" b="1">
                <a:solidFill>
                  <a:srgbClr val="2F7D59"/>
                </a:solidFill>
                <a:latin typeface="Aptos"/>
                <a:ea typeface="Aptos"/>
                <a:cs typeface="Aptos"/>
              </a:defRPr>
            </a:pPr>
            <a:r>
              <a:rPr sz="900" b="1">
                <a:solidFill>
                  <a:srgbClr val="2F7D59"/>
                </a:solidFill>
                <a:latin typeface="Aptos"/>
                <a:ea typeface="Aptos"/>
                <a:cs typeface="Aptos"/>
              </a:rPr>
              <a:t>LUỒNG KHÁCH HÀNG</a:t>
            </a:r>
          </a:p>
        </p:txBody>
      </p:sp>
      <p:sp>
        <p:nvSpPr>
          <p:cNvPr id="4" name="">
            <a:extLst xmlns:a="http://schemas.openxmlformats.org/drawingml/2006/main">
              <a:ext uri="{FF2B5EF4-FFF2-40B4-BE49-F238E27FC236}">
                <a16:creationId xmlns:a16="http://schemas.microsoft.com/office/drawing/2014/main" id="{DB36362E-E477-4598-B2F8-325344F92174}"/>
              </a:ext>
            </a:extLst>
          </p:cNvPr>
          <p:cNvSpPr>
            <a:spLocks xmlns:a="http://schemas.openxmlformats.org/drawingml/2006/main" noGrp="1"/>
          </p:cNvSpPr>
          <p:nvPr/>
        </p:nvSpPr>
        <p:spPr>
          <a:xfrm xmlns:a="http://schemas.openxmlformats.org/drawingml/2006/main">
            <a:off x="666750" y="781050"/>
            <a:ext cx="8191500" cy="914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775" b="1">
                <a:solidFill>
                  <a:srgbClr val="17202A"/>
                </a:solidFill>
                <a:latin typeface="Aptos Display"/>
                <a:ea typeface="Aptos Display"/>
                <a:cs typeface="Aptos Display"/>
              </a:defRPr>
            </a:pPr>
            <a:r>
              <a:rPr sz="2775" b="1">
                <a:solidFill>
                  <a:srgbClr val="17202A"/>
                </a:solidFill>
                <a:latin typeface="Aptos Display"/>
                <a:ea typeface="Aptos Display"/>
                <a:cs typeface="Aptos Display"/>
              </a:rPr>
              <a:t>Trải nghiệm mua sắm được nối thành một hành trình có dữ liệu phản hồi.</a:t>
            </a:r>
          </a:p>
        </p:txBody>
      </p:sp>
      <p:sp>
        <p:nvSpPr>
          <p:cNvPr id="5" name="">
            <a:extLst xmlns:a="http://schemas.openxmlformats.org/drawingml/2006/main">
              <a:ext uri="{FF2B5EF4-FFF2-40B4-BE49-F238E27FC236}">
                <a16:creationId xmlns:a16="http://schemas.microsoft.com/office/drawing/2014/main" id="{BA5471B5-701A-4606-A6FD-6E44BDE52257}"/>
              </a:ext>
            </a:extLst>
          </p:cNvPr>
          <p:cNvSpPr>
            <a:spLocks xmlns:a="http://schemas.openxmlformats.org/drawingml/2006/main" noGrp="1"/>
          </p:cNvSpPr>
          <p:nvPr/>
        </p:nvSpPr>
        <p:spPr>
          <a:xfrm xmlns:a="http://schemas.openxmlformats.org/drawingml/2006/main">
            <a:off x="723900" y="2571750"/>
            <a:ext cx="685800" cy="685800"/>
          </a:xfrm>
          <a:prstGeom xmlns:a="http://schemas.openxmlformats.org/drawingml/2006/main" prst="rect">
            <a:avLst/>
          </a:prstGeom>
          <a:solidFill xmlns:a="http://schemas.openxmlformats.org/drawingml/2006/main">
            <a:srgbClr val="2F7D59"/>
          </a:solidFill>
          <a:ln xmlns:a="http://schemas.openxmlformats.org/drawingml/2006/main" w="0">
            <a:solidFill>
              <a:srgbClr val="000000">
                <a:alpha val="0"/>
              </a:srgbClr>
            </a:solidFill>
            <a:prstDash val="solid"/>
          </a:ln>
        </p:spPr>
      </p:sp>
      <p:sp>
        <p:nvSpPr>
          <p:cNvPr id="6" name="">
            <a:extLst xmlns:a="http://schemas.openxmlformats.org/drawingml/2006/main">
              <a:ext uri="{FF2B5EF4-FFF2-40B4-BE49-F238E27FC236}">
                <a16:creationId xmlns:a16="http://schemas.microsoft.com/office/drawing/2014/main" id="{DF101205-A225-4E7D-AC12-DC49FCD59B51}"/>
              </a:ext>
            </a:extLst>
          </p:cNvPr>
          <p:cNvSpPr>
            <a:spLocks xmlns:a="http://schemas.openxmlformats.org/drawingml/2006/main" noGrp="1"/>
          </p:cNvSpPr>
          <p:nvPr/>
        </p:nvSpPr>
        <p:spPr>
          <a:xfrm xmlns:a="http://schemas.openxmlformats.org/drawingml/2006/main">
            <a:off x="723900" y="2628900"/>
            <a:ext cx="685800" cy="571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95250" rIns="114300" bIns="95250" anchor="ctr"/>
          <a:lstStyle xmlns:a="http://schemas.openxmlformats.org/drawingml/2006/main"/>
          <a:p xmlns:a="http://schemas.openxmlformats.org/drawingml/2006/main">
            <a:pPr algn="ctr">
              <a:defRPr sz="2550" b="1">
                <a:solidFill>
                  <a:srgbClr val="FFFFFF"/>
                </a:solidFill>
                <a:latin typeface="Aptos"/>
                <a:ea typeface="Aptos"/>
                <a:cs typeface="Aptos"/>
              </a:defRPr>
            </a:pPr>
            <a:r>
              <a:rPr sz="2550" b="1">
                <a:solidFill>
                  <a:srgbClr val="FFFFFF"/>
                </a:solidFill>
                <a:latin typeface="Aptos"/>
                <a:ea typeface="Aptos"/>
                <a:cs typeface="Aptos"/>
              </a:rPr>
              <a:t>1</a:t>
            </a:r>
          </a:p>
        </p:txBody>
      </p:sp>
      <p:sp>
        <p:nvSpPr>
          <p:cNvPr id="7" name="">
            <a:extLst xmlns:a="http://schemas.openxmlformats.org/drawingml/2006/main">
              <a:ext uri="{FF2B5EF4-FFF2-40B4-BE49-F238E27FC236}">
                <a16:creationId xmlns:a16="http://schemas.microsoft.com/office/drawing/2014/main" id="{F3A4D2FA-6B1D-4CED-812C-890DE2226F51}"/>
              </a:ext>
            </a:extLst>
          </p:cNvPr>
          <p:cNvSpPr>
            <a:spLocks xmlns:a="http://schemas.openxmlformats.org/drawingml/2006/main" noGrp="1"/>
          </p:cNvSpPr>
          <p:nvPr/>
        </p:nvSpPr>
        <p:spPr>
          <a:xfrm xmlns:a="http://schemas.openxmlformats.org/drawingml/2006/main">
            <a:off x="361950" y="3524250"/>
            <a:ext cx="14287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95250" rIns="114300" bIns="95250" anchor="ctr"/>
          <a:lstStyle xmlns:a="http://schemas.openxmlformats.org/drawingml/2006/main"/>
          <a:p xmlns:a="http://schemas.openxmlformats.org/drawingml/2006/main">
            <a:pPr algn="ctr">
              <a:defRPr sz="1500" b="1">
                <a:solidFill>
                  <a:srgbClr val="17202A"/>
                </a:solidFill>
                <a:latin typeface="Aptos"/>
                <a:ea typeface="Aptos"/>
                <a:cs typeface="Aptos"/>
              </a:defRPr>
            </a:pPr>
            <a:r>
              <a:rPr sz="1500" b="1">
                <a:solidFill>
                  <a:srgbClr val="17202A"/>
                </a:solidFill>
                <a:latin typeface="Aptos"/>
                <a:ea typeface="Aptos"/>
                <a:cs typeface="Aptos"/>
              </a:rPr>
              <a:t>Khám phá</a:t>
            </a:r>
          </a:p>
        </p:txBody>
      </p:sp>
      <p:sp>
        <p:nvSpPr>
          <p:cNvPr id="8" name="">
            <a:extLst xmlns:a="http://schemas.openxmlformats.org/drawingml/2006/main">
              <a:ext uri="{FF2B5EF4-FFF2-40B4-BE49-F238E27FC236}">
                <a16:creationId xmlns:a16="http://schemas.microsoft.com/office/drawing/2014/main" id="{B9738DB8-5678-466D-B688-2D8B3058DAE0}"/>
              </a:ext>
            </a:extLst>
          </p:cNvPr>
          <p:cNvSpPr>
            <a:spLocks xmlns:a="http://schemas.openxmlformats.org/drawingml/2006/main" noGrp="1"/>
          </p:cNvSpPr>
          <p:nvPr/>
        </p:nvSpPr>
        <p:spPr>
          <a:xfrm xmlns:a="http://schemas.openxmlformats.org/drawingml/2006/main">
            <a:off x="76200" y="3905250"/>
            <a:ext cx="2000250" cy="685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95250" rIns="114300" bIns="95250" anchor="ctr"/>
          <a:lstStyle xmlns:a="http://schemas.openxmlformats.org/drawingml/2006/main"/>
          <a:p xmlns:a="http://schemas.openxmlformats.org/drawingml/2006/main">
            <a:pPr algn="ctr">
              <a:defRPr sz="1125" b="0">
                <a:solidFill>
                  <a:srgbClr val="5F6770"/>
                </a:solidFill>
                <a:latin typeface="Aptos"/>
                <a:ea typeface="Aptos"/>
                <a:cs typeface="Aptos"/>
              </a:defRPr>
            </a:pPr>
            <a:r>
              <a:rPr sz="1125" b="0">
                <a:solidFill>
                  <a:srgbClr val="5F6770"/>
                </a:solidFill>
                <a:latin typeface="Aptos"/>
                <a:ea typeface="Aptos"/>
                <a:cs typeface="Aptos"/>
              </a:rPr>
              <a:t>Trang chủ, danh mục,</a:t>
            </a:r>
          </a:p>
          <a:p xmlns:a="http://schemas.openxmlformats.org/drawingml/2006/main">
            <a:pPr algn="ctr">
              <a:defRPr sz="1125" b="0">
                <a:solidFill>
                  <a:srgbClr val="5F6770"/>
                </a:solidFill>
                <a:latin typeface="Aptos"/>
                <a:ea typeface="Aptos"/>
                <a:cs typeface="Aptos"/>
              </a:defRPr>
            </a:pPr>
            <a:r>
              <a:rPr sz="1125" b="0">
                <a:solidFill>
                  <a:srgbClr val="5F6770"/>
                </a:solidFill>
                <a:latin typeface="Aptos"/>
                <a:ea typeface="Aptos"/>
                <a:cs typeface="Aptos"/>
              </a:rPr>
              <a:t>trending, sản phẩm gợi ý</a:t>
            </a:r>
          </a:p>
        </p:txBody>
      </p:sp>
      <p:sp>
        <p:nvSpPr>
          <p:cNvPr id="9" name="">
            <a:extLst xmlns:a="http://schemas.openxmlformats.org/drawingml/2006/main">
              <a:ext uri="{FF2B5EF4-FFF2-40B4-BE49-F238E27FC236}">
                <a16:creationId xmlns:a16="http://schemas.microsoft.com/office/drawing/2014/main" id="{0FCE4378-68A9-468F-B71F-949676CF4B22}"/>
              </a:ext>
            </a:extLst>
          </p:cNvPr>
          <p:cNvSpPr>
            <a:spLocks xmlns:a="http://schemas.openxmlformats.org/drawingml/2006/main" noGrp="1"/>
          </p:cNvSpPr>
          <p:nvPr/>
        </p:nvSpPr>
        <p:spPr>
          <a:xfrm xmlns:a="http://schemas.openxmlformats.org/drawingml/2006/main">
            <a:off x="1409700" y="2914650"/>
            <a:ext cx="1552575" cy="28575"/>
          </a:xfrm>
          <a:prstGeom xmlns:a="http://schemas.openxmlformats.org/drawingml/2006/main" prst="rect">
            <a:avLst/>
          </a:prstGeom>
          <a:solidFill xmlns:a="http://schemas.openxmlformats.org/drawingml/2006/main">
            <a:srgbClr val="D8D4CB"/>
          </a:solidFill>
          <a:ln xmlns:a="http://schemas.openxmlformats.org/drawingml/2006/main" w="0">
            <a:solidFill>
              <a:srgbClr val="000000">
                <a:alpha val="0"/>
              </a:srgbClr>
            </a:solidFill>
            <a:prstDash val="solid"/>
          </a:ln>
        </p:spPr>
      </p:sp>
      <p:sp>
        <p:nvSpPr>
          <p:cNvPr id="10" name="">
            <a:extLst xmlns:a="http://schemas.openxmlformats.org/drawingml/2006/main">
              <a:ext uri="{FF2B5EF4-FFF2-40B4-BE49-F238E27FC236}">
                <a16:creationId xmlns:a16="http://schemas.microsoft.com/office/drawing/2014/main" id="{6C0244ED-FB33-4CA1-8E02-9E3F0A3B9886}"/>
              </a:ext>
            </a:extLst>
          </p:cNvPr>
          <p:cNvSpPr>
            <a:spLocks xmlns:a="http://schemas.openxmlformats.org/drawingml/2006/main" noGrp="1"/>
          </p:cNvSpPr>
          <p:nvPr/>
        </p:nvSpPr>
        <p:spPr>
          <a:xfrm xmlns:a="http://schemas.openxmlformats.org/drawingml/2006/main">
            <a:off x="2962275" y="2571750"/>
            <a:ext cx="685800" cy="685800"/>
          </a:xfrm>
          <a:prstGeom xmlns:a="http://schemas.openxmlformats.org/drawingml/2006/main" prst="rect">
            <a:avLst/>
          </a:prstGeom>
          <a:solidFill xmlns:a="http://schemas.openxmlformats.org/drawingml/2006/main">
            <a:srgbClr val="3F6FA8"/>
          </a:solidFill>
          <a:ln xmlns:a="http://schemas.openxmlformats.org/drawingml/2006/main" w="0">
            <a:solidFill>
              <a:srgbClr val="000000">
                <a:alpha val="0"/>
              </a:srgbClr>
            </a:solidFill>
            <a:prstDash val="solid"/>
          </a:ln>
        </p:spPr>
      </p:sp>
      <p:sp>
        <p:nvSpPr>
          <p:cNvPr id="11" name="">
            <a:extLst xmlns:a="http://schemas.openxmlformats.org/drawingml/2006/main">
              <a:ext uri="{FF2B5EF4-FFF2-40B4-BE49-F238E27FC236}">
                <a16:creationId xmlns:a16="http://schemas.microsoft.com/office/drawing/2014/main" id="{088C4FC9-8514-4B76-B913-2954C9763DC8}"/>
              </a:ext>
            </a:extLst>
          </p:cNvPr>
          <p:cNvSpPr>
            <a:spLocks xmlns:a="http://schemas.openxmlformats.org/drawingml/2006/main" noGrp="1"/>
          </p:cNvSpPr>
          <p:nvPr/>
        </p:nvSpPr>
        <p:spPr>
          <a:xfrm xmlns:a="http://schemas.openxmlformats.org/drawingml/2006/main">
            <a:off x="2962275" y="2628900"/>
            <a:ext cx="685800" cy="571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95250" rIns="114300" bIns="95250" anchor="ctr"/>
          <a:lstStyle xmlns:a="http://schemas.openxmlformats.org/drawingml/2006/main"/>
          <a:p xmlns:a="http://schemas.openxmlformats.org/drawingml/2006/main">
            <a:pPr algn="ctr">
              <a:defRPr sz="2550" b="1">
                <a:solidFill>
                  <a:srgbClr val="FFFFFF"/>
                </a:solidFill>
                <a:latin typeface="Aptos"/>
                <a:ea typeface="Aptos"/>
                <a:cs typeface="Aptos"/>
              </a:defRPr>
            </a:pPr>
            <a:r>
              <a:rPr sz="2550" b="1">
                <a:solidFill>
                  <a:srgbClr val="FFFFFF"/>
                </a:solidFill>
                <a:latin typeface="Aptos"/>
                <a:ea typeface="Aptos"/>
                <a:cs typeface="Aptos"/>
              </a:rPr>
              <a:t>2</a:t>
            </a:r>
          </a:p>
        </p:txBody>
      </p:sp>
      <p:sp>
        <p:nvSpPr>
          <p:cNvPr id="12" name="">
            <a:extLst xmlns:a="http://schemas.openxmlformats.org/drawingml/2006/main">
              <a:ext uri="{FF2B5EF4-FFF2-40B4-BE49-F238E27FC236}">
                <a16:creationId xmlns:a16="http://schemas.microsoft.com/office/drawing/2014/main" id="{3AEF1676-4F2E-4029-B501-56C2E01444F7}"/>
              </a:ext>
            </a:extLst>
          </p:cNvPr>
          <p:cNvSpPr>
            <a:spLocks xmlns:a="http://schemas.openxmlformats.org/drawingml/2006/main" noGrp="1"/>
          </p:cNvSpPr>
          <p:nvPr/>
        </p:nvSpPr>
        <p:spPr>
          <a:xfrm xmlns:a="http://schemas.openxmlformats.org/drawingml/2006/main">
            <a:off x="2600325" y="3524250"/>
            <a:ext cx="14287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95250" rIns="114300" bIns="95250" anchor="ctr"/>
          <a:lstStyle xmlns:a="http://schemas.openxmlformats.org/drawingml/2006/main"/>
          <a:p xmlns:a="http://schemas.openxmlformats.org/drawingml/2006/main">
            <a:pPr algn="ctr">
              <a:defRPr sz="1500" b="1">
                <a:solidFill>
                  <a:srgbClr val="17202A"/>
                </a:solidFill>
                <a:latin typeface="Aptos"/>
                <a:ea typeface="Aptos"/>
                <a:cs typeface="Aptos"/>
              </a:defRPr>
            </a:pPr>
            <a:r>
              <a:rPr sz="1500" b="1">
                <a:solidFill>
                  <a:srgbClr val="17202A"/>
                </a:solidFill>
                <a:latin typeface="Aptos"/>
                <a:ea typeface="Aptos"/>
                <a:cs typeface="Aptos"/>
              </a:rPr>
              <a:t>So sánh</a:t>
            </a:r>
          </a:p>
        </p:txBody>
      </p:sp>
      <p:sp>
        <p:nvSpPr>
          <p:cNvPr id="13" name="">
            <a:extLst xmlns:a="http://schemas.openxmlformats.org/drawingml/2006/main">
              <a:ext uri="{FF2B5EF4-FFF2-40B4-BE49-F238E27FC236}">
                <a16:creationId xmlns:a16="http://schemas.microsoft.com/office/drawing/2014/main" id="{29753E7D-038C-45A3-BA26-BB18920690A6}"/>
              </a:ext>
            </a:extLst>
          </p:cNvPr>
          <p:cNvSpPr>
            <a:spLocks xmlns:a="http://schemas.openxmlformats.org/drawingml/2006/main" noGrp="1"/>
          </p:cNvSpPr>
          <p:nvPr/>
        </p:nvSpPr>
        <p:spPr>
          <a:xfrm xmlns:a="http://schemas.openxmlformats.org/drawingml/2006/main">
            <a:off x="2314575" y="3905250"/>
            <a:ext cx="2000250" cy="685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95250" rIns="114300" bIns="95250" anchor="ctr"/>
          <a:lstStyle xmlns:a="http://schemas.openxmlformats.org/drawingml/2006/main"/>
          <a:p xmlns:a="http://schemas.openxmlformats.org/drawingml/2006/main">
            <a:pPr algn="ctr">
              <a:defRPr sz="1125" b="0">
                <a:solidFill>
                  <a:srgbClr val="5F6770"/>
                </a:solidFill>
                <a:latin typeface="Aptos"/>
                <a:ea typeface="Aptos"/>
                <a:cs typeface="Aptos"/>
              </a:defRPr>
            </a:pPr>
            <a:r>
              <a:rPr sz="1125" b="0">
                <a:solidFill>
                  <a:srgbClr val="5F6770"/>
                </a:solidFill>
                <a:latin typeface="Aptos"/>
                <a:ea typeface="Aptos"/>
                <a:cs typeface="Aptos"/>
              </a:rPr>
              <a:t>Chi tiết sản phẩm,</a:t>
            </a:r>
          </a:p>
          <a:p xmlns:a="http://schemas.openxmlformats.org/drawingml/2006/main">
            <a:pPr algn="ctr">
              <a:defRPr sz="1125" b="0">
                <a:solidFill>
                  <a:srgbClr val="5F6770"/>
                </a:solidFill>
                <a:latin typeface="Aptos"/>
                <a:ea typeface="Aptos"/>
                <a:cs typeface="Aptos"/>
              </a:defRPr>
            </a:pPr>
            <a:r>
              <a:rPr sz="1125" b="0">
                <a:solidFill>
                  <a:srgbClr val="5F6770"/>
                </a:solidFill>
                <a:latin typeface="Aptos"/>
                <a:ea typeface="Aptos"/>
                <a:cs typeface="Aptos"/>
              </a:rPr>
              <a:t>variants, specs, review</a:t>
            </a:r>
          </a:p>
        </p:txBody>
      </p:sp>
      <p:sp>
        <p:nvSpPr>
          <p:cNvPr id="14" name="">
            <a:extLst xmlns:a="http://schemas.openxmlformats.org/drawingml/2006/main">
              <a:ext uri="{FF2B5EF4-FFF2-40B4-BE49-F238E27FC236}">
                <a16:creationId xmlns:a16="http://schemas.microsoft.com/office/drawing/2014/main" id="{7DAFFF83-08A1-4C75-A0A2-093D5C54595E}"/>
              </a:ext>
            </a:extLst>
          </p:cNvPr>
          <p:cNvSpPr>
            <a:spLocks xmlns:a="http://schemas.openxmlformats.org/drawingml/2006/main" noGrp="1"/>
          </p:cNvSpPr>
          <p:nvPr/>
        </p:nvSpPr>
        <p:spPr>
          <a:xfrm xmlns:a="http://schemas.openxmlformats.org/drawingml/2006/main">
            <a:off x="3648075" y="2914650"/>
            <a:ext cx="1552575" cy="28575"/>
          </a:xfrm>
          <a:prstGeom xmlns:a="http://schemas.openxmlformats.org/drawingml/2006/main" prst="rect">
            <a:avLst/>
          </a:prstGeom>
          <a:solidFill xmlns:a="http://schemas.openxmlformats.org/drawingml/2006/main">
            <a:srgbClr val="D8D4CB"/>
          </a:solidFill>
          <a:ln xmlns:a="http://schemas.openxmlformats.org/drawingml/2006/main" w="0">
            <a:solidFill>
              <a:srgbClr val="000000">
                <a:alpha val="0"/>
              </a:srgbClr>
            </a:solidFill>
            <a:prstDash val="solid"/>
          </a:ln>
        </p:spPr>
      </p:sp>
      <p:sp>
        <p:nvSpPr>
          <p:cNvPr id="15" name="">
            <a:extLst xmlns:a="http://schemas.openxmlformats.org/drawingml/2006/main">
              <a:ext uri="{FF2B5EF4-FFF2-40B4-BE49-F238E27FC236}">
                <a16:creationId xmlns:a16="http://schemas.microsoft.com/office/drawing/2014/main" id="{BE563C41-B4AA-4DD9-94FB-9103C738EE91}"/>
              </a:ext>
            </a:extLst>
          </p:cNvPr>
          <p:cNvSpPr>
            <a:spLocks xmlns:a="http://schemas.openxmlformats.org/drawingml/2006/main" noGrp="1"/>
          </p:cNvSpPr>
          <p:nvPr/>
        </p:nvSpPr>
        <p:spPr>
          <a:xfrm xmlns:a="http://schemas.openxmlformats.org/drawingml/2006/main">
            <a:off x="5200650" y="2571750"/>
            <a:ext cx="685800" cy="685800"/>
          </a:xfrm>
          <a:prstGeom xmlns:a="http://schemas.openxmlformats.org/drawingml/2006/main" prst="rect">
            <a:avLst/>
          </a:prstGeom>
          <a:solidFill xmlns:a="http://schemas.openxmlformats.org/drawingml/2006/main">
            <a:srgbClr val="2F7D59"/>
          </a:solidFill>
          <a:ln xmlns:a="http://schemas.openxmlformats.org/drawingml/2006/main" w="0">
            <a:solidFill>
              <a:srgbClr val="000000">
                <a:alpha val="0"/>
              </a:srgbClr>
            </a:solidFill>
            <a:prstDash val="solid"/>
          </a:ln>
        </p:spPr>
      </p:sp>
      <p:sp>
        <p:nvSpPr>
          <p:cNvPr id="16" name="">
            <a:extLst xmlns:a="http://schemas.openxmlformats.org/drawingml/2006/main">
              <a:ext uri="{FF2B5EF4-FFF2-40B4-BE49-F238E27FC236}">
                <a16:creationId xmlns:a16="http://schemas.microsoft.com/office/drawing/2014/main" id="{5BFC8A1A-EA28-4663-8E6C-50920CE2CF03}"/>
              </a:ext>
            </a:extLst>
          </p:cNvPr>
          <p:cNvSpPr>
            <a:spLocks xmlns:a="http://schemas.openxmlformats.org/drawingml/2006/main" noGrp="1"/>
          </p:cNvSpPr>
          <p:nvPr/>
        </p:nvSpPr>
        <p:spPr>
          <a:xfrm xmlns:a="http://schemas.openxmlformats.org/drawingml/2006/main">
            <a:off x="5200650" y="2628900"/>
            <a:ext cx="685800" cy="571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95250" rIns="114300" bIns="95250" anchor="ctr"/>
          <a:lstStyle xmlns:a="http://schemas.openxmlformats.org/drawingml/2006/main"/>
          <a:p xmlns:a="http://schemas.openxmlformats.org/drawingml/2006/main">
            <a:pPr algn="ctr">
              <a:defRPr sz="2550" b="1">
                <a:solidFill>
                  <a:srgbClr val="FFFFFF"/>
                </a:solidFill>
                <a:latin typeface="Aptos"/>
                <a:ea typeface="Aptos"/>
                <a:cs typeface="Aptos"/>
              </a:defRPr>
            </a:pPr>
            <a:r>
              <a:rPr sz="2550" b="1">
                <a:solidFill>
                  <a:srgbClr val="FFFFFF"/>
                </a:solidFill>
                <a:latin typeface="Aptos"/>
                <a:ea typeface="Aptos"/>
                <a:cs typeface="Aptos"/>
              </a:rPr>
              <a:t>3</a:t>
            </a:r>
          </a:p>
        </p:txBody>
      </p:sp>
      <p:sp>
        <p:nvSpPr>
          <p:cNvPr id="17" name="">
            <a:extLst xmlns:a="http://schemas.openxmlformats.org/drawingml/2006/main">
              <a:ext uri="{FF2B5EF4-FFF2-40B4-BE49-F238E27FC236}">
                <a16:creationId xmlns:a16="http://schemas.microsoft.com/office/drawing/2014/main" id="{36696867-CA7E-44F0-81FB-C942DCD935B6}"/>
              </a:ext>
            </a:extLst>
          </p:cNvPr>
          <p:cNvSpPr>
            <a:spLocks xmlns:a="http://schemas.openxmlformats.org/drawingml/2006/main" noGrp="1"/>
          </p:cNvSpPr>
          <p:nvPr/>
        </p:nvSpPr>
        <p:spPr>
          <a:xfrm xmlns:a="http://schemas.openxmlformats.org/drawingml/2006/main">
            <a:off x="4838700" y="3524250"/>
            <a:ext cx="14287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95250" rIns="114300" bIns="95250" anchor="ctr"/>
          <a:lstStyle xmlns:a="http://schemas.openxmlformats.org/drawingml/2006/main"/>
          <a:p xmlns:a="http://schemas.openxmlformats.org/drawingml/2006/main">
            <a:pPr algn="ctr">
              <a:defRPr sz="1500" b="1">
                <a:solidFill>
                  <a:srgbClr val="17202A"/>
                </a:solidFill>
                <a:latin typeface="Aptos"/>
                <a:ea typeface="Aptos"/>
                <a:cs typeface="Aptos"/>
              </a:defRPr>
            </a:pPr>
            <a:r>
              <a:rPr sz="1500" b="1">
                <a:solidFill>
                  <a:srgbClr val="17202A"/>
                </a:solidFill>
                <a:latin typeface="Aptos"/>
                <a:ea typeface="Aptos"/>
                <a:cs typeface="Aptos"/>
              </a:rPr>
              <a:t>Quyết định</a:t>
            </a:r>
          </a:p>
        </p:txBody>
      </p:sp>
      <p:sp>
        <p:nvSpPr>
          <p:cNvPr id="18" name="">
            <a:extLst xmlns:a="http://schemas.openxmlformats.org/drawingml/2006/main">
              <a:ext uri="{FF2B5EF4-FFF2-40B4-BE49-F238E27FC236}">
                <a16:creationId xmlns:a16="http://schemas.microsoft.com/office/drawing/2014/main" id="{225D87C0-1752-462F-8A7C-BEA3B7D49D33}"/>
              </a:ext>
            </a:extLst>
          </p:cNvPr>
          <p:cNvSpPr>
            <a:spLocks xmlns:a="http://schemas.openxmlformats.org/drawingml/2006/main" noGrp="1"/>
          </p:cNvSpPr>
          <p:nvPr/>
        </p:nvSpPr>
        <p:spPr>
          <a:xfrm xmlns:a="http://schemas.openxmlformats.org/drawingml/2006/main">
            <a:off x="4552950" y="3905250"/>
            <a:ext cx="2000250" cy="685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95250" rIns="114300" bIns="95250" anchor="ctr"/>
          <a:lstStyle xmlns:a="http://schemas.openxmlformats.org/drawingml/2006/main"/>
          <a:p xmlns:a="http://schemas.openxmlformats.org/drawingml/2006/main">
            <a:pPr algn="ctr">
              <a:defRPr sz="1125" b="0">
                <a:solidFill>
                  <a:srgbClr val="5F6770"/>
                </a:solidFill>
                <a:latin typeface="Aptos"/>
                <a:ea typeface="Aptos"/>
                <a:cs typeface="Aptos"/>
              </a:defRPr>
            </a:pPr>
            <a:r>
              <a:rPr sz="1125" b="0">
                <a:solidFill>
                  <a:srgbClr val="5F6770"/>
                </a:solidFill>
                <a:latin typeface="Aptos"/>
                <a:ea typeface="Aptos"/>
                <a:cs typeface="Aptos"/>
              </a:rPr>
              <a:t>Giỏ hàng,</a:t>
            </a:r>
          </a:p>
          <a:p xmlns:a="http://schemas.openxmlformats.org/drawingml/2006/main">
            <a:pPr algn="ctr">
              <a:defRPr sz="1125" b="0">
                <a:solidFill>
                  <a:srgbClr val="5F6770"/>
                </a:solidFill>
                <a:latin typeface="Aptos"/>
                <a:ea typeface="Aptos"/>
                <a:cs typeface="Aptos"/>
              </a:defRPr>
            </a:pPr>
            <a:r>
              <a:rPr sz="1125" b="0">
                <a:solidFill>
                  <a:srgbClr val="5F6770"/>
                </a:solidFill>
                <a:latin typeface="Aptos"/>
                <a:ea typeface="Aptos"/>
                <a:cs typeface="Aptos"/>
              </a:rPr>
              <a:t>địa chỉ, COD/Stripe</a:t>
            </a:r>
          </a:p>
        </p:txBody>
      </p:sp>
      <p:sp>
        <p:nvSpPr>
          <p:cNvPr id="19" name="">
            <a:extLst xmlns:a="http://schemas.openxmlformats.org/drawingml/2006/main">
              <a:ext uri="{FF2B5EF4-FFF2-40B4-BE49-F238E27FC236}">
                <a16:creationId xmlns:a16="http://schemas.microsoft.com/office/drawing/2014/main" id="{9E0125FF-046B-4E2B-ADC6-125C4C008146}"/>
              </a:ext>
            </a:extLst>
          </p:cNvPr>
          <p:cNvSpPr>
            <a:spLocks xmlns:a="http://schemas.openxmlformats.org/drawingml/2006/main" noGrp="1"/>
          </p:cNvSpPr>
          <p:nvPr/>
        </p:nvSpPr>
        <p:spPr>
          <a:xfrm xmlns:a="http://schemas.openxmlformats.org/drawingml/2006/main">
            <a:off x="5886450" y="2914650"/>
            <a:ext cx="1552575" cy="28575"/>
          </a:xfrm>
          <a:prstGeom xmlns:a="http://schemas.openxmlformats.org/drawingml/2006/main" prst="rect">
            <a:avLst/>
          </a:prstGeom>
          <a:solidFill xmlns:a="http://schemas.openxmlformats.org/drawingml/2006/main">
            <a:srgbClr val="D8D4CB"/>
          </a:solidFill>
          <a:ln xmlns:a="http://schemas.openxmlformats.org/drawingml/2006/main" w="0">
            <a:solidFill>
              <a:srgbClr val="000000">
                <a:alpha val="0"/>
              </a:srgbClr>
            </a:solidFill>
            <a:prstDash val="solid"/>
          </a:ln>
        </p:spPr>
      </p:sp>
      <p:sp>
        <p:nvSpPr>
          <p:cNvPr id="20" name="">
            <a:extLst xmlns:a="http://schemas.openxmlformats.org/drawingml/2006/main">
              <a:ext uri="{FF2B5EF4-FFF2-40B4-BE49-F238E27FC236}">
                <a16:creationId xmlns:a16="http://schemas.microsoft.com/office/drawing/2014/main" id="{1AA053E6-9E2D-4682-A618-C354DC0CFE43}"/>
              </a:ext>
            </a:extLst>
          </p:cNvPr>
          <p:cNvSpPr>
            <a:spLocks xmlns:a="http://schemas.openxmlformats.org/drawingml/2006/main" noGrp="1"/>
          </p:cNvSpPr>
          <p:nvPr/>
        </p:nvSpPr>
        <p:spPr>
          <a:xfrm xmlns:a="http://schemas.openxmlformats.org/drawingml/2006/main">
            <a:off x="7439025" y="2571750"/>
            <a:ext cx="685800" cy="685800"/>
          </a:xfrm>
          <a:prstGeom xmlns:a="http://schemas.openxmlformats.org/drawingml/2006/main" prst="rect">
            <a:avLst/>
          </a:prstGeom>
          <a:solidFill xmlns:a="http://schemas.openxmlformats.org/drawingml/2006/main">
            <a:srgbClr val="3F6FA8"/>
          </a:solidFill>
          <a:ln xmlns:a="http://schemas.openxmlformats.org/drawingml/2006/main" w="0">
            <a:solidFill>
              <a:srgbClr val="000000">
                <a:alpha val="0"/>
              </a:srgbClr>
            </a:solidFill>
            <a:prstDash val="solid"/>
          </a:ln>
        </p:spPr>
      </p:sp>
      <p:sp>
        <p:nvSpPr>
          <p:cNvPr id="21" name="">
            <a:extLst xmlns:a="http://schemas.openxmlformats.org/drawingml/2006/main">
              <a:ext uri="{FF2B5EF4-FFF2-40B4-BE49-F238E27FC236}">
                <a16:creationId xmlns:a16="http://schemas.microsoft.com/office/drawing/2014/main" id="{17328E10-AD07-4A23-8C15-C64A7D4DF205}"/>
              </a:ext>
            </a:extLst>
          </p:cNvPr>
          <p:cNvSpPr>
            <a:spLocks xmlns:a="http://schemas.openxmlformats.org/drawingml/2006/main" noGrp="1"/>
          </p:cNvSpPr>
          <p:nvPr/>
        </p:nvSpPr>
        <p:spPr>
          <a:xfrm xmlns:a="http://schemas.openxmlformats.org/drawingml/2006/main">
            <a:off x="7439025" y="2628900"/>
            <a:ext cx="685800" cy="571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95250" rIns="114300" bIns="95250" anchor="ctr"/>
          <a:lstStyle xmlns:a="http://schemas.openxmlformats.org/drawingml/2006/main"/>
          <a:p xmlns:a="http://schemas.openxmlformats.org/drawingml/2006/main">
            <a:pPr algn="ctr">
              <a:defRPr sz="2550" b="1">
                <a:solidFill>
                  <a:srgbClr val="FFFFFF"/>
                </a:solidFill>
                <a:latin typeface="Aptos"/>
                <a:ea typeface="Aptos"/>
                <a:cs typeface="Aptos"/>
              </a:defRPr>
            </a:pPr>
            <a:r>
              <a:rPr sz="2550" b="1">
                <a:solidFill>
                  <a:srgbClr val="FFFFFF"/>
                </a:solidFill>
                <a:latin typeface="Aptos"/>
                <a:ea typeface="Aptos"/>
                <a:cs typeface="Aptos"/>
              </a:rPr>
              <a:t>4</a:t>
            </a:r>
          </a:p>
        </p:txBody>
      </p:sp>
      <p:sp>
        <p:nvSpPr>
          <p:cNvPr id="22" name="">
            <a:extLst xmlns:a="http://schemas.openxmlformats.org/drawingml/2006/main">
              <a:ext uri="{FF2B5EF4-FFF2-40B4-BE49-F238E27FC236}">
                <a16:creationId xmlns:a16="http://schemas.microsoft.com/office/drawing/2014/main" id="{283AD8FC-154A-4ACE-B8DA-35426AEAB0BD}"/>
              </a:ext>
            </a:extLst>
          </p:cNvPr>
          <p:cNvSpPr>
            <a:spLocks xmlns:a="http://schemas.openxmlformats.org/drawingml/2006/main" noGrp="1"/>
          </p:cNvSpPr>
          <p:nvPr/>
        </p:nvSpPr>
        <p:spPr>
          <a:xfrm xmlns:a="http://schemas.openxmlformats.org/drawingml/2006/main">
            <a:off x="7077075" y="3524250"/>
            <a:ext cx="14287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95250" rIns="114300" bIns="95250" anchor="ctr"/>
          <a:lstStyle xmlns:a="http://schemas.openxmlformats.org/drawingml/2006/main"/>
          <a:p xmlns:a="http://schemas.openxmlformats.org/drawingml/2006/main">
            <a:pPr algn="ctr">
              <a:defRPr sz="1500" b="1">
                <a:solidFill>
                  <a:srgbClr val="17202A"/>
                </a:solidFill>
                <a:latin typeface="Aptos"/>
                <a:ea typeface="Aptos"/>
                <a:cs typeface="Aptos"/>
              </a:defRPr>
            </a:pPr>
            <a:r>
              <a:rPr sz="1500" b="1">
                <a:solidFill>
                  <a:srgbClr val="17202A"/>
                </a:solidFill>
                <a:latin typeface="Aptos"/>
                <a:ea typeface="Aptos"/>
                <a:cs typeface="Aptos"/>
              </a:rPr>
              <a:t>Phản hồi</a:t>
            </a:r>
          </a:p>
        </p:txBody>
      </p:sp>
      <p:sp>
        <p:nvSpPr>
          <p:cNvPr id="23" name="">
            <a:extLst xmlns:a="http://schemas.openxmlformats.org/drawingml/2006/main">
              <a:ext uri="{FF2B5EF4-FFF2-40B4-BE49-F238E27FC236}">
                <a16:creationId xmlns:a16="http://schemas.microsoft.com/office/drawing/2014/main" id="{9626EA8D-8B22-4BAE-9F38-1A4221204EB1}"/>
              </a:ext>
            </a:extLst>
          </p:cNvPr>
          <p:cNvSpPr>
            <a:spLocks xmlns:a="http://schemas.openxmlformats.org/drawingml/2006/main" noGrp="1"/>
          </p:cNvSpPr>
          <p:nvPr/>
        </p:nvSpPr>
        <p:spPr>
          <a:xfrm xmlns:a="http://schemas.openxmlformats.org/drawingml/2006/main">
            <a:off x="6791325" y="3905250"/>
            <a:ext cx="2000250" cy="685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95250" rIns="114300" bIns="95250" anchor="ctr"/>
          <a:lstStyle xmlns:a="http://schemas.openxmlformats.org/drawingml/2006/main"/>
          <a:p xmlns:a="http://schemas.openxmlformats.org/drawingml/2006/main">
            <a:pPr algn="ctr">
              <a:defRPr sz="1125" b="0">
                <a:solidFill>
                  <a:srgbClr val="5F6770"/>
                </a:solidFill>
                <a:latin typeface="Aptos"/>
                <a:ea typeface="Aptos"/>
                <a:cs typeface="Aptos"/>
              </a:defRPr>
            </a:pPr>
            <a:r>
              <a:rPr sz="1125" b="0">
                <a:solidFill>
                  <a:srgbClr val="5F6770"/>
                </a:solidFill>
                <a:latin typeface="Aptos"/>
                <a:ea typeface="Aptos"/>
                <a:cs typeface="Aptos"/>
              </a:rPr>
              <a:t>Đánh giá sao,</a:t>
            </a:r>
          </a:p>
          <a:p xmlns:a="http://schemas.openxmlformats.org/drawingml/2006/main">
            <a:pPr algn="ctr">
              <a:defRPr sz="1125" b="0">
                <a:solidFill>
                  <a:srgbClr val="5F6770"/>
                </a:solidFill>
                <a:latin typeface="Aptos"/>
                <a:ea typeface="Aptos"/>
                <a:cs typeface="Aptos"/>
              </a:defRPr>
            </a:pPr>
            <a:r>
              <a:rPr sz="1125" b="0">
                <a:solidFill>
                  <a:srgbClr val="5F6770"/>
                </a:solidFill>
                <a:latin typeface="Aptos"/>
                <a:ea typeface="Aptos"/>
                <a:cs typeface="Aptos"/>
              </a:rPr>
              <a:t>ảnh review, lịch sử đơn</a:t>
            </a:r>
          </a:p>
        </p:txBody>
      </p:sp>
      <p:sp>
        <p:nvSpPr>
          <p:cNvPr id="24" name="">
            <a:extLst xmlns:a="http://schemas.openxmlformats.org/drawingml/2006/main">
              <a:ext uri="{FF2B5EF4-FFF2-40B4-BE49-F238E27FC236}">
                <a16:creationId xmlns:a16="http://schemas.microsoft.com/office/drawing/2014/main" id="{ADAD7B72-0DEB-4716-B960-2E8353FB869A}"/>
              </a:ext>
            </a:extLst>
          </p:cNvPr>
          <p:cNvSpPr>
            <a:spLocks xmlns:a="http://schemas.openxmlformats.org/drawingml/2006/main" noGrp="1"/>
          </p:cNvSpPr>
          <p:nvPr/>
        </p:nvSpPr>
        <p:spPr>
          <a:xfrm xmlns:a="http://schemas.openxmlformats.org/drawingml/2006/main">
            <a:off x="8124825" y="2914650"/>
            <a:ext cx="1552575" cy="28575"/>
          </a:xfrm>
          <a:prstGeom xmlns:a="http://schemas.openxmlformats.org/drawingml/2006/main" prst="rect">
            <a:avLst/>
          </a:prstGeom>
          <a:solidFill xmlns:a="http://schemas.openxmlformats.org/drawingml/2006/main">
            <a:srgbClr val="D8D4CB"/>
          </a:solidFill>
          <a:ln xmlns:a="http://schemas.openxmlformats.org/drawingml/2006/main" w="0">
            <a:solidFill>
              <a:srgbClr val="000000">
                <a:alpha val="0"/>
              </a:srgbClr>
            </a:solidFill>
            <a:prstDash val="solid"/>
          </a:ln>
        </p:spPr>
      </p:sp>
      <p:sp>
        <p:nvSpPr>
          <p:cNvPr id="25" name="">
            <a:extLst xmlns:a="http://schemas.openxmlformats.org/drawingml/2006/main">
              <a:ext uri="{FF2B5EF4-FFF2-40B4-BE49-F238E27FC236}">
                <a16:creationId xmlns:a16="http://schemas.microsoft.com/office/drawing/2014/main" id="{5584CB8D-9B7C-4E4A-A58E-9D38A48B97AC}"/>
              </a:ext>
            </a:extLst>
          </p:cNvPr>
          <p:cNvSpPr>
            <a:spLocks xmlns:a="http://schemas.openxmlformats.org/drawingml/2006/main" noGrp="1"/>
          </p:cNvSpPr>
          <p:nvPr/>
        </p:nvSpPr>
        <p:spPr>
          <a:xfrm xmlns:a="http://schemas.openxmlformats.org/drawingml/2006/main">
            <a:off x="9677400" y="2571750"/>
            <a:ext cx="685800" cy="685800"/>
          </a:xfrm>
          <a:prstGeom xmlns:a="http://schemas.openxmlformats.org/drawingml/2006/main" prst="rect">
            <a:avLst/>
          </a:prstGeom>
          <a:solidFill xmlns:a="http://schemas.openxmlformats.org/drawingml/2006/main">
            <a:srgbClr val="2F7D59"/>
          </a:solidFill>
          <a:ln xmlns:a="http://schemas.openxmlformats.org/drawingml/2006/main" w="0">
            <a:solidFill>
              <a:srgbClr val="000000">
                <a:alpha val="0"/>
              </a:srgbClr>
            </a:solidFill>
            <a:prstDash val="solid"/>
          </a:ln>
        </p:spPr>
      </p:sp>
      <p:sp>
        <p:nvSpPr>
          <p:cNvPr id="26" name="">
            <a:extLst xmlns:a="http://schemas.openxmlformats.org/drawingml/2006/main">
              <a:ext uri="{FF2B5EF4-FFF2-40B4-BE49-F238E27FC236}">
                <a16:creationId xmlns:a16="http://schemas.microsoft.com/office/drawing/2014/main" id="{60EBE247-85C6-47CD-B17E-63867C0BA3DF}"/>
              </a:ext>
            </a:extLst>
          </p:cNvPr>
          <p:cNvSpPr>
            <a:spLocks xmlns:a="http://schemas.openxmlformats.org/drawingml/2006/main" noGrp="1"/>
          </p:cNvSpPr>
          <p:nvPr/>
        </p:nvSpPr>
        <p:spPr>
          <a:xfrm xmlns:a="http://schemas.openxmlformats.org/drawingml/2006/main">
            <a:off x="9677400" y="2628900"/>
            <a:ext cx="685800" cy="571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95250" rIns="114300" bIns="95250" anchor="ctr"/>
          <a:lstStyle xmlns:a="http://schemas.openxmlformats.org/drawingml/2006/main"/>
          <a:p xmlns:a="http://schemas.openxmlformats.org/drawingml/2006/main">
            <a:pPr algn="ctr">
              <a:defRPr sz="2550" b="1">
                <a:solidFill>
                  <a:srgbClr val="FFFFFF"/>
                </a:solidFill>
                <a:latin typeface="Aptos"/>
                <a:ea typeface="Aptos"/>
                <a:cs typeface="Aptos"/>
              </a:defRPr>
            </a:pPr>
            <a:r>
              <a:rPr sz="2550" b="1">
                <a:solidFill>
                  <a:srgbClr val="FFFFFF"/>
                </a:solidFill>
                <a:latin typeface="Aptos"/>
                <a:ea typeface="Aptos"/>
                <a:cs typeface="Aptos"/>
              </a:rPr>
              <a:t>5</a:t>
            </a:r>
          </a:p>
        </p:txBody>
      </p:sp>
      <p:sp>
        <p:nvSpPr>
          <p:cNvPr id="27" name="">
            <a:extLst xmlns:a="http://schemas.openxmlformats.org/drawingml/2006/main">
              <a:ext uri="{FF2B5EF4-FFF2-40B4-BE49-F238E27FC236}">
                <a16:creationId xmlns:a16="http://schemas.microsoft.com/office/drawing/2014/main" id="{6C5614E1-EC7B-4F19-AA05-CD49DBDABC3A}"/>
              </a:ext>
            </a:extLst>
          </p:cNvPr>
          <p:cNvSpPr>
            <a:spLocks xmlns:a="http://schemas.openxmlformats.org/drawingml/2006/main" noGrp="1"/>
          </p:cNvSpPr>
          <p:nvPr/>
        </p:nvSpPr>
        <p:spPr>
          <a:xfrm xmlns:a="http://schemas.openxmlformats.org/drawingml/2006/main">
            <a:off x="9315450" y="3524250"/>
            <a:ext cx="14287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95250" rIns="114300" bIns="95250" anchor="ctr"/>
          <a:lstStyle xmlns:a="http://schemas.openxmlformats.org/drawingml/2006/main"/>
          <a:p xmlns:a="http://schemas.openxmlformats.org/drawingml/2006/main">
            <a:pPr algn="ctr">
              <a:defRPr sz="1500" b="1">
                <a:solidFill>
                  <a:srgbClr val="17202A"/>
                </a:solidFill>
                <a:latin typeface="Aptos"/>
                <a:ea typeface="Aptos"/>
                <a:cs typeface="Aptos"/>
              </a:defRPr>
            </a:pPr>
            <a:r>
              <a:rPr sz="1500" b="1">
                <a:solidFill>
                  <a:srgbClr val="17202A"/>
                </a:solidFill>
                <a:latin typeface="Aptos"/>
                <a:ea typeface="Aptos"/>
                <a:cs typeface="Aptos"/>
              </a:rPr>
              <a:t>Cá nhân hóa</a:t>
            </a:r>
          </a:p>
        </p:txBody>
      </p:sp>
      <p:sp>
        <p:nvSpPr>
          <p:cNvPr id="28" name="">
            <a:extLst xmlns:a="http://schemas.openxmlformats.org/drawingml/2006/main">
              <a:ext uri="{FF2B5EF4-FFF2-40B4-BE49-F238E27FC236}">
                <a16:creationId xmlns:a16="http://schemas.microsoft.com/office/drawing/2014/main" id="{F08378F5-06EE-4B31-AEFB-886B0E8C1418}"/>
              </a:ext>
            </a:extLst>
          </p:cNvPr>
          <p:cNvSpPr>
            <a:spLocks xmlns:a="http://schemas.openxmlformats.org/drawingml/2006/main" noGrp="1"/>
          </p:cNvSpPr>
          <p:nvPr/>
        </p:nvSpPr>
        <p:spPr>
          <a:xfrm xmlns:a="http://schemas.openxmlformats.org/drawingml/2006/main">
            <a:off x="9029700" y="3905250"/>
            <a:ext cx="2000250" cy="685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95250" rIns="114300" bIns="95250" anchor="ctr"/>
          <a:lstStyle xmlns:a="http://schemas.openxmlformats.org/drawingml/2006/main"/>
          <a:p xmlns:a="http://schemas.openxmlformats.org/drawingml/2006/main">
            <a:pPr algn="ctr">
              <a:defRPr sz="1125" b="0">
                <a:solidFill>
                  <a:srgbClr val="5F6770"/>
                </a:solidFill>
                <a:latin typeface="Aptos"/>
                <a:ea typeface="Aptos"/>
                <a:cs typeface="Aptos"/>
              </a:defRPr>
            </a:pPr>
            <a:r>
              <a:rPr sz="1125" b="0">
                <a:solidFill>
                  <a:srgbClr val="5F6770"/>
                </a:solidFill>
                <a:latin typeface="Aptos"/>
                <a:ea typeface="Aptos"/>
                <a:cs typeface="Aptos"/>
              </a:rPr>
              <a:t>Behavior logs cập nhật</a:t>
            </a:r>
          </a:p>
          <a:p xmlns:a="http://schemas.openxmlformats.org/drawingml/2006/main">
            <a:pPr algn="ctr">
              <a:defRPr sz="1125" b="0">
                <a:solidFill>
                  <a:srgbClr val="5F6770"/>
                </a:solidFill>
                <a:latin typeface="Aptos"/>
                <a:ea typeface="Aptos"/>
                <a:cs typeface="Aptos"/>
              </a:defRPr>
            </a:pPr>
            <a:r>
              <a:rPr sz="1125" b="0">
                <a:solidFill>
                  <a:srgbClr val="5F6770"/>
                </a:solidFill>
                <a:latin typeface="Aptos"/>
                <a:ea typeface="Aptos"/>
                <a:cs typeface="Aptos"/>
              </a:rPr>
              <a:t>recommendation tiếp theo</a:t>
            </a:r>
          </a:p>
        </p:txBody>
      </p:sp>
      <p:sp>
        <p:nvSpPr>
          <p:cNvPr id="29" name="">
            <a:extLst xmlns:a="http://schemas.openxmlformats.org/drawingml/2006/main">
              <a:ext uri="{FF2B5EF4-FFF2-40B4-BE49-F238E27FC236}">
                <a16:creationId xmlns:a16="http://schemas.microsoft.com/office/drawing/2014/main" id="{DA5770D4-578B-47A9-8B29-1EDE74C6032E}"/>
              </a:ext>
            </a:extLst>
          </p:cNvPr>
          <p:cNvSpPr>
            <a:spLocks xmlns:a="http://schemas.openxmlformats.org/drawingml/2006/main" noGrp="1"/>
          </p:cNvSpPr>
          <p:nvPr/>
        </p:nvSpPr>
        <p:spPr>
          <a:xfrm xmlns:a="http://schemas.openxmlformats.org/drawingml/2006/main">
            <a:off x="1476375" y="5238750"/>
            <a:ext cx="9239250" cy="476250"/>
          </a:xfrm>
          <a:prstGeom xmlns:a="http://schemas.openxmlformats.org/drawingml/2006/main" prst="rect">
            <a:avLst/>
          </a:prstGeom>
          <a:solidFill xmlns:a="http://schemas.openxmlformats.org/drawingml/2006/main">
            <a:srgbClr val="DDEBDD"/>
          </a:solidFill>
          <a:ln xmlns:a="http://schemas.openxmlformats.org/drawingml/2006/main" w="0">
            <a:solidFill>
              <a:srgbClr val="000000">
                <a:alpha val="0"/>
              </a:srgbClr>
            </a:solidFill>
            <a:prstDash val="solid"/>
          </a:ln>
        </p:spPr>
        <p:txBody>
          <a:bodyPr xmlns:a="http://schemas.openxmlformats.org/drawingml/2006/main" lIns="114300" tIns="95250" rIns="114300" bIns="95250" anchor="ctr"/>
          <a:lstStyle xmlns:a="http://schemas.openxmlformats.org/drawingml/2006/main"/>
          <a:p xmlns:a="http://schemas.openxmlformats.org/drawingml/2006/main">
            <a:pPr algn="ctr">
              <a:defRPr sz="1500" b="0">
                <a:solidFill>
                  <a:srgbClr val="17202A"/>
                </a:solidFill>
                <a:latin typeface="Aptos"/>
                <a:ea typeface="Aptos"/>
                <a:cs typeface="Aptos"/>
              </a:defRPr>
            </a:pPr>
            <a:r>
              <a:rPr sz="1500" b="0">
                <a:solidFill>
                  <a:srgbClr val="17202A"/>
                </a:solidFill>
                <a:latin typeface="Aptos"/>
                <a:ea typeface="Aptos"/>
                <a:cs typeface="Aptos"/>
              </a:rPr>
              <a:t>Mỗi hành động quan trọng như xem sản phẩm, thêm vào giỏ, mua hàng hoặc đánh giá đều có thể trở thành tín hiệu cho hệ thống gợi ý.</a:t>
            </a:r>
          </a:p>
        </p:txBody>
      </p:sp>
      <p:sp>
        <p:nvSpPr>
          <p:cNvPr id="30" name="">
            <a:extLst xmlns:a="http://schemas.openxmlformats.org/drawingml/2006/main">
              <a:ext uri="{FF2B5EF4-FFF2-40B4-BE49-F238E27FC236}">
                <a16:creationId xmlns:a16="http://schemas.microsoft.com/office/drawing/2014/main" id="{A516438C-C033-42C5-B232-8A8C6DD68D53}"/>
              </a:ext>
            </a:extLst>
          </p:cNvPr>
          <p:cNvSpPr>
            <a:spLocks xmlns:a="http://schemas.openxmlformats.org/drawingml/2006/main" noGrp="1"/>
          </p:cNvSpPr>
          <p:nvPr/>
        </p:nvSpPr>
        <p:spPr>
          <a:xfrm xmlns:a="http://schemas.openxmlformats.org/drawingml/2006/main">
            <a:off x="666750" y="6553200"/>
            <a:ext cx="7810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7A7470"/>
                </a:solidFill>
                <a:latin typeface="Aptos"/>
                <a:ea typeface="Aptos"/>
                <a:cs typeface="Aptos"/>
              </a:defRPr>
            </a:pPr>
            <a:r>
              <a:rPr sz="750" b="0">
                <a:solidFill>
                  <a:srgbClr val="7A7470"/>
                </a:solidFill>
                <a:latin typeface="Aptos"/>
                <a:ea typeface="Aptos"/>
                <a:cs typeface="Aptos"/>
              </a:rPr>
              <a:t>Nguồn: Báo cáo đồ án MyStore và mã nguồn dự án</a:t>
            </a:r>
          </a:p>
        </p:txBody>
      </p:sp>
      <p:sp>
        <p:nvSpPr>
          <p:cNvPr id="31" name="">
            <a:extLst xmlns:a="http://schemas.openxmlformats.org/drawingml/2006/main">
              <a:ext uri="{FF2B5EF4-FFF2-40B4-BE49-F238E27FC236}">
                <a16:creationId xmlns:a16="http://schemas.microsoft.com/office/drawing/2014/main" id="{1FD968F4-776D-4292-AB32-5C6DAAA54B7A}"/>
              </a:ext>
            </a:extLst>
          </p:cNvPr>
          <p:cNvSpPr>
            <a:spLocks xmlns:a="http://schemas.openxmlformats.org/drawingml/2006/main" noGrp="1"/>
          </p:cNvSpPr>
          <p:nvPr/>
        </p:nvSpPr>
        <p:spPr>
          <a:xfrm xmlns:a="http://schemas.openxmlformats.org/drawingml/2006/main">
            <a:off x="11239500" y="6515100"/>
            <a:ext cx="3810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825" b="1">
                <a:solidFill>
                  <a:srgbClr val="7A7470"/>
                </a:solidFill>
                <a:latin typeface="Aptos"/>
                <a:ea typeface="Aptos"/>
                <a:cs typeface="Aptos"/>
              </a:defRPr>
            </a:pPr>
            <a:r>
              <a:rPr sz="825" b="1">
                <a:solidFill>
                  <a:srgbClr val="7A7470"/>
                </a:solidFill>
                <a:latin typeface="Aptos"/>
                <a:ea typeface="Aptos"/>
                <a:cs typeface="Aptos"/>
              </a:rPr>
              <a:t>05</a:t>
            </a:r>
          </a:p>
        </p:txBody>
      </p:sp>
    </p:spTree>
    <p:extLst>
      <p:ext uri="{BB962C8B-B14F-4D97-AF65-F5344CB8AC3E}">
        <p14:creationId xmlns:p14="http://schemas.microsoft.com/office/powerpoint/2010/main" val="970408663"/>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97563EE8-6D73-4163-A33A-C196AC6D1F6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4EE"/>
          </a:solidFill>
          <a:ln xmlns:a="http://schemas.openxmlformats.org/drawingml/2006/main" w="0">
            <a:solidFill>
              <a:srgbClr val="000000">
                <a:alpha val="0"/>
              </a:srgbClr>
            </a:solidFill>
            <a:prstDash val="solid"/>
          </a:ln>
        </p:spPr>
      </p:sp>
      <p:sp>
        <p:nvSpPr>
          <p:cNvPr id="2" name="kicker-6-marker">
            <a:extLst xmlns:a="http://schemas.openxmlformats.org/drawingml/2006/main">
              <a:ext uri="{FF2B5EF4-FFF2-40B4-BE49-F238E27FC236}">
                <a16:creationId xmlns:a16="http://schemas.microsoft.com/office/drawing/2014/main" id="{D6568F28-9749-4006-AAC3-270E84044AA0}"/>
              </a:ext>
            </a:extLst>
          </p:cNvPr>
          <p:cNvSpPr>
            <a:spLocks xmlns:a="http://schemas.openxmlformats.org/drawingml/2006/main" noGrp="1"/>
          </p:cNvSpPr>
          <p:nvPr/>
        </p:nvSpPr>
        <p:spPr>
          <a:xfrm xmlns:a="http://schemas.openxmlformats.org/drawingml/2006/main">
            <a:off x="666750" y="542925"/>
            <a:ext cx="266700" cy="38100"/>
          </a:xfrm>
          <a:prstGeom xmlns:a="http://schemas.openxmlformats.org/drawingml/2006/main" prst="rect">
            <a:avLst/>
          </a:prstGeom>
          <a:solidFill xmlns:a="http://schemas.openxmlformats.org/drawingml/2006/main">
            <a:srgbClr val="C8952D"/>
          </a:solidFill>
          <a:ln xmlns:a="http://schemas.openxmlformats.org/drawingml/2006/main" w="0">
            <a:solidFill>
              <a:srgbClr val="000000">
                <a:alpha val="0"/>
              </a:srgbClr>
            </a:solidFill>
            <a:prstDash val="solid"/>
          </a:ln>
        </p:spPr>
      </p:sp>
      <p:sp>
        <p:nvSpPr>
          <p:cNvPr id="3" name="kicker-6-label">
            <a:extLst xmlns:a="http://schemas.openxmlformats.org/drawingml/2006/main">
              <a:ext uri="{FF2B5EF4-FFF2-40B4-BE49-F238E27FC236}">
                <a16:creationId xmlns:a16="http://schemas.microsoft.com/office/drawing/2014/main" id="{1036E4AA-EE59-4030-9FEB-DC3B79CD0A03}"/>
              </a:ext>
            </a:extLst>
          </p:cNvPr>
          <p:cNvSpPr>
            <a:spLocks xmlns:a="http://schemas.openxmlformats.org/drawingml/2006/main" noGrp="1"/>
          </p:cNvSpPr>
          <p:nvPr/>
        </p:nvSpPr>
        <p:spPr>
          <a:xfrm xmlns:a="http://schemas.openxmlformats.org/drawingml/2006/main">
            <a:off x="1066800" y="457200"/>
            <a:ext cx="31432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900" b="1">
                <a:solidFill>
                  <a:srgbClr val="C8952D"/>
                </a:solidFill>
                <a:latin typeface="Aptos"/>
                <a:ea typeface="Aptos"/>
                <a:cs typeface="Aptos"/>
              </a:defRPr>
            </a:pPr>
            <a:r>
              <a:rPr sz="900" b="1">
                <a:solidFill>
                  <a:srgbClr val="C8952D"/>
                </a:solidFill>
                <a:latin typeface="Aptos"/>
                <a:ea typeface="Aptos"/>
                <a:cs typeface="Aptos"/>
              </a:rPr>
              <a:t>SELLER/ADMIN</a:t>
            </a:r>
          </a:p>
        </p:txBody>
      </p:sp>
      <p:sp>
        <p:nvSpPr>
          <p:cNvPr id="4" name="">
            <a:extLst xmlns:a="http://schemas.openxmlformats.org/drawingml/2006/main">
              <a:ext uri="{FF2B5EF4-FFF2-40B4-BE49-F238E27FC236}">
                <a16:creationId xmlns:a16="http://schemas.microsoft.com/office/drawing/2014/main" id="{D3BF01CA-6C92-41D9-8BCE-A39ADFA677E1}"/>
              </a:ext>
            </a:extLst>
          </p:cNvPr>
          <p:cNvSpPr>
            <a:spLocks xmlns:a="http://schemas.openxmlformats.org/drawingml/2006/main" noGrp="1"/>
          </p:cNvSpPr>
          <p:nvPr/>
        </p:nvSpPr>
        <p:spPr>
          <a:xfrm xmlns:a="http://schemas.openxmlformats.org/drawingml/2006/main">
            <a:off x="666750" y="781050"/>
            <a:ext cx="8572500" cy="914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700" b="1">
                <a:solidFill>
                  <a:srgbClr val="17202A"/>
                </a:solidFill>
                <a:latin typeface="Aptos Display"/>
                <a:ea typeface="Aptos Display"/>
                <a:cs typeface="Aptos Display"/>
              </a:defRPr>
            </a:pPr>
            <a:r>
              <a:rPr sz="2700" b="1">
                <a:solidFill>
                  <a:srgbClr val="17202A"/>
                </a:solidFill>
                <a:latin typeface="Aptos Display"/>
                <a:ea typeface="Aptos Display"/>
                <a:cs typeface="Aptos Display"/>
              </a:rPr>
              <a:t>Khu vực seller biến MyStore thành hệ thống vận hành, không chỉ là storefront.</a:t>
            </a:r>
          </a:p>
        </p:txBody>
      </p:sp>
      <p:pic>
        <p:nvPicPr>
          <p:cNvPr id="5" name=""/>
          <p:cNvPicPr>
            <a:picLocks xmlns:a="http://schemas.openxmlformats.org/drawingml/2006/main" noChangeAspect="1"/>
          </p:cNvPicPr>
          <p:nvPr/>
        </p:nvPicPr>
        <p:blipFill>
          <a:blip xmlns:r="http://schemas.openxmlformats.org/officeDocument/2006/relationships" xmlns:a="http://schemas.openxmlformats.org/drawingml/2006/main" r:embed="Rf0b44b4784074fa9"/>
          <a:stretch xmlns:a="http://schemas.openxmlformats.org/drawingml/2006/main"/>
        </p:blipFill>
        <p:spPr>
          <a:xfrm xmlns:a="http://schemas.openxmlformats.org/drawingml/2006/main">
            <a:off x="7858125" y="2303859"/>
            <a:ext cx="2714625" cy="1583531"/>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FF450517-7498-4EC3-8D95-1ED62C26F141}"/>
              </a:ext>
            </a:extLst>
          </p:cNvPr>
          <p:cNvSpPr>
            <a:spLocks xmlns:a="http://schemas.openxmlformats.org/drawingml/2006/main" noGrp="1"/>
          </p:cNvSpPr>
          <p:nvPr/>
        </p:nvSpPr>
        <p:spPr>
          <a:xfrm xmlns:a="http://schemas.openxmlformats.org/drawingml/2006/main">
            <a:off x="809625" y="2095500"/>
            <a:ext cx="2857500" cy="1143000"/>
          </a:xfrm>
          <a:prstGeom xmlns:a="http://schemas.openxmlformats.org/drawingml/2006/main" prst="rect">
            <a:avLst/>
          </a:prstGeom>
          <a:solidFill xmlns:a="http://schemas.openxmlformats.org/drawingml/2006/main">
            <a:srgbClr val="FFFFFF"/>
          </a:solidFill>
          <a:ln xmlns:a="http://schemas.openxmlformats.org/drawingml/2006/main" w="9525">
            <a:solidFill>
              <a:srgbClr val="D8D4CB"/>
            </a:solidFill>
            <a:prstDash val="solid"/>
          </a:ln>
        </p:spPr>
      </p:sp>
      <p:sp>
        <p:nvSpPr>
          <p:cNvPr id="7" name="">
            <a:extLst xmlns:a="http://schemas.openxmlformats.org/drawingml/2006/main">
              <a:ext uri="{FF2B5EF4-FFF2-40B4-BE49-F238E27FC236}">
                <a16:creationId xmlns:a16="http://schemas.microsoft.com/office/drawing/2014/main" id="{FA8FF05C-6554-4A2A-9C35-DA1C11B9D2E5}"/>
              </a:ext>
            </a:extLst>
          </p:cNvPr>
          <p:cNvSpPr>
            <a:spLocks xmlns:a="http://schemas.openxmlformats.org/drawingml/2006/main" noGrp="1"/>
          </p:cNvSpPr>
          <p:nvPr/>
        </p:nvSpPr>
        <p:spPr>
          <a:xfrm xmlns:a="http://schemas.openxmlformats.org/drawingml/2006/main">
            <a:off x="809625" y="2095500"/>
            <a:ext cx="66675" cy="1143000"/>
          </a:xfrm>
          <a:prstGeom xmlns:a="http://schemas.openxmlformats.org/drawingml/2006/main" prst="rect">
            <a:avLst/>
          </a:prstGeom>
          <a:solidFill xmlns:a="http://schemas.openxmlformats.org/drawingml/2006/main">
            <a:srgbClr val="2F7D59"/>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69F8682F-6A90-4E32-8794-874809865729}"/>
              </a:ext>
            </a:extLst>
          </p:cNvPr>
          <p:cNvSpPr>
            <a:spLocks xmlns:a="http://schemas.openxmlformats.org/drawingml/2006/main" noGrp="1"/>
          </p:cNvSpPr>
          <p:nvPr/>
        </p:nvSpPr>
        <p:spPr>
          <a:xfrm xmlns:a="http://schemas.openxmlformats.org/drawingml/2006/main">
            <a:off x="962025" y="2190750"/>
            <a:ext cx="26289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2F7D59"/>
                </a:solidFill>
                <a:latin typeface="Aptos"/>
                <a:ea typeface="Aptos"/>
                <a:cs typeface="Aptos"/>
              </a:defRPr>
            </a:pPr>
            <a:r>
              <a:rPr sz="900" b="1">
                <a:solidFill>
                  <a:srgbClr val="2F7D59"/>
                </a:solidFill>
                <a:latin typeface="Aptos"/>
                <a:ea typeface="Aptos"/>
                <a:cs typeface="Aptos"/>
              </a:rPr>
              <a:t>Quản lý sản phẩm</a:t>
            </a:r>
          </a:p>
        </p:txBody>
      </p:sp>
      <p:sp>
        <p:nvSpPr>
          <p:cNvPr id="9" name="">
            <a:extLst xmlns:a="http://schemas.openxmlformats.org/drawingml/2006/main">
              <a:ext uri="{FF2B5EF4-FFF2-40B4-BE49-F238E27FC236}">
                <a16:creationId xmlns:a16="http://schemas.microsoft.com/office/drawing/2014/main" id="{47CB8ADE-1553-4CFD-AEC3-62E42908BDD5}"/>
              </a:ext>
            </a:extLst>
          </p:cNvPr>
          <p:cNvSpPr>
            <a:spLocks xmlns:a="http://schemas.openxmlformats.org/drawingml/2006/main" noGrp="1"/>
          </p:cNvSpPr>
          <p:nvPr/>
        </p:nvSpPr>
        <p:spPr>
          <a:xfrm xmlns:a="http://schemas.openxmlformats.org/drawingml/2006/main">
            <a:off x="923925" y="2457450"/>
            <a:ext cx="2628900" cy="723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17202A"/>
                </a:solidFill>
                <a:latin typeface="Aptos"/>
                <a:ea typeface="Aptos"/>
                <a:cs typeface="Aptos"/>
              </a:defRPr>
            </a:pPr>
            <a:r>
              <a:rPr sz="1200" b="0">
                <a:solidFill>
                  <a:srgbClr val="17202A"/>
                </a:solidFill>
                <a:latin typeface="Aptos"/>
                <a:ea typeface="Aptos"/>
                <a:cs typeface="Aptos"/>
              </a:rPr>
              <a:t>Thêm/sửa/xóa sản phẩm, upload ảnh, specs, tags, flash sale và trạng thái tồn kho.</a:t>
            </a:r>
          </a:p>
        </p:txBody>
      </p:sp>
      <p:sp>
        <p:nvSpPr>
          <p:cNvPr id="10" name="">
            <a:extLst xmlns:a="http://schemas.openxmlformats.org/drawingml/2006/main">
              <a:ext uri="{FF2B5EF4-FFF2-40B4-BE49-F238E27FC236}">
                <a16:creationId xmlns:a16="http://schemas.microsoft.com/office/drawing/2014/main" id="{CEA611CD-BCB7-450D-AED6-7CBD99C07FA2}"/>
              </a:ext>
            </a:extLst>
          </p:cNvPr>
          <p:cNvSpPr>
            <a:spLocks xmlns:a="http://schemas.openxmlformats.org/drawingml/2006/main" noGrp="1"/>
          </p:cNvSpPr>
          <p:nvPr/>
        </p:nvSpPr>
        <p:spPr>
          <a:xfrm xmlns:a="http://schemas.openxmlformats.org/drawingml/2006/main">
            <a:off x="4095750" y="2095500"/>
            <a:ext cx="2857500" cy="1143000"/>
          </a:xfrm>
          <a:prstGeom xmlns:a="http://schemas.openxmlformats.org/drawingml/2006/main" prst="rect">
            <a:avLst/>
          </a:prstGeom>
          <a:solidFill xmlns:a="http://schemas.openxmlformats.org/drawingml/2006/main">
            <a:srgbClr val="FFFFFF"/>
          </a:solidFill>
          <a:ln xmlns:a="http://schemas.openxmlformats.org/drawingml/2006/main" w="9525">
            <a:solidFill>
              <a:srgbClr val="D8D4CB"/>
            </a:solidFill>
            <a:prstDash val="solid"/>
          </a:ln>
        </p:spPr>
      </p:sp>
      <p:sp>
        <p:nvSpPr>
          <p:cNvPr id="11" name="">
            <a:extLst xmlns:a="http://schemas.openxmlformats.org/drawingml/2006/main">
              <a:ext uri="{FF2B5EF4-FFF2-40B4-BE49-F238E27FC236}">
                <a16:creationId xmlns:a16="http://schemas.microsoft.com/office/drawing/2014/main" id="{8B63DFF5-0D71-45C0-9F26-73CC01056374}"/>
              </a:ext>
            </a:extLst>
          </p:cNvPr>
          <p:cNvSpPr>
            <a:spLocks xmlns:a="http://schemas.openxmlformats.org/drawingml/2006/main" noGrp="1"/>
          </p:cNvSpPr>
          <p:nvPr/>
        </p:nvSpPr>
        <p:spPr>
          <a:xfrm xmlns:a="http://schemas.openxmlformats.org/drawingml/2006/main">
            <a:off x="4095750" y="2095500"/>
            <a:ext cx="66675" cy="1143000"/>
          </a:xfrm>
          <a:prstGeom xmlns:a="http://schemas.openxmlformats.org/drawingml/2006/main" prst="rect">
            <a:avLst/>
          </a:prstGeom>
          <a:solidFill xmlns:a="http://schemas.openxmlformats.org/drawingml/2006/main">
            <a:srgbClr val="3F6FA8"/>
          </a:solidFill>
          <a:ln xmlns:a="http://schemas.openxmlformats.org/drawingml/2006/main" w="0">
            <a:solidFill>
              <a:srgbClr val="000000">
                <a:alpha val="0"/>
              </a:srgbClr>
            </a:solidFill>
            <a:prstDash val="solid"/>
          </a:ln>
        </p:spPr>
      </p:sp>
      <p:sp>
        <p:nvSpPr>
          <p:cNvPr id="12" name="">
            <a:extLst xmlns:a="http://schemas.openxmlformats.org/drawingml/2006/main">
              <a:ext uri="{FF2B5EF4-FFF2-40B4-BE49-F238E27FC236}">
                <a16:creationId xmlns:a16="http://schemas.microsoft.com/office/drawing/2014/main" id="{6DD2E209-3E15-4675-892A-3C063A22B386}"/>
              </a:ext>
            </a:extLst>
          </p:cNvPr>
          <p:cNvSpPr>
            <a:spLocks xmlns:a="http://schemas.openxmlformats.org/drawingml/2006/main" noGrp="1"/>
          </p:cNvSpPr>
          <p:nvPr/>
        </p:nvSpPr>
        <p:spPr>
          <a:xfrm xmlns:a="http://schemas.openxmlformats.org/drawingml/2006/main">
            <a:off x="4248150" y="2190750"/>
            <a:ext cx="26289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3F6FA8"/>
                </a:solidFill>
                <a:latin typeface="Aptos"/>
                <a:ea typeface="Aptos"/>
                <a:cs typeface="Aptos"/>
              </a:defRPr>
            </a:pPr>
            <a:r>
              <a:rPr sz="900" b="1">
                <a:solidFill>
                  <a:srgbClr val="3F6FA8"/>
                </a:solidFill>
                <a:latin typeface="Aptos"/>
                <a:ea typeface="Aptos"/>
                <a:cs typeface="Aptos"/>
              </a:rPr>
              <a:t>Variant matrix</a:t>
            </a:r>
          </a:p>
        </p:txBody>
      </p:sp>
      <p:sp>
        <p:nvSpPr>
          <p:cNvPr id="13" name="">
            <a:extLst xmlns:a="http://schemas.openxmlformats.org/drawingml/2006/main">
              <a:ext uri="{FF2B5EF4-FFF2-40B4-BE49-F238E27FC236}">
                <a16:creationId xmlns:a16="http://schemas.microsoft.com/office/drawing/2014/main" id="{50F80773-6DE9-40DB-9BE5-F3A83F9301F2}"/>
              </a:ext>
            </a:extLst>
          </p:cNvPr>
          <p:cNvSpPr>
            <a:spLocks xmlns:a="http://schemas.openxmlformats.org/drawingml/2006/main" noGrp="1"/>
          </p:cNvSpPr>
          <p:nvPr/>
        </p:nvSpPr>
        <p:spPr>
          <a:xfrm xmlns:a="http://schemas.openxmlformats.org/drawingml/2006/main">
            <a:off x="4210050" y="2457450"/>
            <a:ext cx="2628900" cy="723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17202A"/>
                </a:solidFill>
                <a:latin typeface="Aptos"/>
                <a:ea typeface="Aptos"/>
                <a:cs typeface="Aptos"/>
              </a:defRPr>
            </a:pPr>
            <a:r>
              <a:rPr sz="1200" b="0">
                <a:solidFill>
                  <a:srgbClr val="17202A"/>
                </a:solidFill>
                <a:latin typeface="Aptos"/>
                <a:ea typeface="Aptos"/>
                <a:cs typeface="Aptos"/>
              </a:rPr>
              <a:t>Mỗi biến thể có SKU, thuộc tính, giá, tồn kho và ảnh riêng.</a:t>
            </a:r>
          </a:p>
        </p:txBody>
      </p:sp>
      <p:sp>
        <p:nvSpPr>
          <p:cNvPr id="14" name="">
            <a:extLst xmlns:a="http://schemas.openxmlformats.org/drawingml/2006/main">
              <a:ext uri="{FF2B5EF4-FFF2-40B4-BE49-F238E27FC236}">
                <a16:creationId xmlns:a16="http://schemas.microsoft.com/office/drawing/2014/main" id="{30206DD5-876E-4262-AEF3-CD3561CE062D}"/>
              </a:ext>
            </a:extLst>
          </p:cNvPr>
          <p:cNvSpPr>
            <a:spLocks xmlns:a="http://schemas.openxmlformats.org/drawingml/2006/main" noGrp="1"/>
          </p:cNvSpPr>
          <p:nvPr/>
        </p:nvSpPr>
        <p:spPr>
          <a:xfrm xmlns:a="http://schemas.openxmlformats.org/drawingml/2006/main">
            <a:off x="809625" y="3714750"/>
            <a:ext cx="2857500" cy="1143000"/>
          </a:xfrm>
          <a:prstGeom xmlns:a="http://schemas.openxmlformats.org/drawingml/2006/main" prst="rect">
            <a:avLst/>
          </a:prstGeom>
          <a:solidFill xmlns:a="http://schemas.openxmlformats.org/drawingml/2006/main">
            <a:srgbClr val="FFFFFF"/>
          </a:solidFill>
          <a:ln xmlns:a="http://schemas.openxmlformats.org/drawingml/2006/main" w="9525">
            <a:solidFill>
              <a:srgbClr val="D8D4CB"/>
            </a:solidFill>
            <a:prstDash val="solid"/>
          </a:ln>
        </p:spPr>
      </p:sp>
      <p:sp>
        <p:nvSpPr>
          <p:cNvPr id="15" name="">
            <a:extLst xmlns:a="http://schemas.openxmlformats.org/drawingml/2006/main">
              <a:ext uri="{FF2B5EF4-FFF2-40B4-BE49-F238E27FC236}">
                <a16:creationId xmlns:a16="http://schemas.microsoft.com/office/drawing/2014/main" id="{E396D685-A486-4C53-A174-4FEE38BC496F}"/>
              </a:ext>
            </a:extLst>
          </p:cNvPr>
          <p:cNvSpPr>
            <a:spLocks xmlns:a="http://schemas.openxmlformats.org/drawingml/2006/main" noGrp="1"/>
          </p:cNvSpPr>
          <p:nvPr/>
        </p:nvSpPr>
        <p:spPr>
          <a:xfrm xmlns:a="http://schemas.openxmlformats.org/drawingml/2006/main">
            <a:off x="809625" y="3714750"/>
            <a:ext cx="66675" cy="1143000"/>
          </a:xfrm>
          <a:prstGeom xmlns:a="http://schemas.openxmlformats.org/drawingml/2006/main" prst="rect">
            <a:avLst/>
          </a:prstGeom>
          <a:solidFill xmlns:a="http://schemas.openxmlformats.org/drawingml/2006/main">
            <a:srgbClr val="C8952D"/>
          </a:solidFill>
          <a:ln xmlns:a="http://schemas.openxmlformats.org/drawingml/2006/main" w="0">
            <a:solidFill>
              <a:srgbClr val="000000">
                <a:alpha val="0"/>
              </a:srgbClr>
            </a:solidFill>
            <a:prstDash val="solid"/>
          </a:ln>
        </p:spPr>
      </p:sp>
      <p:sp>
        <p:nvSpPr>
          <p:cNvPr id="16" name="">
            <a:extLst xmlns:a="http://schemas.openxmlformats.org/drawingml/2006/main">
              <a:ext uri="{FF2B5EF4-FFF2-40B4-BE49-F238E27FC236}">
                <a16:creationId xmlns:a16="http://schemas.microsoft.com/office/drawing/2014/main" id="{EC20F91F-452D-4385-AA4F-A4CE846E66E4}"/>
              </a:ext>
            </a:extLst>
          </p:cNvPr>
          <p:cNvSpPr>
            <a:spLocks xmlns:a="http://schemas.openxmlformats.org/drawingml/2006/main" noGrp="1"/>
          </p:cNvSpPr>
          <p:nvPr/>
        </p:nvSpPr>
        <p:spPr>
          <a:xfrm xmlns:a="http://schemas.openxmlformats.org/drawingml/2006/main">
            <a:off x="962025" y="3810000"/>
            <a:ext cx="26289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C8952D"/>
                </a:solidFill>
                <a:latin typeface="Aptos"/>
                <a:ea typeface="Aptos"/>
                <a:cs typeface="Aptos"/>
              </a:defRPr>
            </a:pPr>
            <a:r>
              <a:rPr sz="900" b="1">
                <a:solidFill>
                  <a:srgbClr val="C8952D"/>
                </a:solidFill>
                <a:latin typeface="Aptos"/>
                <a:ea typeface="Aptos"/>
                <a:cs typeface="Aptos"/>
              </a:rPr>
              <a:t>Danh mục &amp; thương hiệu</a:t>
            </a:r>
          </a:p>
        </p:txBody>
      </p:sp>
      <p:sp>
        <p:nvSpPr>
          <p:cNvPr id="17" name="">
            <a:extLst xmlns:a="http://schemas.openxmlformats.org/drawingml/2006/main">
              <a:ext uri="{FF2B5EF4-FFF2-40B4-BE49-F238E27FC236}">
                <a16:creationId xmlns:a16="http://schemas.microsoft.com/office/drawing/2014/main" id="{AA5D7415-001B-4251-87C4-81AC812E64D7}"/>
              </a:ext>
            </a:extLst>
          </p:cNvPr>
          <p:cNvSpPr>
            <a:spLocks xmlns:a="http://schemas.openxmlformats.org/drawingml/2006/main" noGrp="1"/>
          </p:cNvSpPr>
          <p:nvPr/>
        </p:nvSpPr>
        <p:spPr>
          <a:xfrm xmlns:a="http://schemas.openxmlformats.org/drawingml/2006/main">
            <a:off x="923925" y="4076700"/>
            <a:ext cx="2628900" cy="723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17202A"/>
                </a:solidFill>
                <a:latin typeface="Aptos"/>
                <a:ea typeface="Aptos"/>
                <a:cs typeface="Aptos"/>
              </a:defRPr>
            </a:pPr>
            <a:r>
              <a:rPr sz="1200" b="0">
                <a:solidFill>
                  <a:srgbClr val="17202A"/>
                </a:solidFill>
                <a:latin typeface="Aptos"/>
                <a:ea typeface="Aptos"/>
                <a:cs typeface="Aptos"/>
              </a:rPr>
              <a:t>Category đa cấp, auto slug, suggested attributes; CRUD brand.</a:t>
            </a:r>
          </a:p>
        </p:txBody>
      </p:sp>
      <p:sp>
        <p:nvSpPr>
          <p:cNvPr id="18" name="">
            <a:extLst xmlns:a="http://schemas.openxmlformats.org/drawingml/2006/main">
              <a:ext uri="{FF2B5EF4-FFF2-40B4-BE49-F238E27FC236}">
                <a16:creationId xmlns:a16="http://schemas.microsoft.com/office/drawing/2014/main" id="{7F044620-5BB5-4ED7-9FC7-9472EC912C02}"/>
              </a:ext>
            </a:extLst>
          </p:cNvPr>
          <p:cNvSpPr>
            <a:spLocks xmlns:a="http://schemas.openxmlformats.org/drawingml/2006/main" noGrp="1"/>
          </p:cNvSpPr>
          <p:nvPr/>
        </p:nvSpPr>
        <p:spPr>
          <a:xfrm xmlns:a="http://schemas.openxmlformats.org/drawingml/2006/main">
            <a:off x="4095750" y="3714750"/>
            <a:ext cx="2857500" cy="1143000"/>
          </a:xfrm>
          <a:prstGeom xmlns:a="http://schemas.openxmlformats.org/drawingml/2006/main" prst="rect">
            <a:avLst/>
          </a:prstGeom>
          <a:solidFill xmlns:a="http://schemas.openxmlformats.org/drawingml/2006/main">
            <a:srgbClr val="FFFFFF"/>
          </a:solidFill>
          <a:ln xmlns:a="http://schemas.openxmlformats.org/drawingml/2006/main" w="9525">
            <a:solidFill>
              <a:srgbClr val="D8D4CB"/>
            </a:solidFill>
            <a:prstDash val="solid"/>
          </a:ln>
        </p:spPr>
      </p:sp>
      <p:sp>
        <p:nvSpPr>
          <p:cNvPr id="19" name="">
            <a:extLst xmlns:a="http://schemas.openxmlformats.org/drawingml/2006/main">
              <a:ext uri="{FF2B5EF4-FFF2-40B4-BE49-F238E27FC236}">
                <a16:creationId xmlns:a16="http://schemas.microsoft.com/office/drawing/2014/main" id="{7CA45151-5616-4E21-B232-27B0F6F36C21}"/>
              </a:ext>
            </a:extLst>
          </p:cNvPr>
          <p:cNvSpPr>
            <a:spLocks xmlns:a="http://schemas.openxmlformats.org/drawingml/2006/main" noGrp="1"/>
          </p:cNvSpPr>
          <p:nvPr/>
        </p:nvSpPr>
        <p:spPr>
          <a:xfrm xmlns:a="http://schemas.openxmlformats.org/drawingml/2006/main">
            <a:off x="4095750" y="3714750"/>
            <a:ext cx="66675" cy="1143000"/>
          </a:xfrm>
          <a:prstGeom xmlns:a="http://schemas.openxmlformats.org/drawingml/2006/main" prst="rect">
            <a:avLst/>
          </a:prstGeom>
          <a:solidFill xmlns:a="http://schemas.openxmlformats.org/drawingml/2006/main">
            <a:srgbClr val="D96B4C"/>
          </a:solidFill>
          <a:ln xmlns:a="http://schemas.openxmlformats.org/drawingml/2006/main" w="0">
            <a:solidFill>
              <a:srgbClr val="000000">
                <a:alpha val="0"/>
              </a:srgbClr>
            </a:solidFill>
            <a:prstDash val="solid"/>
          </a:ln>
        </p:spPr>
      </p:sp>
      <p:sp>
        <p:nvSpPr>
          <p:cNvPr id="20" name="">
            <a:extLst xmlns:a="http://schemas.openxmlformats.org/drawingml/2006/main">
              <a:ext uri="{FF2B5EF4-FFF2-40B4-BE49-F238E27FC236}">
                <a16:creationId xmlns:a16="http://schemas.microsoft.com/office/drawing/2014/main" id="{2CFE0D6C-3583-4BF0-86DD-6E46C8CF4FF5}"/>
              </a:ext>
            </a:extLst>
          </p:cNvPr>
          <p:cNvSpPr>
            <a:spLocks xmlns:a="http://schemas.openxmlformats.org/drawingml/2006/main" noGrp="1"/>
          </p:cNvSpPr>
          <p:nvPr/>
        </p:nvSpPr>
        <p:spPr>
          <a:xfrm xmlns:a="http://schemas.openxmlformats.org/drawingml/2006/main">
            <a:off x="4248150" y="3810000"/>
            <a:ext cx="26289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D96B4C"/>
                </a:solidFill>
                <a:latin typeface="Aptos"/>
                <a:ea typeface="Aptos"/>
                <a:cs typeface="Aptos"/>
              </a:defRPr>
            </a:pPr>
            <a:r>
              <a:rPr sz="900" b="1">
                <a:solidFill>
                  <a:srgbClr val="D96B4C"/>
                </a:solidFill>
                <a:latin typeface="Aptos"/>
                <a:ea typeface="Aptos"/>
                <a:cs typeface="Aptos"/>
              </a:rPr>
              <a:t>Đơn hàng</a:t>
            </a:r>
          </a:p>
        </p:txBody>
      </p:sp>
      <p:sp>
        <p:nvSpPr>
          <p:cNvPr id="21" name="">
            <a:extLst xmlns:a="http://schemas.openxmlformats.org/drawingml/2006/main">
              <a:ext uri="{FF2B5EF4-FFF2-40B4-BE49-F238E27FC236}">
                <a16:creationId xmlns:a16="http://schemas.microsoft.com/office/drawing/2014/main" id="{06B5C1E6-DF7C-43F3-9FD6-E0D342823732}"/>
              </a:ext>
            </a:extLst>
          </p:cNvPr>
          <p:cNvSpPr>
            <a:spLocks xmlns:a="http://schemas.openxmlformats.org/drawingml/2006/main" noGrp="1"/>
          </p:cNvSpPr>
          <p:nvPr/>
        </p:nvSpPr>
        <p:spPr>
          <a:xfrm xmlns:a="http://schemas.openxmlformats.org/drawingml/2006/main">
            <a:off x="4210050" y="4076700"/>
            <a:ext cx="2628900" cy="723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17202A"/>
                </a:solidFill>
                <a:latin typeface="Aptos"/>
                <a:ea typeface="Aptos"/>
                <a:cs typeface="Aptos"/>
              </a:defRPr>
            </a:pPr>
            <a:r>
              <a:rPr sz="1200" b="0">
                <a:solidFill>
                  <a:srgbClr val="17202A"/>
                </a:solidFill>
                <a:latin typeface="Aptos"/>
                <a:ea typeface="Aptos"/>
                <a:cs typeface="Aptos"/>
              </a:rPr>
              <a:t>Theo dõi đơn hàng, trạng thái 5 bước và dữ liệu thanh toán COD/Stripe.</a:t>
            </a:r>
          </a:p>
        </p:txBody>
      </p:sp>
      <p:sp>
        <p:nvSpPr>
          <p:cNvPr id="22" name="">
            <a:extLst xmlns:a="http://schemas.openxmlformats.org/drawingml/2006/main">
              <a:ext uri="{FF2B5EF4-FFF2-40B4-BE49-F238E27FC236}">
                <a16:creationId xmlns:a16="http://schemas.microsoft.com/office/drawing/2014/main" id="{51A8AB76-9172-4B16-AF4D-2257923051AD}"/>
              </a:ext>
            </a:extLst>
          </p:cNvPr>
          <p:cNvSpPr>
            <a:spLocks xmlns:a="http://schemas.openxmlformats.org/drawingml/2006/main" noGrp="1"/>
          </p:cNvSpPr>
          <p:nvPr/>
        </p:nvSpPr>
        <p:spPr>
          <a:xfrm xmlns:a="http://schemas.openxmlformats.org/drawingml/2006/main">
            <a:off x="7524750" y="4572000"/>
            <a:ext cx="3524250" cy="762000"/>
          </a:xfrm>
          <a:prstGeom xmlns:a="http://schemas.openxmlformats.org/drawingml/2006/main" prst="rect">
            <a:avLst/>
          </a:prstGeom>
          <a:solidFill xmlns:a="http://schemas.openxmlformats.org/drawingml/2006/main">
            <a:srgbClr val="EFEAE1"/>
          </a:solidFill>
          <a:ln xmlns:a="http://schemas.openxmlformats.org/drawingml/2006/main" w="9525">
            <a:solidFill>
              <a:srgbClr val="D8D4CB"/>
            </a:solidFill>
            <a:prstDash val="solid"/>
          </a:ln>
        </p:spPr>
        <p:txBody>
          <a:bodyPr xmlns:a="http://schemas.openxmlformats.org/drawingml/2006/main" lIns="114300" tIns="95250" rIns="114300" bIns="95250" anchor="t"/>
          <a:lstStyle xmlns:a="http://schemas.openxmlformats.org/drawingml/2006/main"/>
          <a:p xmlns:a="http://schemas.openxmlformats.org/drawingml/2006/main">
            <a:pPr algn="l">
              <a:defRPr sz="1275" b="0">
                <a:solidFill>
                  <a:srgbClr val="17202A"/>
                </a:solidFill>
                <a:latin typeface="Aptos"/>
                <a:ea typeface="Aptos"/>
                <a:cs typeface="Aptos"/>
              </a:defRPr>
            </a:pPr>
            <a:r>
              <a:rPr sz="1275" b="0">
                <a:solidFill>
                  <a:srgbClr val="17202A"/>
                </a:solidFill>
                <a:latin typeface="Aptos"/>
                <a:ea typeface="Aptos"/>
                <a:cs typeface="Aptos"/>
              </a:rPr>
              <a:t>Điểm bảo vệ dữ liệu: chốt giá và snapshot địa chỉ tại thời điểm đặt hàng để lịch sử đơn không bị sai khi sản phẩm hoặc địa chỉ thay đổi.</a:t>
            </a:r>
          </a:p>
        </p:txBody>
      </p:sp>
      <p:sp>
        <p:nvSpPr>
          <p:cNvPr id="23" name="">
            <a:extLst xmlns:a="http://schemas.openxmlformats.org/drawingml/2006/main">
              <a:ext uri="{FF2B5EF4-FFF2-40B4-BE49-F238E27FC236}">
                <a16:creationId xmlns:a16="http://schemas.microsoft.com/office/drawing/2014/main" id="{38F58482-45FE-4DDE-AD00-EE406DF95944}"/>
              </a:ext>
            </a:extLst>
          </p:cNvPr>
          <p:cNvSpPr>
            <a:spLocks xmlns:a="http://schemas.openxmlformats.org/drawingml/2006/main" noGrp="1"/>
          </p:cNvSpPr>
          <p:nvPr/>
        </p:nvSpPr>
        <p:spPr>
          <a:xfrm xmlns:a="http://schemas.openxmlformats.org/drawingml/2006/main">
            <a:off x="666750" y="6553200"/>
            <a:ext cx="7810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7A7470"/>
                </a:solidFill>
                <a:latin typeface="Aptos"/>
                <a:ea typeface="Aptos"/>
                <a:cs typeface="Aptos"/>
              </a:defRPr>
            </a:pPr>
            <a:r>
              <a:rPr sz="750" b="0">
                <a:solidFill>
                  <a:srgbClr val="7A7470"/>
                </a:solidFill>
                <a:latin typeface="Aptos"/>
                <a:ea typeface="Aptos"/>
                <a:cs typeface="Aptos"/>
              </a:rPr>
              <a:t>Nguồn: Báo cáo đồ án MyStore và mã nguồn dự án</a:t>
            </a:r>
          </a:p>
        </p:txBody>
      </p:sp>
      <p:sp>
        <p:nvSpPr>
          <p:cNvPr id="24" name="">
            <a:extLst xmlns:a="http://schemas.openxmlformats.org/drawingml/2006/main">
              <a:ext uri="{FF2B5EF4-FFF2-40B4-BE49-F238E27FC236}">
                <a16:creationId xmlns:a16="http://schemas.microsoft.com/office/drawing/2014/main" id="{4A73304A-F56F-4875-A641-8BF54C0CFDC8}"/>
              </a:ext>
            </a:extLst>
          </p:cNvPr>
          <p:cNvSpPr>
            <a:spLocks xmlns:a="http://schemas.openxmlformats.org/drawingml/2006/main" noGrp="1"/>
          </p:cNvSpPr>
          <p:nvPr/>
        </p:nvSpPr>
        <p:spPr>
          <a:xfrm xmlns:a="http://schemas.openxmlformats.org/drawingml/2006/main">
            <a:off x="11239500" y="6515100"/>
            <a:ext cx="3810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825" b="1">
                <a:solidFill>
                  <a:srgbClr val="7A7470"/>
                </a:solidFill>
                <a:latin typeface="Aptos"/>
                <a:ea typeface="Aptos"/>
                <a:cs typeface="Aptos"/>
              </a:defRPr>
            </a:pPr>
            <a:r>
              <a:rPr sz="825" b="1">
                <a:solidFill>
                  <a:srgbClr val="7A7470"/>
                </a:solidFill>
                <a:latin typeface="Aptos"/>
                <a:ea typeface="Aptos"/>
                <a:cs typeface="Aptos"/>
              </a:rPr>
              <a:t>06</a:t>
            </a:r>
          </a:p>
        </p:txBody>
      </p:sp>
    </p:spTree>
    <p:extLst>
      <p:ext uri="{BB962C8B-B14F-4D97-AF65-F5344CB8AC3E}">
        <p14:creationId xmlns:p14="http://schemas.microsoft.com/office/powerpoint/2010/main" val="1674582835"/>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AADEB68B-90D2-45C5-812F-3A88D63C728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4EE"/>
          </a:solidFill>
          <a:ln xmlns:a="http://schemas.openxmlformats.org/drawingml/2006/main" w="0">
            <a:solidFill>
              <a:srgbClr val="000000">
                <a:alpha val="0"/>
              </a:srgbClr>
            </a:solidFill>
            <a:prstDash val="solid"/>
          </a:ln>
        </p:spPr>
      </p:sp>
      <p:sp>
        <p:nvSpPr>
          <p:cNvPr id="2" name="kicker-7-marker">
            <a:extLst xmlns:a="http://schemas.openxmlformats.org/drawingml/2006/main">
              <a:ext uri="{FF2B5EF4-FFF2-40B4-BE49-F238E27FC236}">
                <a16:creationId xmlns:a16="http://schemas.microsoft.com/office/drawing/2014/main" id="{57A2F86D-15C8-434E-92B8-4DDA5322ABBA}"/>
              </a:ext>
            </a:extLst>
          </p:cNvPr>
          <p:cNvSpPr>
            <a:spLocks xmlns:a="http://schemas.openxmlformats.org/drawingml/2006/main" noGrp="1"/>
          </p:cNvSpPr>
          <p:nvPr/>
        </p:nvSpPr>
        <p:spPr>
          <a:xfrm xmlns:a="http://schemas.openxmlformats.org/drawingml/2006/main">
            <a:off x="666750" y="542925"/>
            <a:ext cx="266700" cy="38100"/>
          </a:xfrm>
          <a:prstGeom xmlns:a="http://schemas.openxmlformats.org/drawingml/2006/main" prst="rect">
            <a:avLst/>
          </a:prstGeom>
          <a:solidFill xmlns:a="http://schemas.openxmlformats.org/drawingml/2006/main">
            <a:srgbClr val="3F6FA8"/>
          </a:solidFill>
          <a:ln xmlns:a="http://schemas.openxmlformats.org/drawingml/2006/main" w="0">
            <a:solidFill>
              <a:srgbClr val="000000">
                <a:alpha val="0"/>
              </a:srgbClr>
            </a:solidFill>
            <a:prstDash val="solid"/>
          </a:ln>
        </p:spPr>
      </p:sp>
      <p:sp>
        <p:nvSpPr>
          <p:cNvPr id="3" name="kicker-7-label">
            <a:extLst xmlns:a="http://schemas.openxmlformats.org/drawingml/2006/main">
              <a:ext uri="{FF2B5EF4-FFF2-40B4-BE49-F238E27FC236}">
                <a16:creationId xmlns:a16="http://schemas.microsoft.com/office/drawing/2014/main" id="{F7D470F2-C091-4973-89ED-1E5616D668ED}"/>
              </a:ext>
            </a:extLst>
          </p:cNvPr>
          <p:cNvSpPr>
            <a:spLocks xmlns:a="http://schemas.openxmlformats.org/drawingml/2006/main" noGrp="1"/>
          </p:cNvSpPr>
          <p:nvPr/>
        </p:nvSpPr>
        <p:spPr>
          <a:xfrm xmlns:a="http://schemas.openxmlformats.org/drawingml/2006/main">
            <a:off x="1066800" y="457200"/>
            <a:ext cx="31432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900" b="1">
                <a:solidFill>
                  <a:srgbClr val="3F6FA8"/>
                </a:solidFill>
                <a:latin typeface="Aptos"/>
                <a:ea typeface="Aptos"/>
                <a:cs typeface="Aptos"/>
              </a:defRPr>
            </a:pPr>
            <a:r>
              <a:rPr sz="900" b="1">
                <a:solidFill>
                  <a:srgbClr val="3F6FA8"/>
                </a:solidFill>
                <a:latin typeface="Aptos"/>
                <a:ea typeface="Aptos"/>
                <a:cs typeface="Aptos"/>
              </a:rPr>
              <a:t>CƠ SỞ DỮ LIỆU</a:t>
            </a:r>
          </a:p>
        </p:txBody>
      </p:sp>
      <p:sp>
        <p:nvSpPr>
          <p:cNvPr id="4" name="">
            <a:extLst xmlns:a="http://schemas.openxmlformats.org/drawingml/2006/main">
              <a:ext uri="{FF2B5EF4-FFF2-40B4-BE49-F238E27FC236}">
                <a16:creationId xmlns:a16="http://schemas.microsoft.com/office/drawing/2014/main" id="{D48D7A48-447E-41E9-987C-FA53F2D6C658}"/>
              </a:ext>
            </a:extLst>
          </p:cNvPr>
          <p:cNvSpPr>
            <a:spLocks xmlns:a="http://schemas.openxmlformats.org/drawingml/2006/main" noGrp="1"/>
          </p:cNvSpPr>
          <p:nvPr/>
        </p:nvSpPr>
        <p:spPr>
          <a:xfrm xmlns:a="http://schemas.openxmlformats.org/drawingml/2006/main">
            <a:off x="666750" y="781050"/>
            <a:ext cx="8191500" cy="914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850" b="1">
                <a:solidFill>
                  <a:srgbClr val="17202A"/>
                </a:solidFill>
                <a:latin typeface="Aptos Display"/>
                <a:ea typeface="Aptos Display"/>
                <a:cs typeface="Aptos Display"/>
              </a:defRPr>
            </a:pPr>
            <a:r>
              <a:rPr sz="2850" b="1">
                <a:solidFill>
                  <a:srgbClr val="17202A"/>
                </a:solidFill>
                <a:latin typeface="Aptos Display"/>
                <a:ea typeface="Aptos Display"/>
                <a:cs typeface="Aptos Display"/>
              </a:rPr>
              <a:t>Schema giữ song song dữ liệu giao dịch và tín hiệu cá nhân hóa.</a:t>
            </a:r>
          </a:p>
        </p:txBody>
      </p:sp>
      <p:sp>
        <p:nvSpPr>
          <p:cNvPr id="5" name="">
            <a:extLst xmlns:a="http://schemas.openxmlformats.org/drawingml/2006/main">
              <a:ext uri="{FF2B5EF4-FFF2-40B4-BE49-F238E27FC236}">
                <a16:creationId xmlns:a16="http://schemas.microsoft.com/office/drawing/2014/main" id="{DD3BCA4C-2E99-44AC-9195-8AD733755684}"/>
              </a:ext>
            </a:extLst>
          </p:cNvPr>
          <p:cNvSpPr>
            <a:spLocks xmlns:a="http://schemas.openxmlformats.org/drawingml/2006/main" noGrp="1"/>
          </p:cNvSpPr>
          <p:nvPr/>
        </p:nvSpPr>
        <p:spPr>
          <a:xfrm xmlns:a="http://schemas.openxmlformats.org/drawingml/2006/main">
            <a:off x="857250" y="2143125"/>
            <a:ext cx="1524000" cy="1143000"/>
          </a:xfrm>
          <a:prstGeom xmlns:a="http://schemas.openxmlformats.org/drawingml/2006/main" prst="rect">
            <a:avLst/>
          </a:prstGeom>
          <a:solidFill xmlns:a="http://schemas.openxmlformats.org/drawingml/2006/main">
            <a:srgbClr val="FFFFFF"/>
          </a:solidFill>
          <a:ln xmlns:a="http://schemas.openxmlformats.org/drawingml/2006/main" w="19050">
            <a:solidFill>
              <a:srgbClr val="2F7D59"/>
            </a:solidFill>
            <a:prstDash val="solid"/>
          </a:ln>
        </p:spPr>
      </p:sp>
      <p:sp>
        <p:nvSpPr>
          <p:cNvPr id="6" name="">
            <a:extLst xmlns:a="http://schemas.openxmlformats.org/drawingml/2006/main">
              <a:ext uri="{FF2B5EF4-FFF2-40B4-BE49-F238E27FC236}">
                <a16:creationId xmlns:a16="http://schemas.microsoft.com/office/drawing/2014/main" id="{366B23D8-C943-4972-B82E-BF0FB71E130C}"/>
              </a:ext>
            </a:extLst>
          </p:cNvPr>
          <p:cNvSpPr>
            <a:spLocks xmlns:a="http://schemas.openxmlformats.org/drawingml/2006/main" noGrp="1"/>
          </p:cNvSpPr>
          <p:nvPr/>
        </p:nvSpPr>
        <p:spPr>
          <a:xfrm xmlns:a="http://schemas.openxmlformats.org/drawingml/2006/main">
            <a:off x="857250" y="2143125"/>
            <a:ext cx="1524000" cy="285750"/>
          </a:xfrm>
          <a:prstGeom xmlns:a="http://schemas.openxmlformats.org/drawingml/2006/main" prst="rect">
            <a:avLst/>
          </a:prstGeom>
          <a:solidFill xmlns:a="http://schemas.openxmlformats.org/drawingml/2006/main">
            <a:srgbClr val="2F7D59"/>
          </a:solidFill>
          <a:ln xmlns:a="http://schemas.openxmlformats.org/drawingml/2006/main" w="0">
            <a:solidFill>
              <a:srgbClr val="000000">
                <a:alpha val="0"/>
              </a:srgbClr>
            </a:solidFill>
            <a:prstDash val="solid"/>
          </a:ln>
        </p:spPr>
        <p:txBody>
          <a:bodyPr xmlns:a="http://schemas.openxmlformats.org/drawingml/2006/main" lIns="114300" tIns="95250" rIns="114300" bIns="95250" anchor="ctr"/>
          <a:lstStyle xmlns:a="http://schemas.openxmlformats.org/drawingml/2006/main"/>
          <a:p xmlns:a="http://schemas.openxmlformats.org/drawingml/2006/main">
            <a:pPr algn="ctr">
              <a:defRPr sz="1125" b="1">
                <a:solidFill>
                  <a:srgbClr val="FFFFFF"/>
                </a:solidFill>
                <a:latin typeface="Aptos"/>
                <a:ea typeface="Aptos"/>
                <a:cs typeface="Aptos"/>
              </a:defRPr>
            </a:pPr>
            <a:r>
              <a:rPr sz="1125" b="1">
                <a:solidFill>
                  <a:srgbClr val="FFFFFF"/>
                </a:solidFill>
                <a:latin typeface="Aptos"/>
                <a:ea typeface="Aptos"/>
                <a:cs typeface="Aptos"/>
              </a:rPr>
              <a:t>users</a:t>
            </a:r>
          </a:p>
        </p:txBody>
      </p:sp>
      <p:sp>
        <p:nvSpPr>
          <p:cNvPr id="7" name="">
            <a:extLst xmlns:a="http://schemas.openxmlformats.org/drawingml/2006/main">
              <a:ext uri="{FF2B5EF4-FFF2-40B4-BE49-F238E27FC236}">
                <a16:creationId xmlns:a16="http://schemas.microsoft.com/office/drawing/2014/main" id="{7C5C7318-1D37-4082-9F14-9F0DDB03D43A}"/>
              </a:ext>
            </a:extLst>
          </p:cNvPr>
          <p:cNvSpPr>
            <a:spLocks xmlns:a="http://schemas.openxmlformats.org/drawingml/2006/main" noGrp="1"/>
          </p:cNvSpPr>
          <p:nvPr/>
        </p:nvSpPr>
        <p:spPr>
          <a:xfrm xmlns:a="http://schemas.openxmlformats.org/drawingml/2006/main">
            <a:off x="933450" y="2505075"/>
            <a:ext cx="1371600" cy="723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17202A"/>
                </a:solidFill>
                <a:latin typeface="Aptos"/>
                <a:ea typeface="Aptos"/>
                <a:cs typeface="Aptos"/>
              </a:defRPr>
            </a:pPr>
            <a:r>
              <a:rPr sz="900" b="0">
                <a:solidFill>
                  <a:srgbClr val="17202A"/>
                </a:solidFill>
                <a:latin typeface="Aptos"/>
                <a:ea typeface="Aptos"/>
                <a:cs typeface="Aptos"/>
              </a:rPr>
              <a:t>name</a:t>
            </a:r>
          </a:p>
          <a:p xmlns:a="http://schemas.openxmlformats.org/drawingml/2006/main">
            <a:pPr algn="l">
              <a:defRPr sz="900" b="0">
                <a:solidFill>
                  <a:srgbClr val="17202A"/>
                </a:solidFill>
                <a:latin typeface="Aptos"/>
                <a:ea typeface="Aptos"/>
                <a:cs typeface="Aptos"/>
              </a:defRPr>
            </a:pPr>
            <a:r>
              <a:rPr sz="900" b="0">
                <a:solidFill>
                  <a:srgbClr val="17202A"/>
                </a:solidFill>
                <a:latin typeface="Aptos"/>
                <a:ea typeface="Aptos"/>
                <a:cs typeface="Aptos"/>
              </a:rPr>
              <a:t>email</a:t>
            </a:r>
          </a:p>
          <a:p xmlns:a="http://schemas.openxmlformats.org/drawingml/2006/main">
            <a:pPr algn="l">
              <a:defRPr sz="900" b="0">
                <a:solidFill>
                  <a:srgbClr val="17202A"/>
                </a:solidFill>
                <a:latin typeface="Aptos"/>
                <a:ea typeface="Aptos"/>
                <a:cs typeface="Aptos"/>
              </a:defRPr>
            </a:pPr>
            <a:r>
              <a:rPr sz="900" b="0">
                <a:solidFill>
                  <a:srgbClr val="17202A"/>
                </a:solidFill>
                <a:latin typeface="Aptos"/>
                <a:ea typeface="Aptos"/>
                <a:cs typeface="Aptos"/>
              </a:rPr>
              <a:t>password</a:t>
            </a:r>
          </a:p>
          <a:p xmlns:a="http://schemas.openxmlformats.org/drawingml/2006/main">
            <a:pPr algn="l">
              <a:defRPr sz="900" b="0">
                <a:solidFill>
                  <a:srgbClr val="17202A"/>
                </a:solidFill>
                <a:latin typeface="Aptos"/>
                <a:ea typeface="Aptos"/>
                <a:cs typeface="Aptos"/>
              </a:defRPr>
            </a:pPr>
            <a:r>
              <a:rPr sz="900" b="0">
                <a:solidFill>
                  <a:srgbClr val="17202A"/>
                </a:solidFill>
                <a:latin typeface="Aptos"/>
                <a:ea typeface="Aptos"/>
                <a:cs typeface="Aptos"/>
              </a:rPr>
              <a:t>role</a:t>
            </a:r>
          </a:p>
          <a:p xmlns:a="http://schemas.openxmlformats.org/drawingml/2006/main">
            <a:pPr algn="l">
              <a:defRPr sz="900" b="0">
                <a:solidFill>
                  <a:srgbClr val="17202A"/>
                </a:solidFill>
                <a:latin typeface="Aptos"/>
                <a:ea typeface="Aptos"/>
                <a:cs typeface="Aptos"/>
              </a:defRPr>
            </a:pPr>
            <a:r>
              <a:rPr sz="900" b="0">
                <a:solidFill>
                  <a:srgbClr val="17202A"/>
                </a:solidFill>
                <a:latin typeface="Aptos"/>
                <a:ea typeface="Aptos"/>
                <a:cs typeface="Aptos"/>
              </a:rPr>
              <a:t>cartItems</a:t>
            </a:r>
          </a:p>
        </p:txBody>
      </p:sp>
      <p:sp>
        <p:nvSpPr>
          <p:cNvPr id="8" name="">
            <a:extLst xmlns:a="http://schemas.openxmlformats.org/drawingml/2006/main">
              <a:ext uri="{FF2B5EF4-FFF2-40B4-BE49-F238E27FC236}">
                <a16:creationId xmlns:a16="http://schemas.microsoft.com/office/drawing/2014/main" id="{1A162454-D93A-49E1-9EF0-34F1A29141A8}"/>
              </a:ext>
            </a:extLst>
          </p:cNvPr>
          <p:cNvSpPr>
            <a:spLocks xmlns:a="http://schemas.openxmlformats.org/drawingml/2006/main" noGrp="1"/>
          </p:cNvSpPr>
          <p:nvPr/>
        </p:nvSpPr>
        <p:spPr>
          <a:xfrm xmlns:a="http://schemas.openxmlformats.org/drawingml/2006/main">
            <a:off x="3143250" y="1952625"/>
            <a:ext cx="1809750" cy="1524000"/>
          </a:xfrm>
          <a:prstGeom xmlns:a="http://schemas.openxmlformats.org/drawingml/2006/main" prst="rect">
            <a:avLst/>
          </a:prstGeom>
          <a:solidFill xmlns:a="http://schemas.openxmlformats.org/drawingml/2006/main">
            <a:srgbClr val="FFFFFF"/>
          </a:solidFill>
          <a:ln xmlns:a="http://schemas.openxmlformats.org/drawingml/2006/main" w="19050">
            <a:solidFill>
              <a:srgbClr val="3F6FA8"/>
            </a:solidFill>
            <a:prstDash val="solid"/>
          </a:ln>
        </p:spPr>
      </p:sp>
      <p:sp>
        <p:nvSpPr>
          <p:cNvPr id="9" name="">
            <a:extLst xmlns:a="http://schemas.openxmlformats.org/drawingml/2006/main">
              <a:ext uri="{FF2B5EF4-FFF2-40B4-BE49-F238E27FC236}">
                <a16:creationId xmlns:a16="http://schemas.microsoft.com/office/drawing/2014/main" id="{1E504729-A504-41EB-B456-B68F50BDBCF7}"/>
              </a:ext>
            </a:extLst>
          </p:cNvPr>
          <p:cNvSpPr>
            <a:spLocks xmlns:a="http://schemas.openxmlformats.org/drawingml/2006/main" noGrp="1"/>
          </p:cNvSpPr>
          <p:nvPr/>
        </p:nvSpPr>
        <p:spPr>
          <a:xfrm xmlns:a="http://schemas.openxmlformats.org/drawingml/2006/main">
            <a:off x="3143250" y="1952625"/>
            <a:ext cx="1809750" cy="285750"/>
          </a:xfrm>
          <a:prstGeom xmlns:a="http://schemas.openxmlformats.org/drawingml/2006/main" prst="rect">
            <a:avLst/>
          </a:prstGeom>
          <a:solidFill xmlns:a="http://schemas.openxmlformats.org/drawingml/2006/main">
            <a:srgbClr val="3F6FA8"/>
          </a:solidFill>
          <a:ln xmlns:a="http://schemas.openxmlformats.org/drawingml/2006/main" w="0">
            <a:solidFill>
              <a:srgbClr val="000000">
                <a:alpha val="0"/>
              </a:srgbClr>
            </a:solidFill>
            <a:prstDash val="solid"/>
          </a:ln>
        </p:spPr>
        <p:txBody>
          <a:bodyPr xmlns:a="http://schemas.openxmlformats.org/drawingml/2006/main" lIns="114300" tIns="95250" rIns="114300" bIns="95250" anchor="ctr"/>
          <a:lstStyle xmlns:a="http://schemas.openxmlformats.org/drawingml/2006/main"/>
          <a:p xmlns:a="http://schemas.openxmlformats.org/drawingml/2006/main">
            <a:pPr algn="ctr">
              <a:defRPr sz="1125" b="1">
                <a:solidFill>
                  <a:srgbClr val="FFFFFF"/>
                </a:solidFill>
                <a:latin typeface="Aptos"/>
                <a:ea typeface="Aptos"/>
                <a:cs typeface="Aptos"/>
              </a:defRPr>
            </a:pPr>
            <a:r>
              <a:rPr sz="1125" b="1">
                <a:solidFill>
                  <a:srgbClr val="FFFFFF"/>
                </a:solidFill>
                <a:latin typeface="Aptos"/>
                <a:ea typeface="Aptos"/>
                <a:cs typeface="Aptos"/>
              </a:rPr>
              <a:t>products</a:t>
            </a:r>
          </a:p>
        </p:txBody>
      </p:sp>
      <p:sp>
        <p:nvSpPr>
          <p:cNvPr id="10" name="">
            <a:extLst xmlns:a="http://schemas.openxmlformats.org/drawingml/2006/main">
              <a:ext uri="{FF2B5EF4-FFF2-40B4-BE49-F238E27FC236}">
                <a16:creationId xmlns:a16="http://schemas.microsoft.com/office/drawing/2014/main" id="{9F70E7CD-38E1-49EB-8F5E-459E8FBCA882}"/>
              </a:ext>
            </a:extLst>
          </p:cNvPr>
          <p:cNvSpPr>
            <a:spLocks xmlns:a="http://schemas.openxmlformats.org/drawingml/2006/main" noGrp="1"/>
          </p:cNvSpPr>
          <p:nvPr/>
        </p:nvSpPr>
        <p:spPr>
          <a:xfrm xmlns:a="http://schemas.openxmlformats.org/drawingml/2006/main">
            <a:off x="3219450" y="2314575"/>
            <a:ext cx="1657350" cy="1104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17202A"/>
                </a:solidFill>
                <a:latin typeface="Aptos"/>
                <a:ea typeface="Aptos"/>
                <a:cs typeface="Aptos"/>
              </a:defRPr>
            </a:pPr>
            <a:r>
              <a:rPr sz="900" b="0">
                <a:solidFill>
                  <a:srgbClr val="17202A"/>
                </a:solidFill>
                <a:latin typeface="Aptos"/>
                <a:ea typeface="Aptos"/>
                <a:cs typeface="Aptos"/>
              </a:rPr>
              <a:t>name, description</a:t>
            </a:r>
          </a:p>
          <a:p xmlns:a="http://schemas.openxmlformats.org/drawingml/2006/main">
            <a:pPr algn="l">
              <a:defRPr sz="900" b="0">
                <a:solidFill>
                  <a:srgbClr val="17202A"/>
                </a:solidFill>
                <a:latin typeface="Aptos"/>
                <a:ea typeface="Aptos"/>
                <a:cs typeface="Aptos"/>
              </a:defRPr>
            </a:pPr>
            <a:r>
              <a:rPr sz="900" b="0">
                <a:solidFill>
                  <a:srgbClr val="17202A"/>
                </a:solidFill>
                <a:latin typeface="Aptos"/>
                <a:ea typeface="Aptos"/>
                <a:cs typeface="Aptos"/>
              </a:rPr>
              <a:t>category, brand</a:t>
            </a:r>
          </a:p>
          <a:p xmlns:a="http://schemas.openxmlformats.org/drawingml/2006/main">
            <a:pPr algn="l">
              <a:defRPr sz="900" b="0">
                <a:solidFill>
                  <a:srgbClr val="17202A"/>
                </a:solidFill>
                <a:latin typeface="Aptos"/>
                <a:ea typeface="Aptos"/>
                <a:cs typeface="Aptos"/>
              </a:defRPr>
            </a:pPr>
            <a:r>
              <a:rPr sz="900" b="0">
                <a:solidFill>
                  <a:srgbClr val="17202A"/>
                </a:solidFill>
                <a:latin typeface="Aptos"/>
                <a:ea typeface="Aptos"/>
                <a:cs typeface="Aptos"/>
              </a:rPr>
              <a:t>variants[]</a:t>
            </a:r>
          </a:p>
          <a:p xmlns:a="http://schemas.openxmlformats.org/drawingml/2006/main">
            <a:pPr algn="l">
              <a:defRPr sz="900" b="0">
                <a:solidFill>
                  <a:srgbClr val="17202A"/>
                </a:solidFill>
                <a:latin typeface="Aptos"/>
                <a:ea typeface="Aptos"/>
                <a:cs typeface="Aptos"/>
              </a:defRPr>
            </a:pPr>
            <a:r>
              <a:rPr sz="900" b="0">
                <a:solidFill>
                  <a:srgbClr val="17202A"/>
                </a:solidFill>
                <a:latin typeface="Aptos"/>
                <a:ea typeface="Aptos"/>
                <a:cs typeface="Aptos"/>
              </a:rPr>
              <a:t>specs{}, tags[]</a:t>
            </a:r>
          </a:p>
          <a:p xmlns:a="http://schemas.openxmlformats.org/drawingml/2006/main">
            <a:pPr algn="l">
              <a:defRPr sz="900" b="0">
                <a:solidFill>
                  <a:srgbClr val="17202A"/>
                </a:solidFill>
                <a:latin typeface="Aptos"/>
                <a:ea typeface="Aptos"/>
                <a:cs typeface="Aptos"/>
              </a:defRPr>
            </a:pPr>
            <a:r>
              <a:rPr sz="900" b="0">
                <a:solidFill>
                  <a:srgbClr val="17202A"/>
                </a:solidFill>
                <a:latin typeface="Aptos"/>
                <a:ea typeface="Aptos"/>
                <a:cs typeface="Aptos"/>
              </a:rPr>
              <a:t>avgRating</a:t>
            </a:r>
          </a:p>
        </p:txBody>
      </p:sp>
      <p:sp>
        <p:nvSpPr>
          <p:cNvPr id="11" name="">
            <a:extLst xmlns:a="http://schemas.openxmlformats.org/drawingml/2006/main">
              <a:ext uri="{FF2B5EF4-FFF2-40B4-BE49-F238E27FC236}">
                <a16:creationId xmlns:a16="http://schemas.microsoft.com/office/drawing/2014/main" id="{848474C7-56D2-4EDC-852C-5DCFBCBDA344}"/>
              </a:ext>
            </a:extLst>
          </p:cNvPr>
          <p:cNvSpPr>
            <a:spLocks xmlns:a="http://schemas.openxmlformats.org/drawingml/2006/main" noGrp="1"/>
          </p:cNvSpPr>
          <p:nvPr/>
        </p:nvSpPr>
        <p:spPr>
          <a:xfrm xmlns:a="http://schemas.openxmlformats.org/drawingml/2006/main">
            <a:off x="5810250" y="2143125"/>
            <a:ext cx="1714500" cy="1143000"/>
          </a:xfrm>
          <a:prstGeom xmlns:a="http://schemas.openxmlformats.org/drawingml/2006/main" prst="rect">
            <a:avLst/>
          </a:prstGeom>
          <a:solidFill xmlns:a="http://schemas.openxmlformats.org/drawingml/2006/main">
            <a:srgbClr val="FFFFFF"/>
          </a:solidFill>
          <a:ln xmlns:a="http://schemas.openxmlformats.org/drawingml/2006/main" w="19050">
            <a:solidFill>
              <a:srgbClr val="C8952D"/>
            </a:solidFill>
            <a:prstDash val="solid"/>
          </a:ln>
        </p:spPr>
      </p:sp>
      <p:sp>
        <p:nvSpPr>
          <p:cNvPr id="12" name="">
            <a:extLst xmlns:a="http://schemas.openxmlformats.org/drawingml/2006/main">
              <a:ext uri="{FF2B5EF4-FFF2-40B4-BE49-F238E27FC236}">
                <a16:creationId xmlns:a16="http://schemas.microsoft.com/office/drawing/2014/main" id="{74C35AC9-051E-42AD-9F4F-1437B1775475}"/>
              </a:ext>
            </a:extLst>
          </p:cNvPr>
          <p:cNvSpPr>
            <a:spLocks xmlns:a="http://schemas.openxmlformats.org/drawingml/2006/main" noGrp="1"/>
          </p:cNvSpPr>
          <p:nvPr/>
        </p:nvSpPr>
        <p:spPr>
          <a:xfrm xmlns:a="http://schemas.openxmlformats.org/drawingml/2006/main">
            <a:off x="5810250" y="2143125"/>
            <a:ext cx="1714500" cy="285750"/>
          </a:xfrm>
          <a:prstGeom xmlns:a="http://schemas.openxmlformats.org/drawingml/2006/main" prst="rect">
            <a:avLst/>
          </a:prstGeom>
          <a:solidFill xmlns:a="http://schemas.openxmlformats.org/drawingml/2006/main">
            <a:srgbClr val="C8952D"/>
          </a:solidFill>
          <a:ln xmlns:a="http://schemas.openxmlformats.org/drawingml/2006/main" w="0">
            <a:solidFill>
              <a:srgbClr val="000000">
                <a:alpha val="0"/>
              </a:srgbClr>
            </a:solidFill>
            <a:prstDash val="solid"/>
          </a:ln>
        </p:spPr>
        <p:txBody>
          <a:bodyPr xmlns:a="http://schemas.openxmlformats.org/drawingml/2006/main" lIns="114300" tIns="95250" rIns="114300" bIns="95250" anchor="ctr"/>
          <a:lstStyle xmlns:a="http://schemas.openxmlformats.org/drawingml/2006/main"/>
          <a:p xmlns:a="http://schemas.openxmlformats.org/drawingml/2006/main">
            <a:pPr algn="ctr">
              <a:defRPr sz="1125" b="1">
                <a:solidFill>
                  <a:srgbClr val="FFFFFF"/>
                </a:solidFill>
                <a:latin typeface="Aptos"/>
                <a:ea typeface="Aptos"/>
                <a:cs typeface="Aptos"/>
              </a:defRPr>
            </a:pPr>
            <a:r>
              <a:rPr sz="1125" b="1">
                <a:solidFill>
                  <a:srgbClr val="FFFFFF"/>
                </a:solidFill>
                <a:latin typeface="Aptos"/>
                <a:ea typeface="Aptos"/>
                <a:cs typeface="Aptos"/>
              </a:rPr>
              <a:t>orders</a:t>
            </a:r>
          </a:p>
        </p:txBody>
      </p:sp>
      <p:sp>
        <p:nvSpPr>
          <p:cNvPr id="13" name="">
            <a:extLst xmlns:a="http://schemas.openxmlformats.org/drawingml/2006/main">
              <a:ext uri="{FF2B5EF4-FFF2-40B4-BE49-F238E27FC236}">
                <a16:creationId xmlns:a16="http://schemas.microsoft.com/office/drawing/2014/main" id="{3B1F7CF0-C143-45A5-B71F-1D93EED0D057}"/>
              </a:ext>
            </a:extLst>
          </p:cNvPr>
          <p:cNvSpPr>
            <a:spLocks xmlns:a="http://schemas.openxmlformats.org/drawingml/2006/main" noGrp="1"/>
          </p:cNvSpPr>
          <p:nvPr/>
        </p:nvSpPr>
        <p:spPr>
          <a:xfrm xmlns:a="http://schemas.openxmlformats.org/drawingml/2006/main">
            <a:off x="5886450" y="2505075"/>
            <a:ext cx="1562100" cy="723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17202A"/>
                </a:solidFill>
                <a:latin typeface="Aptos"/>
                <a:ea typeface="Aptos"/>
                <a:cs typeface="Aptos"/>
              </a:defRPr>
            </a:pPr>
            <a:r>
              <a:rPr sz="900" b="0">
                <a:solidFill>
                  <a:srgbClr val="17202A"/>
                </a:solidFill>
                <a:latin typeface="Aptos"/>
                <a:ea typeface="Aptos"/>
                <a:cs typeface="Aptos"/>
              </a:rPr>
              <a:t>userId</a:t>
            </a:r>
          </a:p>
          <a:p xmlns:a="http://schemas.openxmlformats.org/drawingml/2006/main">
            <a:pPr algn="l">
              <a:defRPr sz="900" b="0">
                <a:solidFill>
                  <a:srgbClr val="17202A"/>
                </a:solidFill>
                <a:latin typeface="Aptos"/>
                <a:ea typeface="Aptos"/>
                <a:cs typeface="Aptos"/>
              </a:defRPr>
            </a:pPr>
            <a:r>
              <a:rPr sz="900" b="0">
                <a:solidFill>
                  <a:srgbClr val="17202A"/>
                </a:solidFill>
                <a:latin typeface="Aptos"/>
                <a:ea typeface="Aptos"/>
                <a:cs typeface="Aptos"/>
              </a:rPr>
              <a:t>items[]</a:t>
            </a:r>
          </a:p>
          <a:p xmlns:a="http://schemas.openxmlformats.org/drawingml/2006/main">
            <a:pPr algn="l">
              <a:defRPr sz="900" b="0">
                <a:solidFill>
                  <a:srgbClr val="17202A"/>
                </a:solidFill>
                <a:latin typeface="Aptos"/>
                <a:ea typeface="Aptos"/>
                <a:cs typeface="Aptos"/>
              </a:defRPr>
            </a:pPr>
            <a:r>
              <a:rPr sz="900" b="0">
                <a:solidFill>
                  <a:srgbClr val="17202A"/>
                </a:solidFill>
                <a:latin typeface="Aptos"/>
                <a:ea typeface="Aptos"/>
                <a:cs typeface="Aptos"/>
              </a:rPr>
              <a:t>amount</a:t>
            </a:r>
          </a:p>
          <a:p xmlns:a="http://schemas.openxmlformats.org/drawingml/2006/main">
            <a:pPr algn="l">
              <a:defRPr sz="900" b="0">
                <a:solidFill>
                  <a:srgbClr val="17202A"/>
                </a:solidFill>
                <a:latin typeface="Aptos"/>
                <a:ea typeface="Aptos"/>
                <a:cs typeface="Aptos"/>
              </a:defRPr>
            </a:pPr>
            <a:r>
              <a:rPr sz="900" b="0">
                <a:solidFill>
                  <a:srgbClr val="17202A"/>
                </a:solidFill>
                <a:latin typeface="Aptos"/>
                <a:ea typeface="Aptos"/>
                <a:cs typeface="Aptos"/>
              </a:rPr>
              <a:t>status</a:t>
            </a:r>
          </a:p>
          <a:p xmlns:a="http://schemas.openxmlformats.org/drawingml/2006/main">
            <a:pPr algn="l">
              <a:defRPr sz="900" b="0">
                <a:solidFill>
                  <a:srgbClr val="17202A"/>
                </a:solidFill>
                <a:latin typeface="Aptos"/>
                <a:ea typeface="Aptos"/>
                <a:cs typeface="Aptos"/>
              </a:defRPr>
            </a:pPr>
            <a:r>
              <a:rPr sz="900" b="0">
                <a:solidFill>
                  <a:srgbClr val="17202A"/>
                </a:solidFill>
                <a:latin typeface="Aptos"/>
                <a:ea typeface="Aptos"/>
                <a:cs typeface="Aptos"/>
              </a:rPr>
              <a:t>paymentType</a:t>
            </a:r>
          </a:p>
        </p:txBody>
      </p:sp>
      <p:sp>
        <p:nvSpPr>
          <p:cNvPr id="14" name="">
            <a:extLst xmlns:a="http://schemas.openxmlformats.org/drawingml/2006/main">
              <a:ext uri="{FF2B5EF4-FFF2-40B4-BE49-F238E27FC236}">
                <a16:creationId xmlns:a16="http://schemas.microsoft.com/office/drawing/2014/main" id="{1E95DD28-0410-46A9-8764-027AF8B7D014}"/>
              </a:ext>
            </a:extLst>
          </p:cNvPr>
          <p:cNvSpPr>
            <a:spLocks xmlns:a="http://schemas.openxmlformats.org/drawingml/2006/main" noGrp="1"/>
          </p:cNvSpPr>
          <p:nvPr/>
        </p:nvSpPr>
        <p:spPr>
          <a:xfrm xmlns:a="http://schemas.openxmlformats.org/drawingml/2006/main">
            <a:off x="8477250" y="1952625"/>
            <a:ext cx="1809750" cy="1524000"/>
          </a:xfrm>
          <a:prstGeom xmlns:a="http://schemas.openxmlformats.org/drawingml/2006/main" prst="rect">
            <a:avLst/>
          </a:prstGeom>
          <a:solidFill xmlns:a="http://schemas.openxmlformats.org/drawingml/2006/main">
            <a:srgbClr val="FFFFFF"/>
          </a:solidFill>
          <a:ln xmlns:a="http://schemas.openxmlformats.org/drawingml/2006/main" w="19050">
            <a:solidFill>
              <a:srgbClr val="D96B4C"/>
            </a:solidFill>
            <a:prstDash val="solid"/>
          </a:ln>
        </p:spPr>
      </p:sp>
      <p:sp>
        <p:nvSpPr>
          <p:cNvPr id="15" name="">
            <a:extLst xmlns:a="http://schemas.openxmlformats.org/drawingml/2006/main">
              <a:ext uri="{FF2B5EF4-FFF2-40B4-BE49-F238E27FC236}">
                <a16:creationId xmlns:a16="http://schemas.microsoft.com/office/drawing/2014/main" id="{5AC88B38-951E-4C19-9B13-89E33B1310B5}"/>
              </a:ext>
            </a:extLst>
          </p:cNvPr>
          <p:cNvSpPr>
            <a:spLocks xmlns:a="http://schemas.openxmlformats.org/drawingml/2006/main" noGrp="1"/>
          </p:cNvSpPr>
          <p:nvPr/>
        </p:nvSpPr>
        <p:spPr>
          <a:xfrm xmlns:a="http://schemas.openxmlformats.org/drawingml/2006/main">
            <a:off x="8477250" y="1952625"/>
            <a:ext cx="1809750" cy="285750"/>
          </a:xfrm>
          <a:prstGeom xmlns:a="http://schemas.openxmlformats.org/drawingml/2006/main" prst="rect">
            <a:avLst/>
          </a:prstGeom>
          <a:solidFill xmlns:a="http://schemas.openxmlformats.org/drawingml/2006/main">
            <a:srgbClr val="D96B4C"/>
          </a:solidFill>
          <a:ln xmlns:a="http://schemas.openxmlformats.org/drawingml/2006/main" w="0">
            <a:solidFill>
              <a:srgbClr val="000000">
                <a:alpha val="0"/>
              </a:srgbClr>
            </a:solidFill>
            <a:prstDash val="solid"/>
          </a:ln>
        </p:spPr>
        <p:txBody>
          <a:bodyPr xmlns:a="http://schemas.openxmlformats.org/drawingml/2006/main" lIns="114300" tIns="95250" rIns="114300" bIns="95250" anchor="ctr"/>
          <a:lstStyle xmlns:a="http://schemas.openxmlformats.org/drawingml/2006/main"/>
          <a:p xmlns:a="http://schemas.openxmlformats.org/drawingml/2006/main">
            <a:pPr algn="ctr">
              <a:defRPr sz="1125" b="1">
                <a:solidFill>
                  <a:srgbClr val="FFFFFF"/>
                </a:solidFill>
                <a:latin typeface="Aptos"/>
                <a:ea typeface="Aptos"/>
                <a:cs typeface="Aptos"/>
              </a:defRPr>
            </a:pPr>
            <a:r>
              <a:rPr sz="1125" b="1">
                <a:solidFill>
                  <a:srgbClr val="FFFFFF"/>
                </a:solidFill>
                <a:latin typeface="Aptos"/>
                <a:ea typeface="Aptos"/>
                <a:cs typeface="Aptos"/>
              </a:rPr>
              <a:t>userbehaviors</a:t>
            </a:r>
          </a:p>
        </p:txBody>
      </p:sp>
      <p:sp>
        <p:nvSpPr>
          <p:cNvPr id="16" name="">
            <a:extLst xmlns:a="http://schemas.openxmlformats.org/drawingml/2006/main">
              <a:ext uri="{FF2B5EF4-FFF2-40B4-BE49-F238E27FC236}">
                <a16:creationId xmlns:a16="http://schemas.microsoft.com/office/drawing/2014/main" id="{EFF24C14-26B6-44EC-A77D-92117002A9D4}"/>
              </a:ext>
            </a:extLst>
          </p:cNvPr>
          <p:cNvSpPr>
            <a:spLocks xmlns:a="http://schemas.openxmlformats.org/drawingml/2006/main" noGrp="1"/>
          </p:cNvSpPr>
          <p:nvPr/>
        </p:nvSpPr>
        <p:spPr>
          <a:xfrm xmlns:a="http://schemas.openxmlformats.org/drawingml/2006/main">
            <a:off x="8553450" y="2314575"/>
            <a:ext cx="1657350" cy="1104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17202A"/>
                </a:solidFill>
                <a:latin typeface="Aptos"/>
                <a:ea typeface="Aptos"/>
                <a:cs typeface="Aptos"/>
              </a:defRPr>
            </a:pPr>
            <a:r>
              <a:rPr sz="900" b="0">
                <a:solidFill>
                  <a:srgbClr val="17202A"/>
                </a:solidFill>
                <a:latin typeface="Aptos"/>
                <a:ea typeface="Aptos"/>
                <a:cs typeface="Aptos"/>
              </a:rPr>
              <a:t>userId</a:t>
            </a:r>
          </a:p>
          <a:p xmlns:a="http://schemas.openxmlformats.org/drawingml/2006/main">
            <a:pPr algn="l">
              <a:defRPr sz="900" b="0">
                <a:solidFill>
                  <a:srgbClr val="17202A"/>
                </a:solidFill>
                <a:latin typeface="Aptos"/>
                <a:ea typeface="Aptos"/>
                <a:cs typeface="Aptos"/>
              </a:defRPr>
            </a:pPr>
            <a:r>
              <a:rPr sz="900" b="0">
                <a:solidFill>
                  <a:srgbClr val="17202A"/>
                </a:solidFill>
                <a:latin typeface="Aptos"/>
                <a:ea typeface="Aptos"/>
                <a:cs typeface="Aptos"/>
              </a:rPr>
              <a:t>productId</a:t>
            </a:r>
          </a:p>
          <a:p xmlns:a="http://schemas.openxmlformats.org/drawingml/2006/main">
            <a:pPr algn="l">
              <a:defRPr sz="900" b="0">
                <a:solidFill>
                  <a:srgbClr val="17202A"/>
                </a:solidFill>
                <a:latin typeface="Aptos"/>
                <a:ea typeface="Aptos"/>
                <a:cs typeface="Aptos"/>
              </a:defRPr>
            </a:pPr>
            <a:r>
              <a:rPr sz="900" b="0">
                <a:solidFill>
                  <a:srgbClr val="17202A"/>
                </a:solidFill>
                <a:latin typeface="Aptos"/>
                <a:ea typeface="Aptos"/>
                <a:cs typeface="Aptos"/>
              </a:rPr>
              <a:t>eventType</a:t>
            </a:r>
          </a:p>
          <a:p xmlns:a="http://schemas.openxmlformats.org/drawingml/2006/main">
            <a:pPr algn="l">
              <a:defRPr sz="900" b="0">
                <a:solidFill>
                  <a:srgbClr val="17202A"/>
                </a:solidFill>
                <a:latin typeface="Aptos"/>
                <a:ea typeface="Aptos"/>
                <a:cs typeface="Aptos"/>
              </a:defRPr>
            </a:pPr>
            <a:r>
              <a:rPr sz="900" b="0">
                <a:solidFill>
                  <a:srgbClr val="17202A"/>
                </a:solidFill>
                <a:latin typeface="Aptos"/>
                <a:ea typeface="Aptos"/>
                <a:cs typeface="Aptos"/>
              </a:rPr>
              <a:t>weight</a:t>
            </a:r>
          </a:p>
          <a:p xmlns:a="http://schemas.openxmlformats.org/drawingml/2006/main">
            <a:pPr algn="l">
              <a:defRPr sz="900" b="0">
                <a:solidFill>
                  <a:srgbClr val="17202A"/>
                </a:solidFill>
                <a:latin typeface="Aptos"/>
                <a:ea typeface="Aptos"/>
                <a:cs typeface="Aptos"/>
              </a:defRPr>
            </a:pPr>
            <a:r>
              <a:rPr sz="900" b="0">
                <a:solidFill>
                  <a:srgbClr val="17202A"/>
                </a:solidFill>
                <a:latin typeface="Aptos"/>
                <a:ea typeface="Aptos"/>
                <a:cs typeface="Aptos"/>
              </a:rPr>
              <a:t>metadata</a:t>
            </a:r>
          </a:p>
        </p:txBody>
      </p:sp>
      <p:sp>
        <p:nvSpPr>
          <p:cNvPr id="17" name="">
            <a:extLst xmlns:a="http://schemas.openxmlformats.org/drawingml/2006/main">
              <a:ext uri="{FF2B5EF4-FFF2-40B4-BE49-F238E27FC236}">
                <a16:creationId xmlns:a16="http://schemas.microsoft.com/office/drawing/2014/main" id="{D390BCC3-D11D-4119-B3D2-02FB2F559D15}"/>
              </a:ext>
            </a:extLst>
          </p:cNvPr>
          <p:cNvSpPr>
            <a:spLocks xmlns:a="http://schemas.openxmlformats.org/drawingml/2006/main" noGrp="1"/>
          </p:cNvSpPr>
          <p:nvPr/>
        </p:nvSpPr>
        <p:spPr>
          <a:xfrm xmlns:a="http://schemas.openxmlformats.org/drawingml/2006/main">
            <a:off x="1809750" y="4238625"/>
            <a:ext cx="1524000" cy="1000125"/>
          </a:xfrm>
          <a:prstGeom xmlns:a="http://schemas.openxmlformats.org/drawingml/2006/main" prst="rect">
            <a:avLst/>
          </a:prstGeom>
          <a:solidFill xmlns:a="http://schemas.openxmlformats.org/drawingml/2006/main">
            <a:srgbClr val="FFFFFF"/>
          </a:solidFill>
          <a:ln xmlns:a="http://schemas.openxmlformats.org/drawingml/2006/main" w="19050">
            <a:solidFill>
              <a:srgbClr val="D96B4C"/>
            </a:solidFill>
            <a:prstDash val="solid"/>
          </a:ln>
        </p:spPr>
      </p:sp>
      <p:sp>
        <p:nvSpPr>
          <p:cNvPr id="18" name="">
            <a:extLst xmlns:a="http://schemas.openxmlformats.org/drawingml/2006/main">
              <a:ext uri="{FF2B5EF4-FFF2-40B4-BE49-F238E27FC236}">
                <a16:creationId xmlns:a16="http://schemas.microsoft.com/office/drawing/2014/main" id="{BFD73D5E-E163-4A83-8CD1-EBE15EFA32CB}"/>
              </a:ext>
            </a:extLst>
          </p:cNvPr>
          <p:cNvSpPr>
            <a:spLocks xmlns:a="http://schemas.openxmlformats.org/drawingml/2006/main" noGrp="1"/>
          </p:cNvSpPr>
          <p:nvPr/>
        </p:nvSpPr>
        <p:spPr>
          <a:xfrm xmlns:a="http://schemas.openxmlformats.org/drawingml/2006/main">
            <a:off x="1809750" y="4238625"/>
            <a:ext cx="1524000" cy="285750"/>
          </a:xfrm>
          <a:prstGeom xmlns:a="http://schemas.openxmlformats.org/drawingml/2006/main" prst="rect">
            <a:avLst/>
          </a:prstGeom>
          <a:solidFill xmlns:a="http://schemas.openxmlformats.org/drawingml/2006/main">
            <a:srgbClr val="D96B4C"/>
          </a:solidFill>
          <a:ln xmlns:a="http://schemas.openxmlformats.org/drawingml/2006/main" w="0">
            <a:solidFill>
              <a:srgbClr val="000000">
                <a:alpha val="0"/>
              </a:srgbClr>
            </a:solidFill>
            <a:prstDash val="solid"/>
          </a:ln>
        </p:spPr>
        <p:txBody>
          <a:bodyPr xmlns:a="http://schemas.openxmlformats.org/drawingml/2006/main" lIns="114300" tIns="95250" rIns="114300" bIns="95250" anchor="ctr"/>
          <a:lstStyle xmlns:a="http://schemas.openxmlformats.org/drawingml/2006/main"/>
          <a:p xmlns:a="http://schemas.openxmlformats.org/drawingml/2006/main">
            <a:pPr algn="ctr">
              <a:defRPr sz="1125" b="1">
                <a:solidFill>
                  <a:srgbClr val="FFFFFF"/>
                </a:solidFill>
                <a:latin typeface="Aptos"/>
                <a:ea typeface="Aptos"/>
                <a:cs typeface="Aptos"/>
              </a:defRPr>
            </a:pPr>
            <a:r>
              <a:rPr sz="1125" b="1">
                <a:solidFill>
                  <a:srgbClr val="FFFFFF"/>
                </a:solidFill>
                <a:latin typeface="Aptos"/>
                <a:ea typeface="Aptos"/>
                <a:cs typeface="Aptos"/>
              </a:rPr>
              <a:t>reviews</a:t>
            </a:r>
          </a:p>
        </p:txBody>
      </p:sp>
      <p:sp>
        <p:nvSpPr>
          <p:cNvPr id="19" name="">
            <a:extLst xmlns:a="http://schemas.openxmlformats.org/drawingml/2006/main">
              <a:ext uri="{FF2B5EF4-FFF2-40B4-BE49-F238E27FC236}">
                <a16:creationId xmlns:a16="http://schemas.microsoft.com/office/drawing/2014/main" id="{7C6614F8-9AA5-4C5D-AAC5-C56CCBCA7D32}"/>
              </a:ext>
            </a:extLst>
          </p:cNvPr>
          <p:cNvSpPr>
            <a:spLocks xmlns:a="http://schemas.openxmlformats.org/drawingml/2006/main" noGrp="1"/>
          </p:cNvSpPr>
          <p:nvPr/>
        </p:nvSpPr>
        <p:spPr>
          <a:xfrm xmlns:a="http://schemas.openxmlformats.org/drawingml/2006/main">
            <a:off x="1885950" y="4600575"/>
            <a:ext cx="1371600" cy="5810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17202A"/>
                </a:solidFill>
                <a:latin typeface="Aptos"/>
                <a:ea typeface="Aptos"/>
                <a:cs typeface="Aptos"/>
              </a:defRPr>
            </a:pPr>
            <a:r>
              <a:rPr sz="900" b="0">
                <a:solidFill>
                  <a:srgbClr val="17202A"/>
                </a:solidFill>
                <a:latin typeface="Aptos"/>
                <a:ea typeface="Aptos"/>
                <a:cs typeface="Aptos"/>
              </a:rPr>
              <a:t>userId</a:t>
            </a:r>
          </a:p>
          <a:p xmlns:a="http://schemas.openxmlformats.org/drawingml/2006/main">
            <a:pPr algn="l">
              <a:defRPr sz="900" b="0">
                <a:solidFill>
                  <a:srgbClr val="17202A"/>
                </a:solidFill>
                <a:latin typeface="Aptos"/>
                <a:ea typeface="Aptos"/>
                <a:cs typeface="Aptos"/>
              </a:defRPr>
            </a:pPr>
            <a:r>
              <a:rPr sz="900" b="0">
                <a:solidFill>
                  <a:srgbClr val="17202A"/>
                </a:solidFill>
                <a:latin typeface="Aptos"/>
                <a:ea typeface="Aptos"/>
                <a:cs typeface="Aptos"/>
              </a:rPr>
              <a:t>productId</a:t>
            </a:r>
          </a:p>
          <a:p xmlns:a="http://schemas.openxmlformats.org/drawingml/2006/main">
            <a:pPr algn="l">
              <a:defRPr sz="900" b="0">
                <a:solidFill>
                  <a:srgbClr val="17202A"/>
                </a:solidFill>
                <a:latin typeface="Aptos"/>
                <a:ea typeface="Aptos"/>
                <a:cs typeface="Aptos"/>
              </a:defRPr>
            </a:pPr>
            <a:r>
              <a:rPr sz="900" b="0">
                <a:solidFill>
                  <a:srgbClr val="17202A"/>
                </a:solidFill>
                <a:latin typeface="Aptos"/>
                <a:ea typeface="Aptos"/>
                <a:cs typeface="Aptos"/>
              </a:rPr>
              <a:t>rating</a:t>
            </a:r>
          </a:p>
          <a:p xmlns:a="http://schemas.openxmlformats.org/drawingml/2006/main">
            <a:pPr algn="l">
              <a:defRPr sz="900" b="0">
                <a:solidFill>
                  <a:srgbClr val="17202A"/>
                </a:solidFill>
                <a:latin typeface="Aptos"/>
                <a:ea typeface="Aptos"/>
                <a:cs typeface="Aptos"/>
              </a:defRPr>
            </a:pPr>
            <a:r>
              <a:rPr sz="900" b="0">
                <a:solidFill>
                  <a:srgbClr val="17202A"/>
                </a:solidFill>
                <a:latin typeface="Aptos"/>
                <a:ea typeface="Aptos"/>
                <a:cs typeface="Aptos"/>
              </a:rPr>
              <a:t>comment</a:t>
            </a:r>
          </a:p>
          <a:p xmlns:a="http://schemas.openxmlformats.org/drawingml/2006/main">
            <a:pPr algn="l">
              <a:defRPr sz="900" b="0">
                <a:solidFill>
                  <a:srgbClr val="17202A"/>
                </a:solidFill>
                <a:latin typeface="Aptos"/>
                <a:ea typeface="Aptos"/>
                <a:cs typeface="Aptos"/>
              </a:defRPr>
            </a:pPr>
            <a:r>
              <a:rPr sz="900" b="0">
                <a:solidFill>
                  <a:srgbClr val="17202A"/>
                </a:solidFill>
                <a:latin typeface="Aptos"/>
                <a:ea typeface="Aptos"/>
                <a:cs typeface="Aptos"/>
              </a:rPr>
              <a:t>images[]</a:t>
            </a:r>
          </a:p>
        </p:txBody>
      </p:sp>
      <p:sp>
        <p:nvSpPr>
          <p:cNvPr id="20" name="">
            <a:extLst xmlns:a="http://schemas.openxmlformats.org/drawingml/2006/main">
              <a:ext uri="{FF2B5EF4-FFF2-40B4-BE49-F238E27FC236}">
                <a16:creationId xmlns:a16="http://schemas.microsoft.com/office/drawing/2014/main" id="{09FF44E4-8162-4BC2-A96B-848C5649B840}"/>
              </a:ext>
            </a:extLst>
          </p:cNvPr>
          <p:cNvSpPr>
            <a:spLocks xmlns:a="http://schemas.openxmlformats.org/drawingml/2006/main" noGrp="1"/>
          </p:cNvSpPr>
          <p:nvPr/>
        </p:nvSpPr>
        <p:spPr>
          <a:xfrm xmlns:a="http://schemas.openxmlformats.org/drawingml/2006/main">
            <a:off x="4333875" y="4238625"/>
            <a:ext cx="1524000" cy="1000125"/>
          </a:xfrm>
          <a:prstGeom xmlns:a="http://schemas.openxmlformats.org/drawingml/2006/main" prst="rect">
            <a:avLst/>
          </a:prstGeom>
          <a:solidFill xmlns:a="http://schemas.openxmlformats.org/drawingml/2006/main">
            <a:srgbClr val="FFFFFF"/>
          </a:solidFill>
          <a:ln xmlns:a="http://schemas.openxmlformats.org/drawingml/2006/main" w="19050">
            <a:solidFill>
              <a:srgbClr val="2F7D59"/>
            </a:solidFill>
            <a:prstDash val="solid"/>
          </a:ln>
        </p:spPr>
      </p:sp>
      <p:sp>
        <p:nvSpPr>
          <p:cNvPr id="21" name="">
            <a:extLst xmlns:a="http://schemas.openxmlformats.org/drawingml/2006/main">
              <a:ext uri="{FF2B5EF4-FFF2-40B4-BE49-F238E27FC236}">
                <a16:creationId xmlns:a16="http://schemas.microsoft.com/office/drawing/2014/main" id="{4D0C6F60-E9DC-4133-8A86-30307FF6B021}"/>
              </a:ext>
            </a:extLst>
          </p:cNvPr>
          <p:cNvSpPr>
            <a:spLocks xmlns:a="http://schemas.openxmlformats.org/drawingml/2006/main" noGrp="1"/>
          </p:cNvSpPr>
          <p:nvPr/>
        </p:nvSpPr>
        <p:spPr>
          <a:xfrm xmlns:a="http://schemas.openxmlformats.org/drawingml/2006/main">
            <a:off x="4333875" y="4238625"/>
            <a:ext cx="1524000" cy="285750"/>
          </a:xfrm>
          <a:prstGeom xmlns:a="http://schemas.openxmlformats.org/drawingml/2006/main" prst="rect">
            <a:avLst/>
          </a:prstGeom>
          <a:solidFill xmlns:a="http://schemas.openxmlformats.org/drawingml/2006/main">
            <a:srgbClr val="2F7D59"/>
          </a:solidFill>
          <a:ln xmlns:a="http://schemas.openxmlformats.org/drawingml/2006/main" w="0">
            <a:solidFill>
              <a:srgbClr val="000000">
                <a:alpha val="0"/>
              </a:srgbClr>
            </a:solidFill>
            <a:prstDash val="solid"/>
          </a:ln>
        </p:spPr>
        <p:txBody>
          <a:bodyPr xmlns:a="http://schemas.openxmlformats.org/drawingml/2006/main" lIns="114300" tIns="95250" rIns="114300" bIns="95250" anchor="ctr"/>
          <a:lstStyle xmlns:a="http://schemas.openxmlformats.org/drawingml/2006/main"/>
          <a:p xmlns:a="http://schemas.openxmlformats.org/drawingml/2006/main">
            <a:pPr algn="ctr">
              <a:defRPr sz="1125" b="1">
                <a:solidFill>
                  <a:srgbClr val="FFFFFF"/>
                </a:solidFill>
                <a:latin typeface="Aptos"/>
                <a:ea typeface="Aptos"/>
                <a:cs typeface="Aptos"/>
              </a:defRPr>
            </a:pPr>
            <a:r>
              <a:rPr sz="1125" b="1">
                <a:solidFill>
                  <a:srgbClr val="FFFFFF"/>
                </a:solidFill>
                <a:latin typeface="Aptos"/>
                <a:ea typeface="Aptos"/>
                <a:cs typeface="Aptos"/>
              </a:rPr>
              <a:t>categories</a:t>
            </a:r>
          </a:p>
        </p:txBody>
      </p:sp>
      <p:sp>
        <p:nvSpPr>
          <p:cNvPr id="22" name="">
            <a:extLst xmlns:a="http://schemas.openxmlformats.org/drawingml/2006/main">
              <a:ext uri="{FF2B5EF4-FFF2-40B4-BE49-F238E27FC236}">
                <a16:creationId xmlns:a16="http://schemas.microsoft.com/office/drawing/2014/main" id="{9AAAB4D5-2E09-4085-9D08-C4A1E4616780}"/>
              </a:ext>
            </a:extLst>
          </p:cNvPr>
          <p:cNvSpPr>
            <a:spLocks xmlns:a="http://schemas.openxmlformats.org/drawingml/2006/main" noGrp="1"/>
          </p:cNvSpPr>
          <p:nvPr/>
        </p:nvSpPr>
        <p:spPr>
          <a:xfrm xmlns:a="http://schemas.openxmlformats.org/drawingml/2006/main">
            <a:off x="4410075" y="4600575"/>
            <a:ext cx="1371600" cy="5810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17202A"/>
                </a:solidFill>
                <a:latin typeface="Aptos"/>
                <a:ea typeface="Aptos"/>
                <a:cs typeface="Aptos"/>
              </a:defRPr>
            </a:pPr>
            <a:r>
              <a:rPr sz="900" b="0">
                <a:solidFill>
                  <a:srgbClr val="17202A"/>
                </a:solidFill>
                <a:latin typeface="Aptos"/>
                <a:ea typeface="Aptos"/>
                <a:cs typeface="Aptos"/>
              </a:rPr>
              <a:t>name</a:t>
            </a:r>
          </a:p>
          <a:p xmlns:a="http://schemas.openxmlformats.org/drawingml/2006/main">
            <a:pPr algn="l">
              <a:defRPr sz="900" b="0">
                <a:solidFill>
                  <a:srgbClr val="17202A"/>
                </a:solidFill>
                <a:latin typeface="Aptos"/>
                <a:ea typeface="Aptos"/>
                <a:cs typeface="Aptos"/>
              </a:defRPr>
            </a:pPr>
            <a:r>
              <a:rPr sz="900" b="0">
                <a:solidFill>
                  <a:srgbClr val="17202A"/>
                </a:solidFill>
                <a:latin typeface="Aptos"/>
                <a:ea typeface="Aptos"/>
                <a:cs typeface="Aptos"/>
              </a:rPr>
              <a:t>slug</a:t>
            </a:r>
          </a:p>
          <a:p xmlns:a="http://schemas.openxmlformats.org/drawingml/2006/main">
            <a:pPr algn="l">
              <a:defRPr sz="900" b="0">
                <a:solidFill>
                  <a:srgbClr val="17202A"/>
                </a:solidFill>
                <a:latin typeface="Aptos"/>
                <a:ea typeface="Aptos"/>
                <a:cs typeface="Aptos"/>
              </a:defRPr>
            </a:pPr>
            <a:r>
              <a:rPr sz="900" b="0">
                <a:solidFill>
                  <a:srgbClr val="17202A"/>
                </a:solidFill>
                <a:latin typeface="Aptos"/>
                <a:ea typeface="Aptos"/>
                <a:cs typeface="Aptos"/>
              </a:rPr>
              <a:t>parentId</a:t>
            </a:r>
          </a:p>
          <a:p xmlns:a="http://schemas.openxmlformats.org/drawingml/2006/main">
            <a:pPr algn="l">
              <a:defRPr sz="900" b="0">
                <a:solidFill>
                  <a:srgbClr val="17202A"/>
                </a:solidFill>
                <a:latin typeface="Aptos"/>
                <a:ea typeface="Aptos"/>
                <a:cs typeface="Aptos"/>
              </a:defRPr>
            </a:pPr>
            <a:r>
              <a:rPr sz="900" b="0">
                <a:solidFill>
                  <a:srgbClr val="17202A"/>
                </a:solidFill>
                <a:latin typeface="Aptos"/>
                <a:ea typeface="Aptos"/>
                <a:cs typeface="Aptos"/>
              </a:rPr>
              <a:t>suggestedAttrs</a:t>
            </a:r>
          </a:p>
        </p:txBody>
      </p:sp>
      <p:sp>
        <p:nvSpPr>
          <p:cNvPr id="23" name="">
            <a:extLst xmlns:a="http://schemas.openxmlformats.org/drawingml/2006/main">
              <a:ext uri="{FF2B5EF4-FFF2-40B4-BE49-F238E27FC236}">
                <a16:creationId xmlns:a16="http://schemas.microsoft.com/office/drawing/2014/main" id="{526D2ABC-E485-474B-A297-A556E10E7A52}"/>
              </a:ext>
            </a:extLst>
          </p:cNvPr>
          <p:cNvSpPr>
            <a:spLocks xmlns:a="http://schemas.openxmlformats.org/drawingml/2006/main" noGrp="1"/>
          </p:cNvSpPr>
          <p:nvPr/>
        </p:nvSpPr>
        <p:spPr>
          <a:xfrm xmlns:a="http://schemas.openxmlformats.org/drawingml/2006/main">
            <a:off x="6858000" y="4238625"/>
            <a:ext cx="1524000" cy="1000125"/>
          </a:xfrm>
          <a:prstGeom xmlns:a="http://schemas.openxmlformats.org/drawingml/2006/main" prst="rect">
            <a:avLst/>
          </a:prstGeom>
          <a:solidFill xmlns:a="http://schemas.openxmlformats.org/drawingml/2006/main">
            <a:srgbClr val="FFFFFF"/>
          </a:solidFill>
          <a:ln xmlns:a="http://schemas.openxmlformats.org/drawingml/2006/main" w="19050">
            <a:solidFill>
              <a:srgbClr val="3F6FA8"/>
            </a:solidFill>
            <a:prstDash val="solid"/>
          </a:ln>
        </p:spPr>
      </p:sp>
      <p:sp>
        <p:nvSpPr>
          <p:cNvPr id="24" name="">
            <a:extLst xmlns:a="http://schemas.openxmlformats.org/drawingml/2006/main">
              <a:ext uri="{FF2B5EF4-FFF2-40B4-BE49-F238E27FC236}">
                <a16:creationId xmlns:a16="http://schemas.microsoft.com/office/drawing/2014/main" id="{AC4FA565-0051-411C-90A4-A0E381AE0108}"/>
              </a:ext>
            </a:extLst>
          </p:cNvPr>
          <p:cNvSpPr>
            <a:spLocks xmlns:a="http://schemas.openxmlformats.org/drawingml/2006/main" noGrp="1"/>
          </p:cNvSpPr>
          <p:nvPr/>
        </p:nvSpPr>
        <p:spPr>
          <a:xfrm xmlns:a="http://schemas.openxmlformats.org/drawingml/2006/main">
            <a:off x="6858000" y="4238625"/>
            <a:ext cx="1524000" cy="285750"/>
          </a:xfrm>
          <a:prstGeom xmlns:a="http://schemas.openxmlformats.org/drawingml/2006/main" prst="rect">
            <a:avLst/>
          </a:prstGeom>
          <a:solidFill xmlns:a="http://schemas.openxmlformats.org/drawingml/2006/main">
            <a:srgbClr val="3F6FA8"/>
          </a:solidFill>
          <a:ln xmlns:a="http://schemas.openxmlformats.org/drawingml/2006/main" w="0">
            <a:solidFill>
              <a:srgbClr val="000000">
                <a:alpha val="0"/>
              </a:srgbClr>
            </a:solidFill>
            <a:prstDash val="solid"/>
          </a:ln>
        </p:spPr>
        <p:txBody>
          <a:bodyPr xmlns:a="http://schemas.openxmlformats.org/drawingml/2006/main" lIns="114300" tIns="95250" rIns="114300" bIns="95250" anchor="ctr"/>
          <a:lstStyle xmlns:a="http://schemas.openxmlformats.org/drawingml/2006/main"/>
          <a:p xmlns:a="http://schemas.openxmlformats.org/drawingml/2006/main">
            <a:pPr algn="ctr">
              <a:defRPr sz="1125" b="1">
                <a:solidFill>
                  <a:srgbClr val="FFFFFF"/>
                </a:solidFill>
                <a:latin typeface="Aptos"/>
                <a:ea typeface="Aptos"/>
                <a:cs typeface="Aptos"/>
              </a:defRPr>
            </a:pPr>
            <a:r>
              <a:rPr sz="1125" b="1">
                <a:solidFill>
                  <a:srgbClr val="FFFFFF"/>
                </a:solidFill>
                <a:latin typeface="Aptos"/>
                <a:ea typeface="Aptos"/>
                <a:cs typeface="Aptos"/>
              </a:rPr>
              <a:t>brands</a:t>
            </a:r>
          </a:p>
        </p:txBody>
      </p:sp>
      <p:sp>
        <p:nvSpPr>
          <p:cNvPr id="25" name="">
            <a:extLst xmlns:a="http://schemas.openxmlformats.org/drawingml/2006/main">
              <a:ext uri="{FF2B5EF4-FFF2-40B4-BE49-F238E27FC236}">
                <a16:creationId xmlns:a16="http://schemas.microsoft.com/office/drawing/2014/main" id="{5B27A30E-41CA-4A6F-A215-800C4DC9E0E4}"/>
              </a:ext>
            </a:extLst>
          </p:cNvPr>
          <p:cNvSpPr>
            <a:spLocks xmlns:a="http://schemas.openxmlformats.org/drawingml/2006/main" noGrp="1"/>
          </p:cNvSpPr>
          <p:nvPr/>
        </p:nvSpPr>
        <p:spPr>
          <a:xfrm xmlns:a="http://schemas.openxmlformats.org/drawingml/2006/main">
            <a:off x="6934200" y="4600575"/>
            <a:ext cx="1371600" cy="5810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17202A"/>
                </a:solidFill>
                <a:latin typeface="Aptos"/>
                <a:ea typeface="Aptos"/>
                <a:cs typeface="Aptos"/>
              </a:defRPr>
            </a:pPr>
            <a:r>
              <a:rPr sz="900" b="0">
                <a:solidFill>
                  <a:srgbClr val="17202A"/>
                </a:solidFill>
                <a:latin typeface="Aptos"/>
                <a:ea typeface="Aptos"/>
                <a:cs typeface="Aptos"/>
              </a:rPr>
              <a:t>name</a:t>
            </a:r>
          </a:p>
          <a:p xmlns:a="http://schemas.openxmlformats.org/drawingml/2006/main">
            <a:pPr algn="l">
              <a:defRPr sz="900" b="0">
                <a:solidFill>
                  <a:srgbClr val="17202A"/>
                </a:solidFill>
                <a:latin typeface="Aptos"/>
                <a:ea typeface="Aptos"/>
                <a:cs typeface="Aptos"/>
              </a:defRPr>
            </a:pPr>
            <a:r>
              <a:rPr sz="900" b="0">
                <a:solidFill>
                  <a:srgbClr val="17202A"/>
                </a:solidFill>
                <a:latin typeface="Aptos"/>
                <a:ea typeface="Aptos"/>
                <a:cs typeface="Aptos"/>
              </a:rPr>
              <a:t>slug</a:t>
            </a:r>
          </a:p>
        </p:txBody>
      </p:sp>
      <p:sp>
        <p:nvSpPr>
          <p:cNvPr id="26" name="">
            <a:extLst xmlns:a="http://schemas.openxmlformats.org/drawingml/2006/main">
              <a:ext uri="{FF2B5EF4-FFF2-40B4-BE49-F238E27FC236}">
                <a16:creationId xmlns:a16="http://schemas.microsoft.com/office/drawing/2014/main" id="{C4167B17-466D-4C3C-8A3A-913CC2087DB9}"/>
              </a:ext>
            </a:extLst>
          </p:cNvPr>
          <p:cNvSpPr>
            <a:spLocks xmlns:a="http://schemas.openxmlformats.org/drawingml/2006/main" noGrp="1"/>
          </p:cNvSpPr>
          <p:nvPr/>
        </p:nvSpPr>
        <p:spPr>
          <a:xfrm xmlns:a="http://schemas.openxmlformats.org/drawingml/2006/main">
            <a:off x="2381250" y="2714625"/>
            <a:ext cx="762000" cy="28575"/>
          </a:xfrm>
          <a:prstGeom xmlns:a="http://schemas.openxmlformats.org/drawingml/2006/main" prst="rect">
            <a:avLst/>
          </a:prstGeom>
          <a:solidFill xmlns:a="http://schemas.openxmlformats.org/drawingml/2006/main">
            <a:srgbClr val="D8D4CB"/>
          </a:solidFill>
          <a:ln xmlns:a="http://schemas.openxmlformats.org/drawingml/2006/main" w="0">
            <a:solidFill>
              <a:srgbClr val="000000">
                <a:alpha val="0"/>
              </a:srgbClr>
            </a:solidFill>
            <a:prstDash val="solid"/>
          </a:ln>
        </p:spPr>
      </p:sp>
      <p:sp>
        <p:nvSpPr>
          <p:cNvPr id="27" name="">
            <a:extLst xmlns:a="http://schemas.openxmlformats.org/drawingml/2006/main">
              <a:ext uri="{FF2B5EF4-FFF2-40B4-BE49-F238E27FC236}">
                <a16:creationId xmlns:a16="http://schemas.microsoft.com/office/drawing/2014/main" id="{B3B9EDAB-5390-45D9-9A66-952F8825A8E1}"/>
              </a:ext>
            </a:extLst>
          </p:cNvPr>
          <p:cNvSpPr>
            <a:spLocks xmlns:a="http://schemas.openxmlformats.org/drawingml/2006/main" noGrp="1"/>
          </p:cNvSpPr>
          <p:nvPr/>
        </p:nvSpPr>
        <p:spPr>
          <a:xfrm xmlns:a="http://schemas.openxmlformats.org/drawingml/2006/main">
            <a:off x="4953000" y="2714625"/>
            <a:ext cx="857250" cy="28575"/>
          </a:xfrm>
          <a:prstGeom xmlns:a="http://schemas.openxmlformats.org/drawingml/2006/main" prst="rect">
            <a:avLst/>
          </a:prstGeom>
          <a:solidFill xmlns:a="http://schemas.openxmlformats.org/drawingml/2006/main">
            <a:srgbClr val="D8D4CB"/>
          </a:solidFill>
          <a:ln xmlns:a="http://schemas.openxmlformats.org/drawingml/2006/main" w="0">
            <a:solidFill>
              <a:srgbClr val="000000">
                <a:alpha val="0"/>
              </a:srgbClr>
            </a:solidFill>
            <a:prstDash val="solid"/>
          </a:ln>
        </p:spPr>
      </p:sp>
      <p:sp>
        <p:nvSpPr>
          <p:cNvPr id="28" name="">
            <a:extLst xmlns:a="http://schemas.openxmlformats.org/drawingml/2006/main">
              <a:ext uri="{FF2B5EF4-FFF2-40B4-BE49-F238E27FC236}">
                <a16:creationId xmlns:a16="http://schemas.microsoft.com/office/drawing/2014/main" id="{8C4A36E1-F1FA-4804-9A3E-9ED61979E0A5}"/>
              </a:ext>
            </a:extLst>
          </p:cNvPr>
          <p:cNvSpPr>
            <a:spLocks xmlns:a="http://schemas.openxmlformats.org/drawingml/2006/main" noGrp="1"/>
          </p:cNvSpPr>
          <p:nvPr/>
        </p:nvSpPr>
        <p:spPr>
          <a:xfrm xmlns:a="http://schemas.openxmlformats.org/drawingml/2006/main">
            <a:off x="7524750" y="2714625"/>
            <a:ext cx="952500" cy="28575"/>
          </a:xfrm>
          <a:prstGeom xmlns:a="http://schemas.openxmlformats.org/drawingml/2006/main" prst="rect">
            <a:avLst/>
          </a:prstGeom>
          <a:solidFill xmlns:a="http://schemas.openxmlformats.org/drawingml/2006/main">
            <a:srgbClr val="D8D4CB"/>
          </a:solidFill>
          <a:ln xmlns:a="http://schemas.openxmlformats.org/drawingml/2006/main" w="0">
            <a:solidFill>
              <a:srgbClr val="000000">
                <a:alpha val="0"/>
              </a:srgbClr>
            </a:solidFill>
            <a:prstDash val="solid"/>
          </a:ln>
        </p:spPr>
      </p:sp>
      <p:sp>
        <p:nvSpPr>
          <p:cNvPr id="29" name="">
            <a:extLst xmlns:a="http://schemas.openxmlformats.org/drawingml/2006/main">
              <a:ext uri="{FF2B5EF4-FFF2-40B4-BE49-F238E27FC236}">
                <a16:creationId xmlns:a16="http://schemas.microsoft.com/office/drawing/2014/main" id="{93867550-DD38-4901-8509-57342754E997}"/>
              </a:ext>
            </a:extLst>
          </p:cNvPr>
          <p:cNvSpPr>
            <a:spLocks xmlns:a="http://schemas.openxmlformats.org/drawingml/2006/main" noGrp="1"/>
          </p:cNvSpPr>
          <p:nvPr/>
        </p:nvSpPr>
        <p:spPr>
          <a:xfrm xmlns:a="http://schemas.openxmlformats.org/drawingml/2006/main">
            <a:off x="2381250" y="3286125"/>
            <a:ext cx="28575" cy="1524000"/>
          </a:xfrm>
          <a:prstGeom xmlns:a="http://schemas.openxmlformats.org/drawingml/2006/main" prst="rect">
            <a:avLst/>
          </a:prstGeom>
          <a:solidFill xmlns:a="http://schemas.openxmlformats.org/drawingml/2006/main">
            <a:srgbClr val="D8D4CB"/>
          </a:solidFill>
          <a:ln xmlns:a="http://schemas.openxmlformats.org/drawingml/2006/main" w="0">
            <a:solidFill>
              <a:srgbClr val="000000">
                <a:alpha val="0"/>
              </a:srgbClr>
            </a:solidFill>
            <a:prstDash val="solid"/>
          </a:ln>
        </p:spPr>
      </p:sp>
      <p:sp>
        <p:nvSpPr>
          <p:cNvPr id="30" name="">
            <a:extLst xmlns:a="http://schemas.openxmlformats.org/drawingml/2006/main">
              <a:ext uri="{FF2B5EF4-FFF2-40B4-BE49-F238E27FC236}">
                <a16:creationId xmlns:a16="http://schemas.microsoft.com/office/drawing/2014/main" id="{CC3C690F-5A56-44AB-8C60-BA39BCE7381C}"/>
              </a:ext>
            </a:extLst>
          </p:cNvPr>
          <p:cNvSpPr>
            <a:spLocks xmlns:a="http://schemas.openxmlformats.org/drawingml/2006/main" noGrp="1"/>
          </p:cNvSpPr>
          <p:nvPr/>
        </p:nvSpPr>
        <p:spPr>
          <a:xfrm xmlns:a="http://schemas.openxmlformats.org/drawingml/2006/main">
            <a:off x="5857875" y="4724400"/>
            <a:ext cx="1000125" cy="28575"/>
          </a:xfrm>
          <a:prstGeom xmlns:a="http://schemas.openxmlformats.org/drawingml/2006/main" prst="rect">
            <a:avLst/>
          </a:prstGeom>
          <a:solidFill xmlns:a="http://schemas.openxmlformats.org/drawingml/2006/main">
            <a:srgbClr val="D8D4CB"/>
          </a:solidFill>
          <a:ln xmlns:a="http://schemas.openxmlformats.org/drawingml/2006/main" w="0">
            <a:solidFill>
              <a:srgbClr val="000000">
                <a:alpha val="0"/>
              </a:srgbClr>
            </a:solidFill>
            <a:prstDash val="solid"/>
          </a:ln>
        </p:spPr>
      </p:sp>
      <p:sp>
        <p:nvSpPr>
          <p:cNvPr id="31" name="">
            <a:extLst xmlns:a="http://schemas.openxmlformats.org/drawingml/2006/main">
              <a:ext uri="{FF2B5EF4-FFF2-40B4-BE49-F238E27FC236}">
                <a16:creationId xmlns:a16="http://schemas.microsoft.com/office/drawing/2014/main" id="{B2C12040-1E37-45E4-95A3-E4A7F4546E47}"/>
              </a:ext>
            </a:extLst>
          </p:cNvPr>
          <p:cNvSpPr>
            <a:spLocks xmlns:a="http://schemas.openxmlformats.org/drawingml/2006/main" noGrp="1"/>
          </p:cNvSpPr>
          <p:nvPr/>
        </p:nvSpPr>
        <p:spPr>
          <a:xfrm xmlns:a="http://schemas.openxmlformats.org/drawingml/2006/main">
            <a:off x="1285875" y="5715000"/>
            <a:ext cx="9620250" cy="381000"/>
          </a:xfrm>
          <a:prstGeom xmlns:a="http://schemas.openxmlformats.org/drawingml/2006/main" prst="rect">
            <a:avLst/>
          </a:prstGeom>
          <a:solidFill xmlns:a="http://schemas.openxmlformats.org/drawingml/2006/main">
            <a:srgbClr val="EFEAE1"/>
          </a:solidFill>
          <a:ln xmlns:a="http://schemas.openxmlformats.org/drawingml/2006/main" w="0">
            <a:solidFill>
              <a:srgbClr val="000000">
                <a:alpha val="0"/>
              </a:srgbClr>
            </a:solidFill>
            <a:prstDash val="solid"/>
          </a:ln>
        </p:spPr>
        <p:txBody>
          <a:bodyPr xmlns:a="http://schemas.openxmlformats.org/drawingml/2006/main" lIns="114300" tIns="95250" rIns="114300" bIns="95250" anchor="ctr"/>
          <a:lstStyle xmlns:a="http://schemas.openxmlformats.org/drawingml/2006/main"/>
          <a:p xmlns:a="http://schemas.openxmlformats.org/drawingml/2006/main">
            <a:pPr algn="ctr">
              <a:defRPr sz="1200" b="0">
                <a:solidFill>
                  <a:srgbClr val="17202A"/>
                </a:solidFill>
                <a:latin typeface="Aptos"/>
                <a:ea typeface="Aptos"/>
                <a:cs typeface="Aptos"/>
              </a:defRPr>
            </a:pPr>
            <a:r>
              <a:rPr sz="1200" b="0">
                <a:solidFill>
                  <a:srgbClr val="17202A"/>
                </a:solidFill>
                <a:latin typeface="Aptos"/>
                <a:ea typeface="Aptos"/>
                <a:cs typeface="Aptos"/>
              </a:rPr>
              <a:t>Index chính: Product(category, brand), Product text(name,tags), Review(userId, productId) unique, UserBehavior(userId, productId), timestamp.</a:t>
            </a:r>
          </a:p>
        </p:txBody>
      </p:sp>
      <p:sp>
        <p:nvSpPr>
          <p:cNvPr id="32" name="">
            <a:extLst xmlns:a="http://schemas.openxmlformats.org/drawingml/2006/main">
              <a:ext uri="{FF2B5EF4-FFF2-40B4-BE49-F238E27FC236}">
                <a16:creationId xmlns:a16="http://schemas.microsoft.com/office/drawing/2014/main" id="{2E29B1AF-4125-48EA-8A86-8190D2EF3E75}"/>
              </a:ext>
            </a:extLst>
          </p:cNvPr>
          <p:cNvSpPr>
            <a:spLocks xmlns:a="http://schemas.openxmlformats.org/drawingml/2006/main" noGrp="1"/>
          </p:cNvSpPr>
          <p:nvPr/>
        </p:nvSpPr>
        <p:spPr>
          <a:xfrm xmlns:a="http://schemas.openxmlformats.org/drawingml/2006/main">
            <a:off x="666750" y="6553200"/>
            <a:ext cx="7810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7A7470"/>
                </a:solidFill>
                <a:latin typeface="Aptos"/>
                <a:ea typeface="Aptos"/>
                <a:cs typeface="Aptos"/>
              </a:defRPr>
            </a:pPr>
            <a:r>
              <a:rPr sz="750" b="0">
                <a:solidFill>
                  <a:srgbClr val="7A7470"/>
                </a:solidFill>
                <a:latin typeface="Aptos"/>
                <a:ea typeface="Aptos"/>
                <a:cs typeface="Aptos"/>
              </a:rPr>
              <a:t>Nguồn: Báo cáo đồ án MyStore và mã nguồn dự án</a:t>
            </a:r>
          </a:p>
        </p:txBody>
      </p:sp>
      <p:sp>
        <p:nvSpPr>
          <p:cNvPr id="33" name="">
            <a:extLst xmlns:a="http://schemas.openxmlformats.org/drawingml/2006/main">
              <a:ext uri="{FF2B5EF4-FFF2-40B4-BE49-F238E27FC236}">
                <a16:creationId xmlns:a16="http://schemas.microsoft.com/office/drawing/2014/main" id="{1FF50DEC-E88F-4DF6-8A16-7C33F80F4060}"/>
              </a:ext>
            </a:extLst>
          </p:cNvPr>
          <p:cNvSpPr>
            <a:spLocks xmlns:a="http://schemas.openxmlformats.org/drawingml/2006/main" noGrp="1"/>
          </p:cNvSpPr>
          <p:nvPr/>
        </p:nvSpPr>
        <p:spPr>
          <a:xfrm xmlns:a="http://schemas.openxmlformats.org/drawingml/2006/main">
            <a:off x="11239500" y="6515100"/>
            <a:ext cx="3810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825" b="1">
                <a:solidFill>
                  <a:srgbClr val="7A7470"/>
                </a:solidFill>
                <a:latin typeface="Aptos"/>
                <a:ea typeface="Aptos"/>
                <a:cs typeface="Aptos"/>
              </a:defRPr>
            </a:pPr>
            <a:r>
              <a:rPr sz="825" b="1">
                <a:solidFill>
                  <a:srgbClr val="7A7470"/>
                </a:solidFill>
                <a:latin typeface="Aptos"/>
                <a:ea typeface="Aptos"/>
                <a:cs typeface="Aptos"/>
              </a:rPr>
              <a:t>07</a:t>
            </a:r>
          </a:p>
        </p:txBody>
      </p:sp>
    </p:spTree>
    <p:extLst>
      <p:ext uri="{BB962C8B-B14F-4D97-AF65-F5344CB8AC3E}">
        <p14:creationId xmlns:p14="http://schemas.microsoft.com/office/powerpoint/2010/main" val="1980961111"/>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6D4374F3-BACE-4400-B3C4-18ABBBF8A40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4EE"/>
          </a:solidFill>
          <a:ln xmlns:a="http://schemas.openxmlformats.org/drawingml/2006/main" w="0">
            <a:solidFill>
              <a:srgbClr val="000000">
                <a:alpha val="0"/>
              </a:srgbClr>
            </a:solidFill>
            <a:prstDash val="solid"/>
          </a:ln>
        </p:spPr>
      </p:sp>
      <p:sp>
        <p:nvSpPr>
          <p:cNvPr id="2" name="kicker-8-marker">
            <a:extLst xmlns:a="http://schemas.openxmlformats.org/drawingml/2006/main">
              <a:ext uri="{FF2B5EF4-FFF2-40B4-BE49-F238E27FC236}">
                <a16:creationId xmlns:a16="http://schemas.microsoft.com/office/drawing/2014/main" id="{04C21701-5544-47D7-A262-70B26EDEF80C}"/>
              </a:ext>
            </a:extLst>
          </p:cNvPr>
          <p:cNvSpPr>
            <a:spLocks xmlns:a="http://schemas.openxmlformats.org/drawingml/2006/main" noGrp="1"/>
          </p:cNvSpPr>
          <p:nvPr/>
        </p:nvSpPr>
        <p:spPr>
          <a:xfrm xmlns:a="http://schemas.openxmlformats.org/drawingml/2006/main">
            <a:off x="666750" y="542925"/>
            <a:ext cx="266700" cy="38100"/>
          </a:xfrm>
          <a:prstGeom xmlns:a="http://schemas.openxmlformats.org/drawingml/2006/main" prst="rect">
            <a:avLst/>
          </a:prstGeom>
          <a:solidFill xmlns:a="http://schemas.openxmlformats.org/drawingml/2006/main">
            <a:srgbClr val="D96B4C"/>
          </a:solidFill>
          <a:ln xmlns:a="http://schemas.openxmlformats.org/drawingml/2006/main" w="0">
            <a:solidFill>
              <a:srgbClr val="000000">
                <a:alpha val="0"/>
              </a:srgbClr>
            </a:solidFill>
            <a:prstDash val="solid"/>
          </a:ln>
        </p:spPr>
      </p:sp>
      <p:sp>
        <p:nvSpPr>
          <p:cNvPr id="3" name="kicker-8-label">
            <a:extLst xmlns:a="http://schemas.openxmlformats.org/drawingml/2006/main">
              <a:ext uri="{FF2B5EF4-FFF2-40B4-BE49-F238E27FC236}">
                <a16:creationId xmlns:a16="http://schemas.microsoft.com/office/drawing/2014/main" id="{06CD41FE-E99C-4D6B-AE95-4689B4D8F83C}"/>
              </a:ext>
            </a:extLst>
          </p:cNvPr>
          <p:cNvSpPr>
            <a:spLocks xmlns:a="http://schemas.openxmlformats.org/drawingml/2006/main" noGrp="1"/>
          </p:cNvSpPr>
          <p:nvPr/>
        </p:nvSpPr>
        <p:spPr>
          <a:xfrm xmlns:a="http://schemas.openxmlformats.org/drawingml/2006/main">
            <a:off x="1066800" y="457200"/>
            <a:ext cx="31432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900" b="1">
                <a:solidFill>
                  <a:srgbClr val="D96B4C"/>
                </a:solidFill>
                <a:latin typeface="Aptos"/>
                <a:ea typeface="Aptos"/>
                <a:cs typeface="Aptos"/>
              </a:defRPr>
            </a:pPr>
            <a:r>
              <a:rPr sz="900" b="1">
                <a:solidFill>
                  <a:srgbClr val="D96B4C"/>
                </a:solidFill>
                <a:latin typeface="Aptos"/>
                <a:ea typeface="Aptos"/>
                <a:cs typeface="Aptos"/>
              </a:rPr>
              <a:t>RECOMMENDATION WORKFLOW</a:t>
            </a:r>
          </a:p>
        </p:txBody>
      </p:sp>
      <p:sp>
        <p:nvSpPr>
          <p:cNvPr id="4" name="">
            <a:extLst xmlns:a="http://schemas.openxmlformats.org/drawingml/2006/main">
              <a:ext uri="{FF2B5EF4-FFF2-40B4-BE49-F238E27FC236}">
                <a16:creationId xmlns:a16="http://schemas.microsoft.com/office/drawing/2014/main" id="{79DCBF21-842B-4CCC-876B-264511181E22}"/>
              </a:ext>
            </a:extLst>
          </p:cNvPr>
          <p:cNvSpPr>
            <a:spLocks xmlns:a="http://schemas.openxmlformats.org/drawingml/2006/main" noGrp="1"/>
          </p:cNvSpPr>
          <p:nvPr/>
        </p:nvSpPr>
        <p:spPr>
          <a:xfrm xmlns:a="http://schemas.openxmlformats.org/drawingml/2006/main">
            <a:off x="666750" y="781050"/>
            <a:ext cx="8572500" cy="914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700" b="1">
                <a:solidFill>
                  <a:srgbClr val="17202A"/>
                </a:solidFill>
                <a:latin typeface="Aptos Display"/>
                <a:ea typeface="Aptos Display"/>
                <a:cs typeface="Aptos Display"/>
              </a:defRPr>
            </a:pPr>
            <a:r>
              <a:rPr sz="2700" b="1">
                <a:solidFill>
                  <a:srgbClr val="17202A"/>
                </a:solidFill>
                <a:latin typeface="Aptos Display"/>
                <a:ea typeface="Aptos Display"/>
                <a:cs typeface="Aptos Display"/>
              </a:rPr>
              <a:t>Mỗi request gợi ý có cache, ML path và fallback path để luôn trả được kết quả.</a:t>
            </a:r>
          </a:p>
        </p:txBody>
      </p:sp>
      <p:sp>
        <p:nvSpPr>
          <p:cNvPr id="5" name="">
            <a:extLst xmlns:a="http://schemas.openxmlformats.org/drawingml/2006/main">
              <a:ext uri="{FF2B5EF4-FFF2-40B4-BE49-F238E27FC236}">
                <a16:creationId xmlns:a16="http://schemas.microsoft.com/office/drawing/2014/main" id="{EF7F5B38-43D1-4FEC-8268-D4B021940001}"/>
              </a:ext>
            </a:extLst>
          </p:cNvPr>
          <p:cNvSpPr>
            <a:spLocks xmlns:a="http://schemas.openxmlformats.org/drawingml/2006/main" noGrp="1"/>
          </p:cNvSpPr>
          <p:nvPr/>
        </p:nvSpPr>
        <p:spPr>
          <a:xfrm xmlns:a="http://schemas.openxmlformats.org/drawingml/2006/main">
            <a:off x="762000" y="2571750"/>
            <a:ext cx="1428750" cy="819150"/>
          </a:xfrm>
          <a:prstGeom xmlns:a="http://schemas.openxmlformats.org/drawingml/2006/main" prst="rect">
            <a:avLst/>
          </a:prstGeom>
          <a:solidFill xmlns:a="http://schemas.openxmlformats.org/drawingml/2006/main">
            <a:srgbClr val="FFFFFF"/>
          </a:solidFill>
          <a:ln xmlns:a="http://schemas.openxmlformats.org/drawingml/2006/main" w="19050">
            <a:solidFill>
              <a:srgbClr val="2F7D59"/>
            </a:solidFill>
            <a:prstDash val="solid"/>
          </a:ln>
        </p:spPr>
      </p:sp>
      <p:sp>
        <p:nvSpPr>
          <p:cNvPr id="6" name="">
            <a:extLst xmlns:a="http://schemas.openxmlformats.org/drawingml/2006/main">
              <a:ext uri="{FF2B5EF4-FFF2-40B4-BE49-F238E27FC236}">
                <a16:creationId xmlns:a16="http://schemas.microsoft.com/office/drawing/2014/main" id="{A7DB07EA-2649-487C-A37D-55E0EB8662F7}"/>
              </a:ext>
            </a:extLst>
          </p:cNvPr>
          <p:cNvSpPr>
            <a:spLocks xmlns:a="http://schemas.openxmlformats.org/drawingml/2006/main" noGrp="1"/>
          </p:cNvSpPr>
          <p:nvPr/>
        </p:nvSpPr>
        <p:spPr>
          <a:xfrm xmlns:a="http://schemas.openxmlformats.org/drawingml/2006/main">
            <a:off x="762000" y="2647950"/>
            <a:ext cx="1428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95250" rIns="114300" bIns="95250" anchor="ctr"/>
          <a:lstStyle xmlns:a="http://schemas.openxmlformats.org/drawingml/2006/main"/>
          <a:p xmlns:a="http://schemas.openxmlformats.org/drawingml/2006/main">
            <a:pPr algn="ctr">
              <a:defRPr sz="1125" b="1">
                <a:solidFill>
                  <a:srgbClr val="2F7D59"/>
                </a:solidFill>
                <a:latin typeface="Aptos"/>
                <a:ea typeface="Aptos"/>
                <a:cs typeface="Aptos"/>
              </a:defRPr>
            </a:pPr>
            <a:r>
              <a:rPr sz="1125" b="1">
                <a:solidFill>
                  <a:srgbClr val="2F7D59"/>
                </a:solidFill>
                <a:latin typeface="Aptos"/>
                <a:ea typeface="Aptos"/>
                <a:cs typeface="Aptos"/>
              </a:rPr>
              <a:t>Request</a:t>
            </a:r>
          </a:p>
        </p:txBody>
      </p:sp>
      <p:sp>
        <p:nvSpPr>
          <p:cNvPr id="7" name="">
            <a:extLst xmlns:a="http://schemas.openxmlformats.org/drawingml/2006/main">
              <a:ext uri="{FF2B5EF4-FFF2-40B4-BE49-F238E27FC236}">
                <a16:creationId xmlns:a16="http://schemas.microsoft.com/office/drawing/2014/main" id="{132B1279-D8AF-4C9F-AB9B-3CCD8F89B4B1}"/>
              </a:ext>
            </a:extLst>
          </p:cNvPr>
          <p:cNvSpPr>
            <a:spLocks xmlns:a="http://schemas.openxmlformats.org/drawingml/2006/main" noGrp="1"/>
          </p:cNvSpPr>
          <p:nvPr/>
        </p:nvSpPr>
        <p:spPr>
          <a:xfrm xmlns:a="http://schemas.openxmlformats.org/drawingml/2006/main">
            <a:off x="838200" y="2933700"/>
            <a:ext cx="127635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900" b="0">
                <a:solidFill>
                  <a:srgbClr val="17202A"/>
                </a:solidFill>
                <a:latin typeface="Aptos"/>
                <a:ea typeface="Aptos"/>
                <a:cs typeface="Aptos"/>
              </a:defRPr>
            </a:pPr>
            <a:r>
              <a:rPr sz="900" b="0">
                <a:solidFill>
                  <a:srgbClr val="17202A"/>
                </a:solidFill>
                <a:latin typeface="Aptos"/>
                <a:ea typeface="Aptos"/>
                <a:cs typeface="Aptos"/>
              </a:rPr>
              <a:t>Product/User/Trending</a:t>
            </a:r>
          </a:p>
        </p:txBody>
      </p:sp>
      <p:sp>
        <p:nvSpPr>
          <p:cNvPr id="8" name="">
            <a:extLst xmlns:a="http://schemas.openxmlformats.org/drawingml/2006/main">
              <a:ext uri="{FF2B5EF4-FFF2-40B4-BE49-F238E27FC236}">
                <a16:creationId xmlns:a16="http://schemas.microsoft.com/office/drawing/2014/main" id="{F32F04C9-03D6-4A21-8EE4-9626A4CEFFB4}"/>
              </a:ext>
            </a:extLst>
          </p:cNvPr>
          <p:cNvSpPr>
            <a:spLocks xmlns:a="http://schemas.openxmlformats.org/drawingml/2006/main" noGrp="1"/>
          </p:cNvSpPr>
          <p:nvPr/>
        </p:nvSpPr>
        <p:spPr>
          <a:xfrm xmlns:a="http://schemas.openxmlformats.org/drawingml/2006/main">
            <a:off x="2952750" y="2571750"/>
            <a:ext cx="1428750" cy="819150"/>
          </a:xfrm>
          <a:prstGeom xmlns:a="http://schemas.openxmlformats.org/drawingml/2006/main" prst="rect">
            <a:avLst/>
          </a:prstGeom>
          <a:solidFill xmlns:a="http://schemas.openxmlformats.org/drawingml/2006/main">
            <a:srgbClr val="FFFFFF"/>
          </a:solidFill>
          <a:ln xmlns:a="http://schemas.openxmlformats.org/drawingml/2006/main" w="19050">
            <a:solidFill>
              <a:srgbClr val="C8952D"/>
            </a:solidFill>
            <a:prstDash val="solid"/>
          </a:ln>
        </p:spPr>
      </p:sp>
      <p:sp>
        <p:nvSpPr>
          <p:cNvPr id="9" name="">
            <a:extLst xmlns:a="http://schemas.openxmlformats.org/drawingml/2006/main">
              <a:ext uri="{FF2B5EF4-FFF2-40B4-BE49-F238E27FC236}">
                <a16:creationId xmlns:a16="http://schemas.microsoft.com/office/drawing/2014/main" id="{A87C4A0D-5704-47DD-BD2E-8BBD28741E90}"/>
              </a:ext>
            </a:extLst>
          </p:cNvPr>
          <p:cNvSpPr>
            <a:spLocks xmlns:a="http://schemas.openxmlformats.org/drawingml/2006/main" noGrp="1"/>
          </p:cNvSpPr>
          <p:nvPr/>
        </p:nvSpPr>
        <p:spPr>
          <a:xfrm xmlns:a="http://schemas.openxmlformats.org/drawingml/2006/main">
            <a:off x="2952750" y="2647950"/>
            <a:ext cx="1428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95250" rIns="114300" bIns="95250" anchor="ctr"/>
          <a:lstStyle xmlns:a="http://schemas.openxmlformats.org/drawingml/2006/main"/>
          <a:p xmlns:a="http://schemas.openxmlformats.org/drawingml/2006/main">
            <a:pPr algn="ctr">
              <a:defRPr sz="1125" b="1">
                <a:solidFill>
                  <a:srgbClr val="C8952D"/>
                </a:solidFill>
                <a:latin typeface="Aptos"/>
                <a:ea typeface="Aptos"/>
                <a:cs typeface="Aptos"/>
              </a:defRPr>
            </a:pPr>
            <a:r>
              <a:rPr sz="1125" b="1">
                <a:solidFill>
                  <a:srgbClr val="C8952D"/>
                </a:solidFill>
                <a:latin typeface="Aptos"/>
                <a:ea typeface="Aptos"/>
                <a:cs typeface="Aptos"/>
              </a:rPr>
              <a:t>Cache</a:t>
            </a:r>
          </a:p>
        </p:txBody>
      </p:sp>
      <p:sp>
        <p:nvSpPr>
          <p:cNvPr id="10" name="">
            <a:extLst xmlns:a="http://schemas.openxmlformats.org/drawingml/2006/main">
              <a:ext uri="{FF2B5EF4-FFF2-40B4-BE49-F238E27FC236}">
                <a16:creationId xmlns:a16="http://schemas.microsoft.com/office/drawing/2014/main" id="{4135BC63-E4A3-4E6D-A977-D8BD08447289}"/>
              </a:ext>
            </a:extLst>
          </p:cNvPr>
          <p:cNvSpPr>
            <a:spLocks xmlns:a="http://schemas.openxmlformats.org/drawingml/2006/main" noGrp="1"/>
          </p:cNvSpPr>
          <p:nvPr/>
        </p:nvSpPr>
        <p:spPr>
          <a:xfrm xmlns:a="http://schemas.openxmlformats.org/drawingml/2006/main">
            <a:off x="3028950" y="2933700"/>
            <a:ext cx="127635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900" b="0">
                <a:solidFill>
                  <a:srgbClr val="17202A"/>
                </a:solidFill>
                <a:latin typeface="Aptos"/>
                <a:ea typeface="Aptos"/>
                <a:cs typeface="Aptos"/>
              </a:defRPr>
            </a:pPr>
            <a:r>
              <a:rPr sz="900" b="0">
                <a:solidFill>
                  <a:srgbClr val="17202A"/>
                </a:solidFill>
                <a:latin typeface="Aptos"/>
                <a:ea typeface="Aptos"/>
                <a:cs typeface="Aptos"/>
              </a:rPr>
              <a:t>Recommendation collection</a:t>
            </a:r>
          </a:p>
        </p:txBody>
      </p:sp>
      <p:sp>
        <p:nvSpPr>
          <p:cNvPr id="11" name="">
            <a:extLst xmlns:a="http://schemas.openxmlformats.org/drawingml/2006/main">
              <a:ext uri="{FF2B5EF4-FFF2-40B4-BE49-F238E27FC236}">
                <a16:creationId xmlns:a16="http://schemas.microsoft.com/office/drawing/2014/main" id="{BF13CA38-0F80-42C3-86DB-7CDAA1131D36}"/>
              </a:ext>
            </a:extLst>
          </p:cNvPr>
          <p:cNvSpPr>
            <a:spLocks xmlns:a="http://schemas.openxmlformats.org/drawingml/2006/main" noGrp="1"/>
          </p:cNvSpPr>
          <p:nvPr/>
        </p:nvSpPr>
        <p:spPr>
          <a:xfrm xmlns:a="http://schemas.openxmlformats.org/drawingml/2006/main">
            <a:off x="5286375" y="2000250"/>
            <a:ext cx="1428750" cy="819150"/>
          </a:xfrm>
          <a:prstGeom xmlns:a="http://schemas.openxmlformats.org/drawingml/2006/main" prst="rect">
            <a:avLst/>
          </a:prstGeom>
          <a:solidFill xmlns:a="http://schemas.openxmlformats.org/drawingml/2006/main">
            <a:srgbClr val="FFFFFF"/>
          </a:solidFill>
          <a:ln xmlns:a="http://schemas.openxmlformats.org/drawingml/2006/main" w="19050">
            <a:solidFill>
              <a:srgbClr val="D96B4C"/>
            </a:solidFill>
            <a:prstDash val="solid"/>
          </a:ln>
        </p:spPr>
      </p:sp>
      <p:sp>
        <p:nvSpPr>
          <p:cNvPr id="12" name="">
            <a:extLst xmlns:a="http://schemas.openxmlformats.org/drawingml/2006/main">
              <a:ext uri="{FF2B5EF4-FFF2-40B4-BE49-F238E27FC236}">
                <a16:creationId xmlns:a16="http://schemas.microsoft.com/office/drawing/2014/main" id="{7A3E4FAC-BA6D-4CD9-8BBD-BB990F16BF3C}"/>
              </a:ext>
            </a:extLst>
          </p:cNvPr>
          <p:cNvSpPr>
            <a:spLocks xmlns:a="http://schemas.openxmlformats.org/drawingml/2006/main" noGrp="1"/>
          </p:cNvSpPr>
          <p:nvPr/>
        </p:nvSpPr>
        <p:spPr>
          <a:xfrm xmlns:a="http://schemas.openxmlformats.org/drawingml/2006/main">
            <a:off x="5286375" y="2076450"/>
            <a:ext cx="1428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95250" rIns="114300" bIns="95250" anchor="ctr"/>
          <a:lstStyle xmlns:a="http://schemas.openxmlformats.org/drawingml/2006/main"/>
          <a:p xmlns:a="http://schemas.openxmlformats.org/drawingml/2006/main">
            <a:pPr algn="ctr">
              <a:defRPr sz="1125" b="1">
                <a:solidFill>
                  <a:srgbClr val="D96B4C"/>
                </a:solidFill>
                <a:latin typeface="Aptos"/>
                <a:ea typeface="Aptos"/>
                <a:cs typeface="Aptos"/>
              </a:defRPr>
            </a:pPr>
            <a:r>
              <a:rPr sz="1125" b="1">
                <a:solidFill>
                  <a:srgbClr val="D96B4C"/>
                </a:solidFill>
                <a:latin typeface="Aptos"/>
                <a:ea typeface="Aptos"/>
                <a:cs typeface="Aptos"/>
              </a:rPr>
              <a:t>ML Service</a:t>
            </a:r>
          </a:p>
        </p:txBody>
      </p:sp>
      <p:sp>
        <p:nvSpPr>
          <p:cNvPr id="13" name="">
            <a:extLst xmlns:a="http://schemas.openxmlformats.org/drawingml/2006/main">
              <a:ext uri="{FF2B5EF4-FFF2-40B4-BE49-F238E27FC236}">
                <a16:creationId xmlns:a16="http://schemas.microsoft.com/office/drawing/2014/main" id="{23208E27-781C-41AF-9194-F2A2841046F5}"/>
              </a:ext>
            </a:extLst>
          </p:cNvPr>
          <p:cNvSpPr>
            <a:spLocks xmlns:a="http://schemas.openxmlformats.org/drawingml/2006/main" noGrp="1"/>
          </p:cNvSpPr>
          <p:nvPr/>
        </p:nvSpPr>
        <p:spPr>
          <a:xfrm xmlns:a="http://schemas.openxmlformats.org/drawingml/2006/main">
            <a:off x="5362575" y="2362200"/>
            <a:ext cx="127635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900" b="0">
                <a:solidFill>
                  <a:srgbClr val="17202A"/>
                </a:solidFill>
                <a:latin typeface="Aptos"/>
                <a:ea typeface="Aptos"/>
                <a:cs typeface="Aptos"/>
              </a:defRPr>
            </a:pPr>
            <a:r>
              <a:rPr sz="900" b="0">
                <a:solidFill>
                  <a:srgbClr val="17202A"/>
                </a:solidFill>
                <a:latin typeface="Aptos"/>
                <a:ea typeface="Aptos"/>
                <a:cs typeface="Aptos"/>
              </a:rPr>
              <a:t>Flask: CB / CF / Hybrid</a:t>
            </a:r>
          </a:p>
        </p:txBody>
      </p:sp>
      <p:sp>
        <p:nvSpPr>
          <p:cNvPr id="14" name="">
            <a:extLst xmlns:a="http://schemas.openxmlformats.org/drawingml/2006/main">
              <a:ext uri="{FF2B5EF4-FFF2-40B4-BE49-F238E27FC236}">
                <a16:creationId xmlns:a16="http://schemas.microsoft.com/office/drawing/2014/main" id="{3A38B3C1-977F-4167-B87B-BE6E82FBBD6D}"/>
              </a:ext>
            </a:extLst>
          </p:cNvPr>
          <p:cNvSpPr>
            <a:spLocks xmlns:a="http://schemas.openxmlformats.org/drawingml/2006/main" noGrp="1"/>
          </p:cNvSpPr>
          <p:nvPr/>
        </p:nvSpPr>
        <p:spPr>
          <a:xfrm xmlns:a="http://schemas.openxmlformats.org/drawingml/2006/main">
            <a:off x="5286375" y="3238500"/>
            <a:ext cx="1428750" cy="819150"/>
          </a:xfrm>
          <a:prstGeom xmlns:a="http://schemas.openxmlformats.org/drawingml/2006/main" prst="rect">
            <a:avLst/>
          </a:prstGeom>
          <a:solidFill xmlns:a="http://schemas.openxmlformats.org/drawingml/2006/main">
            <a:srgbClr val="FFFFFF"/>
          </a:solidFill>
          <a:ln xmlns:a="http://schemas.openxmlformats.org/drawingml/2006/main" w="19050">
            <a:solidFill>
              <a:srgbClr val="3F6FA8"/>
            </a:solidFill>
            <a:prstDash val="solid"/>
          </a:ln>
        </p:spPr>
      </p:sp>
      <p:sp>
        <p:nvSpPr>
          <p:cNvPr id="15" name="">
            <a:extLst xmlns:a="http://schemas.openxmlformats.org/drawingml/2006/main">
              <a:ext uri="{FF2B5EF4-FFF2-40B4-BE49-F238E27FC236}">
                <a16:creationId xmlns:a16="http://schemas.microsoft.com/office/drawing/2014/main" id="{3CCC9FEF-619A-47BE-AEC5-00B9DCA20870}"/>
              </a:ext>
            </a:extLst>
          </p:cNvPr>
          <p:cNvSpPr>
            <a:spLocks xmlns:a="http://schemas.openxmlformats.org/drawingml/2006/main" noGrp="1"/>
          </p:cNvSpPr>
          <p:nvPr/>
        </p:nvSpPr>
        <p:spPr>
          <a:xfrm xmlns:a="http://schemas.openxmlformats.org/drawingml/2006/main">
            <a:off x="5286375" y="3314700"/>
            <a:ext cx="1428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95250" rIns="114300" bIns="95250" anchor="ctr"/>
          <a:lstStyle xmlns:a="http://schemas.openxmlformats.org/drawingml/2006/main"/>
          <a:p xmlns:a="http://schemas.openxmlformats.org/drawingml/2006/main">
            <a:pPr algn="ctr">
              <a:defRPr sz="1125" b="1">
                <a:solidFill>
                  <a:srgbClr val="3F6FA8"/>
                </a:solidFill>
                <a:latin typeface="Aptos"/>
                <a:ea typeface="Aptos"/>
                <a:cs typeface="Aptos"/>
              </a:defRPr>
            </a:pPr>
            <a:r>
              <a:rPr sz="1125" b="1">
                <a:solidFill>
                  <a:srgbClr val="3F6FA8"/>
                </a:solidFill>
                <a:latin typeface="Aptos"/>
                <a:ea typeface="Aptos"/>
                <a:cs typeface="Aptos"/>
              </a:rPr>
              <a:t>Node Fallback</a:t>
            </a:r>
          </a:p>
        </p:txBody>
      </p:sp>
      <p:sp>
        <p:nvSpPr>
          <p:cNvPr id="16" name="">
            <a:extLst xmlns:a="http://schemas.openxmlformats.org/drawingml/2006/main">
              <a:ext uri="{FF2B5EF4-FFF2-40B4-BE49-F238E27FC236}">
                <a16:creationId xmlns:a16="http://schemas.microsoft.com/office/drawing/2014/main" id="{C63153F9-1ABE-4A00-9AF9-EA92816E3712}"/>
              </a:ext>
            </a:extLst>
          </p:cNvPr>
          <p:cNvSpPr>
            <a:spLocks xmlns:a="http://schemas.openxmlformats.org/drawingml/2006/main" noGrp="1"/>
          </p:cNvSpPr>
          <p:nvPr/>
        </p:nvSpPr>
        <p:spPr>
          <a:xfrm xmlns:a="http://schemas.openxmlformats.org/drawingml/2006/main">
            <a:off x="5362575" y="3600450"/>
            <a:ext cx="127635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900" b="0">
                <a:solidFill>
                  <a:srgbClr val="17202A"/>
                </a:solidFill>
                <a:latin typeface="Aptos"/>
                <a:ea typeface="Aptos"/>
                <a:cs typeface="Aptos"/>
              </a:defRPr>
            </a:pPr>
            <a:r>
              <a:rPr sz="900" b="0">
                <a:solidFill>
                  <a:srgbClr val="17202A"/>
                </a:solidFill>
                <a:latin typeface="Aptos"/>
                <a:ea typeface="Aptos"/>
                <a:cs typeface="Aptos"/>
              </a:rPr>
              <a:t>TF-IDF hoặc latest/trending</a:t>
            </a:r>
          </a:p>
        </p:txBody>
      </p:sp>
      <p:sp>
        <p:nvSpPr>
          <p:cNvPr id="17" name="">
            <a:extLst xmlns:a="http://schemas.openxmlformats.org/drawingml/2006/main">
              <a:ext uri="{FF2B5EF4-FFF2-40B4-BE49-F238E27FC236}">
                <a16:creationId xmlns:a16="http://schemas.microsoft.com/office/drawing/2014/main" id="{9D2EFE6F-4EB0-4FFC-A875-F7C955305274}"/>
              </a:ext>
            </a:extLst>
          </p:cNvPr>
          <p:cNvSpPr>
            <a:spLocks xmlns:a="http://schemas.openxmlformats.org/drawingml/2006/main" noGrp="1"/>
          </p:cNvSpPr>
          <p:nvPr/>
        </p:nvSpPr>
        <p:spPr>
          <a:xfrm xmlns:a="http://schemas.openxmlformats.org/drawingml/2006/main">
            <a:off x="7810500" y="2571750"/>
            <a:ext cx="1428750" cy="819150"/>
          </a:xfrm>
          <a:prstGeom xmlns:a="http://schemas.openxmlformats.org/drawingml/2006/main" prst="rect">
            <a:avLst/>
          </a:prstGeom>
          <a:solidFill xmlns:a="http://schemas.openxmlformats.org/drawingml/2006/main">
            <a:srgbClr val="FFFFFF"/>
          </a:solidFill>
          <a:ln xmlns:a="http://schemas.openxmlformats.org/drawingml/2006/main" w="19050">
            <a:solidFill>
              <a:srgbClr val="2F7D59"/>
            </a:solidFill>
            <a:prstDash val="solid"/>
          </a:ln>
        </p:spPr>
      </p:sp>
      <p:sp>
        <p:nvSpPr>
          <p:cNvPr id="18" name="">
            <a:extLst xmlns:a="http://schemas.openxmlformats.org/drawingml/2006/main">
              <a:ext uri="{FF2B5EF4-FFF2-40B4-BE49-F238E27FC236}">
                <a16:creationId xmlns:a16="http://schemas.microsoft.com/office/drawing/2014/main" id="{A545099A-56AB-45C7-A0E1-021F9C72342C}"/>
              </a:ext>
            </a:extLst>
          </p:cNvPr>
          <p:cNvSpPr>
            <a:spLocks xmlns:a="http://schemas.openxmlformats.org/drawingml/2006/main" noGrp="1"/>
          </p:cNvSpPr>
          <p:nvPr/>
        </p:nvSpPr>
        <p:spPr>
          <a:xfrm xmlns:a="http://schemas.openxmlformats.org/drawingml/2006/main">
            <a:off x="7810500" y="2647950"/>
            <a:ext cx="1428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95250" rIns="114300" bIns="95250" anchor="ctr"/>
          <a:lstStyle xmlns:a="http://schemas.openxmlformats.org/drawingml/2006/main"/>
          <a:p xmlns:a="http://schemas.openxmlformats.org/drawingml/2006/main">
            <a:pPr algn="ctr">
              <a:defRPr sz="1125" b="1">
                <a:solidFill>
                  <a:srgbClr val="2F7D59"/>
                </a:solidFill>
                <a:latin typeface="Aptos"/>
                <a:ea typeface="Aptos"/>
                <a:cs typeface="Aptos"/>
              </a:defRPr>
            </a:pPr>
            <a:r>
              <a:rPr sz="1125" b="1">
                <a:solidFill>
                  <a:srgbClr val="2F7D59"/>
                </a:solidFill>
                <a:latin typeface="Aptos"/>
                <a:ea typeface="Aptos"/>
                <a:cs typeface="Aptos"/>
              </a:rPr>
              <a:t>Hydrate</a:t>
            </a:r>
          </a:p>
        </p:txBody>
      </p:sp>
      <p:sp>
        <p:nvSpPr>
          <p:cNvPr id="19" name="">
            <a:extLst xmlns:a="http://schemas.openxmlformats.org/drawingml/2006/main">
              <a:ext uri="{FF2B5EF4-FFF2-40B4-BE49-F238E27FC236}">
                <a16:creationId xmlns:a16="http://schemas.microsoft.com/office/drawing/2014/main" id="{9644AE78-8445-4D3E-A72C-26ED9B36D708}"/>
              </a:ext>
            </a:extLst>
          </p:cNvPr>
          <p:cNvSpPr>
            <a:spLocks xmlns:a="http://schemas.openxmlformats.org/drawingml/2006/main" noGrp="1"/>
          </p:cNvSpPr>
          <p:nvPr/>
        </p:nvSpPr>
        <p:spPr>
          <a:xfrm xmlns:a="http://schemas.openxmlformats.org/drawingml/2006/main">
            <a:off x="7886700" y="2933700"/>
            <a:ext cx="127635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900" b="0">
                <a:solidFill>
                  <a:srgbClr val="17202A"/>
                </a:solidFill>
                <a:latin typeface="Aptos"/>
                <a:ea typeface="Aptos"/>
                <a:cs typeface="Aptos"/>
              </a:defRPr>
            </a:pPr>
            <a:r>
              <a:rPr sz="900" b="0">
                <a:solidFill>
                  <a:srgbClr val="17202A"/>
                </a:solidFill>
                <a:latin typeface="Aptos"/>
                <a:ea typeface="Aptos"/>
                <a:cs typeface="Aptos"/>
              </a:rPr>
              <a:t>Lấy product + sold count</a:t>
            </a:r>
          </a:p>
        </p:txBody>
      </p:sp>
      <p:sp>
        <p:nvSpPr>
          <p:cNvPr id="20" name="">
            <a:extLst xmlns:a="http://schemas.openxmlformats.org/drawingml/2006/main">
              <a:ext uri="{FF2B5EF4-FFF2-40B4-BE49-F238E27FC236}">
                <a16:creationId xmlns:a16="http://schemas.microsoft.com/office/drawing/2014/main" id="{C72E672A-546E-4417-8912-EE83603511A2}"/>
              </a:ext>
            </a:extLst>
          </p:cNvPr>
          <p:cNvSpPr>
            <a:spLocks xmlns:a="http://schemas.openxmlformats.org/drawingml/2006/main" noGrp="1"/>
          </p:cNvSpPr>
          <p:nvPr/>
        </p:nvSpPr>
        <p:spPr>
          <a:xfrm xmlns:a="http://schemas.openxmlformats.org/drawingml/2006/main">
            <a:off x="10001250" y="2571750"/>
            <a:ext cx="1428750" cy="819150"/>
          </a:xfrm>
          <a:prstGeom xmlns:a="http://schemas.openxmlformats.org/drawingml/2006/main" prst="rect">
            <a:avLst/>
          </a:prstGeom>
          <a:solidFill xmlns:a="http://schemas.openxmlformats.org/drawingml/2006/main">
            <a:srgbClr val="FFFFFF"/>
          </a:solidFill>
          <a:ln xmlns:a="http://schemas.openxmlformats.org/drawingml/2006/main" w="19050">
            <a:solidFill>
              <a:srgbClr val="17202A"/>
            </a:solidFill>
            <a:prstDash val="solid"/>
          </a:ln>
        </p:spPr>
      </p:sp>
      <p:sp>
        <p:nvSpPr>
          <p:cNvPr id="21" name="">
            <a:extLst xmlns:a="http://schemas.openxmlformats.org/drawingml/2006/main">
              <a:ext uri="{FF2B5EF4-FFF2-40B4-BE49-F238E27FC236}">
                <a16:creationId xmlns:a16="http://schemas.microsoft.com/office/drawing/2014/main" id="{B758DDB9-C4BD-4D99-9950-09A281FD544C}"/>
              </a:ext>
            </a:extLst>
          </p:cNvPr>
          <p:cNvSpPr>
            <a:spLocks xmlns:a="http://schemas.openxmlformats.org/drawingml/2006/main" noGrp="1"/>
          </p:cNvSpPr>
          <p:nvPr/>
        </p:nvSpPr>
        <p:spPr>
          <a:xfrm xmlns:a="http://schemas.openxmlformats.org/drawingml/2006/main">
            <a:off x="10001250" y="2647950"/>
            <a:ext cx="1428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95250" rIns="114300" bIns="95250" anchor="ctr"/>
          <a:lstStyle xmlns:a="http://schemas.openxmlformats.org/drawingml/2006/main"/>
          <a:p xmlns:a="http://schemas.openxmlformats.org/drawingml/2006/main">
            <a:pPr algn="ctr">
              <a:defRPr sz="1125" b="1">
                <a:solidFill>
                  <a:srgbClr val="17202A"/>
                </a:solidFill>
                <a:latin typeface="Aptos"/>
                <a:ea typeface="Aptos"/>
                <a:cs typeface="Aptos"/>
              </a:defRPr>
            </a:pPr>
            <a:r>
              <a:rPr sz="1125" b="1">
                <a:solidFill>
                  <a:srgbClr val="17202A"/>
                </a:solidFill>
                <a:latin typeface="Aptos"/>
                <a:ea typeface="Aptos"/>
                <a:cs typeface="Aptos"/>
              </a:rPr>
              <a:t>Response</a:t>
            </a:r>
          </a:p>
        </p:txBody>
      </p:sp>
      <p:sp>
        <p:nvSpPr>
          <p:cNvPr id="22" name="">
            <a:extLst xmlns:a="http://schemas.openxmlformats.org/drawingml/2006/main">
              <a:ext uri="{FF2B5EF4-FFF2-40B4-BE49-F238E27FC236}">
                <a16:creationId xmlns:a16="http://schemas.microsoft.com/office/drawing/2014/main" id="{D85E3251-F4B3-4A92-BC30-3A8D36AAE0AF}"/>
              </a:ext>
            </a:extLst>
          </p:cNvPr>
          <p:cNvSpPr>
            <a:spLocks xmlns:a="http://schemas.openxmlformats.org/drawingml/2006/main" noGrp="1"/>
          </p:cNvSpPr>
          <p:nvPr/>
        </p:nvSpPr>
        <p:spPr>
          <a:xfrm xmlns:a="http://schemas.openxmlformats.org/drawingml/2006/main">
            <a:off x="10077450" y="2933700"/>
            <a:ext cx="127635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900" b="0">
                <a:solidFill>
                  <a:srgbClr val="17202A"/>
                </a:solidFill>
                <a:latin typeface="Aptos"/>
                <a:ea typeface="Aptos"/>
                <a:cs typeface="Aptos"/>
              </a:defRPr>
            </a:pPr>
            <a:r>
              <a:rPr sz="900" b="0">
                <a:solidFill>
                  <a:srgbClr val="17202A"/>
                </a:solidFill>
                <a:latin typeface="Aptos"/>
                <a:ea typeface="Aptos"/>
                <a:cs typeface="Aptos"/>
              </a:rPr>
              <a:t>Danh sách top-N</a:t>
            </a:r>
          </a:p>
        </p:txBody>
      </p:sp>
      <p:sp>
        <p:nvSpPr>
          <p:cNvPr id="23" name="">
            <a:extLst xmlns:a="http://schemas.openxmlformats.org/drawingml/2006/main">
              <a:ext uri="{FF2B5EF4-FFF2-40B4-BE49-F238E27FC236}">
                <a16:creationId xmlns:a16="http://schemas.microsoft.com/office/drawing/2014/main" id="{F6FA02A4-E1F7-4F48-9808-5035682A06FD}"/>
              </a:ext>
            </a:extLst>
          </p:cNvPr>
          <p:cNvSpPr>
            <a:spLocks xmlns:a="http://schemas.openxmlformats.org/drawingml/2006/main" noGrp="1"/>
          </p:cNvSpPr>
          <p:nvPr/>
        </p:nvSpPr>
        <p:spPr>
          <a:xfrm xmlns:a="http://schemas.openxmlformats.org/drawingml/2006/main">
            <a:off x="2190750" y="2981325"/>
            <a:ext cx="762000" cy="28575"/>
          </a:xfrm>
          <a:prstGeom xmlns:a="http://schemas.openxmlformats.org/drawingml/2006/main" prst="rect">
            <a:avLst/>
          </a:prstGeom>
          <a:solidFill xmlns:a="http://schemas.openxmlformats.org/drawingml/2006/main">
            <a:srgbClr val="D8D4CB"/>
          </a:solidFill>
          <a:ln xmlns:a="http://schemas.openxmlformats.org/drawingml/2006/main" w="0">
            <a:solidFill>
              <a:srgbClr val="000000">
                <a:alpha val="0"/>
              </a:srgbClr>
            </a:solidFill>
            <a:prstDash val="solid"/>
          </a:ln>
        </p:spPr>
      </p:sp>
      <p:sp>
        <p:nvSpPr>
          <p:cNvPr id="24" name="">
            <a:extLst xmlns:a="http://schemas.openxmlformats.org/drawingml/2006/main">
              <a:ext uri="{FF2B5EF4-FFF2-40B4-BE49-F238E27FC236}">
                <a16:creationId xmlns:a16="http://schemas.microsoft.com/office/drawing/2014/main" id="{6AA928B2-FB9E-434C-AD03-8DBBB7186B54}"/>
              </a:ext>
            </a:extLst>
          </p:cNvPr>
          <p:cNvSpPr>
            <a:spLocks xmlns:a="http://schemas.openxmlformats.org/drawingml/2006/main" noGrp="1"/>
          </p:cNvSpPr>
          <p:nvPr/>
        </p:nvSpPr>
        <p:spPr>
          <a:xfrm xmlns:a="http://schemas.openxmlformats.org/drawingml/2006/main">
            <a:off x="4381500" y="2409825"/>
            <a:ext cx="904875" cy="28575"/>
          </a:xfrm>
          <a:prstGeom xmlns:a="http://schemas.openxmlformats.org/drawingml/2006/main" prst="rect">
            <a:avLst/>
          </a:prstGeom>
          <a:solidFill xmlns:a="http://schemas.openxmlformats.org/drawingml/2006/main">
            <a:srgbClr val="D8D4CB"/>
          </a:solidFill>
          <a:ln xmlns:a="http://schemas.openxmlformats.org/drawingml/2006/main" w="0">
            <a:solidFill>
              <a:srgbClr val="000000">
                <a:alpha val="0"/>
              </a:srgbClr>
            </a:solidFill>
            <a:prstDash val="solid"/>
          </a:ln>
        </p:spPr>
      </p:sp>
      <p:sp>
        <p:nvSpPr>
          <p:cNvPr id="25" name="">
            <a:extLst xmlns:a="http://schemas.openxmlformats.org/drawingml/2006/main">
              <a:ext uri="{FF2B5EF4-FFF2-40B4-BE49-F238E27FC236}">
                <a16:creationId xmlns:a16="http://schemas.microsoft.com/office/drawing/2014/main" id="{00FC876C-61FA-4EDA-8410-B4A86EB88F03}"/>
              </a:ext>
            </a:extLst>
          </p:cNvPr>
          <p:cNvSpPr>
            <a:spLocks xmlns:a="http://schemas.openxmlformats.org/drawingml/2006/main" noGrp="1"/>
          </p:cNvSpPr>
          <p:nvPr/>
        </p:nvSpPr>
        <p:spPr>
          <a:xfrm xmlns:a="http://schemas.openxmlformats.org/drawingml/2006/main">
            <a:off x="4381500" y="3143250"/>
            <a:ext cx="904875" cy="28575"/>
          </a:xfrm>
          <a:prstGeom xmlns:a="http://schemas.openxmlformats.org/drawingml/2006/main" prst="rect">
            <a:avLst/>
          </a:prstGeom>
          <a:solidFill xmlns:a="http://schemas.openxmlformats.org/drawingml/2006/main">
            <a:srgbClr val="D8D4CB"/>
          </a:solidFill>
          <a:ln xmlns:a="http://schemas.openxmlformats.org/drawingml/2006/main" w="0">
            <a:solidFill>
              <a:srgbClr val="000000">
                <a:alpha val="0"/>
              </a:srgbClr>
            </a:solidFill>
            <a:prstDash val="solid"/>
          </a:ln>
        </p:spPr>
      </p:sp>
      <p:sp>
        <p:nvSpPr>
          <p:cNvPr id="26" name="">
            <a:extLst xmlns:a="http://schemas.openxmlformats.org/drawingml/2006/main">
              <a:ext uri="{FF2B5EF4-FFF2-40B4-BE49-F238E27FC236}">
                <a16:creationId xmlns:a16="http://schemas.microsoft.com/office/drawing/2014/main" id="{627F6DDB-3135-44AB-9369-76E4E69F1CA3}"/>
              </a:ext>
            </a:extLst>
          </p:cNvPr>
          <p:cNvSpPr>
            <a:spLocks xmlns:a="http://schemas.openxmlformats.org/drawingml/2006/main" noGrp="1"/>
          </p:cNvSpPr>
          <p:nvPr/>
        </p:nvSpPr>
        <p:spPr>
          <a:xfrm xmlns:a="http://schemas.openxmlformats.org/drawingml/2006/main">
            <a:off x="6715125" y="2409825"/>
            <a:ext cx="1095375" cy="28575"/>
          </a:xfrm>
          <a:prstGeom xmlns:a="http://schemas.openxmlformats.org/drawingml/2006/main" prst="rect">
            <a:avLst/>
          </a:prstGeom>
          <a:solidFill xmlns:a="http://schemas.openxmlformats.org/drawingml/2006/main">
            <a:srgbClr val="D8D4CB"/>
          </a:solidFill>
          <a:ln xmlns:a="http://schemas.openxmlformats.org/drawingml/2006/main" w="0">
            <a:solidFill>
              <a:srgbClr val="000000">
                <a:alpha val="0"/>
              </a:srgbClr>
            </a:solidFill>
            <a:prstDash val="solid"/>
          </a:ln>
        </p:spPr>
      </p:sp>
      <p:sp>
        <p:nvSpPr>
          <p:cNvPr id="27" name="">
            <a:extLst xmlns:a="http://schemas.openxmlformats.org/drawingml/2006/main">
              <a:ext uri="{FF2B5EF4-FFF2-40B4-BE49-F238E27FC236}">
                <a16:creationId xmlns:a16="http://schemas.microsoft.com/office/drawing/2014/main" id="{65EBA04B-3199-4386-9B71-374EC5181B4E}"/>
              </a:ext>
            </a:extLst>
          </p:cNvPr>
          <p:cNvSpPr>
            <a:spLocks xmlns:a="http://schemas.openxmlformats.org/drawingml/2006/main" noGrp="1"/>
          </p:cNvSpPr>
          <p:nvPr/>
        </p:nvSpPr>
        <p:spPr>
          <a:xfrm xmlns:a="http://schemas.openxmlformats.org/drawingml/2006/main">
            <a:off x="6715125" y="3238500"/>
            <a:ext cx="1095375" cy="28575"/>
          </a:xfrm>
          <a:prstGeom xmlns:a="http://schemas.openxmlformats.org/drawingml/2006/main" prst="rect">
            <a:avLst/>
          </a:prstGeom>
          <a:solidFill xmlns:a="http://schemas.openxmlformats.org/drawingml/2006/main">
            <a:srgbClr val="D8D4CB"/>
          </a:solidFill>
          <a:ln xmlns:a="http://schemas.openxmlformats.org/drawingml/2006/main" w="0">
            <a:solidFill>
              <a:srgbClr val="000000">
                <a:alpha val="0"/>
              </a:srgbClr>
            </a:solidFill>
            <a:prstDash val="solid"/>
          </a:ln>
        </p:spPr>
      </p:sp>
      <p:sp>
        <p:nvSpPr>
          <p:cNvPr id="28" name="">
            <a:extLst xmlns:a="http://schemas.openxmlformats.org/drawingml/2006/main">
              <a:ext uri="{FF2B5EF4-FFF2-40B4-BE49-F238E27FC236}">
                <a16:creationId xmlns:a16="http://schemas.microsoft.com/office/drawing/2014/main" id="{BBFA1FB6-DBD8-4A0D-B49A-5069EEE223B3}"/>
              </a:ext>
            </a:extLst>
          </p:cNvPr>
          <p:cNvSpPr>
            <a:spLocks xmlns:a="http://schemas.openxmlformats.org/drawingml/2006/main" noGrp="1"/>
          </p:cNvSpPr>
          <p:nvPr/>
        </p:nvSpPr>
        <p:spPr>
          <a:xfrm xmlns:a="http://schemas.openxmlformats.org/drawingml/2006/main">
            <a:off x="9239250" y="2981325"/>
            <a:ext cx="762000" cy="28575"/>
          </a:xfrm>
          <a:prstGeom xmlns:a="http://schemas.openxmlformats.org/drawingml/2006/main" prst="rect">
            <a:avLst/>
          </a:prstGeom>
          <a:solidFill xmlns:a="http://schemas.openxmlformats.org/drawingml/2006/main">
            <a:srgbClr val="D8D4CB"/>
          </a:solidFill>
          <a:ln xmlns:a="http://schemas.openxmlformats.org/drawingml/2006/main" w="0">
            <a:solidFill>
              <a:srgbClr val="000000">
                <a:alpha val="0"/>
              </a:srgbClr>
            </a:solidFill>
            <a:prstDash val="solid"/>
          </a:ln>
        </p:spPr>
      </p:sp>
      <p:sp>
        <p:nvSpPr>
          <p:cNvPr id="29" name="">
            <a:extLst xmlns:a="http://schemas.openxmlformats.org/drawingml/2006/main">
              <a:ext uri="{FF2B5EF4-FFF2-40B4-BE49-F238E27FC236}">
                <a16:creationId xmlns:a16="http://schemas.microsoft.com/office/drawing/2014/main" id="{D7F991DB-7BCA-498F-9CCB-4987DC9D7032}"/>
              </a:ext>
            </a:extLst>
          </p:cNvPr>
          <p:cNvSpPr>
            <a:spLocks xmlns:a="http://schemas.openxmlformats.org/drawingml/2006/main" noGrp="1"/>
          </p:cNvSpPr>
          <p:nvPr/>
        </p:nvSpPr>
        <p:spPr>
          <a:xfrm xmlns:a="http://schemas.openxmlformats.org/drawingml/2006/main">
            <a:off x="1619250" y="4953000"/>
            <a:ext cx="8953500" cy="495300"/>
          </a:xfrm>
          <a:prstGeom xmlns:a="http://schemas.openxmlformats.org/drawingml/2006/main" prst="rect">
            <a:avLst/>
          </a:prstGeom>
          <a:solidFill xmlns:a="http://schemas.openxmlformats.org/drawingml/2006/main">
            <a:srgbClr val="F7D8CE"/>
          </a:solidFill>
          <a:ln xmlns:a="http://schemas.openxmlformats.org/drawingml/2006/main" w="0">
            <a:solidFill>
              <a:srgbClr val="000000">
                <a:alpha val="0"/>
              </a:srgbClr>
            </a:solidFill>
            <a:prstDash val="solid"/>
          </a:ln>
        </p:spPr>
        <p:txBody>
          <a:bodyPr xmlns:a="http://schemas.openxmlformats.org/drawingml/2006/main" lIns="114300" tIns="95250" rIns="114300" bIns="95250" anchor="ctr"/>
          <a:lstStyle xmlns:a="http://schemas.openxmlformats.org/drawingml/2006/main"/>
          <a:p xmlns:a="http://schemas.openxmlformats.org/drawingml/2006/main">
            <a:pPr algn="ctr">
              <a:defRPr sz="1350" b="0">
                <a:solidFill>
                  <a:srgbClr val="17202A"/>
                </a:solidFill>
                <a:latin typeface="Aptos"/>
                <a:ea typeface="Aptos"/>
                <a:cs typeface="Aptos"/>
              </a:defRPr>
            </a:pPr>
            <a:r>
              <a:rPr sz="1350" b="0">
                <a:solidFill>
                  <a:srgbClr val="17202A"/>
                </a:solidFill>
                <a:latin typeface="Aptos"/>
                <a:ea typeface="Aptos"/>
                <a:cs typeface="Aptos"/>
              </a:rPr>
              <a:t>Trong code: controller thử ML Service trước; nếu timeout hoặc không có dữ liệu, hệ thống tự dùng TF-IDF Node.js hoặc trending/latest fallback.</a:t>
            </a:r>
          </a:p>
        </p:txBody>
      </p:sp>
      <p:sp>
        <p:nvSpPr>
          <p:cNvPr id="30" name="">
            <a:extLst xmlns:a="http://schemas.openxmlformats.org/drawingml/2006/main">
              <a:ext uri="{FF2B5EF4-FFF2-40B4-BE49-F238E27FC236}">
                <a16:creationId xmlns:a16="http://schemas.microsoft.com/office/drawing/2014/main" id="{C7BBFD33-7F89-4F42-8AB1-0EA401D2BC4B}"/>
              </a:ext>
            </a:extLst>
          </p:cNvPr>
          <p:cNvSpPr>
            <a:spLocks xmlns:a="http://schemas.openxmlformats.org/drawingml/2006/main" noGrp="1"/>
          </p:cNvSpPr>
          <p:nvPr/>
        </p:nvSpPr>
        <p:spPr>
          <a:xfrm xmlns:a="http://schemas.openxmlformats.org/drawingml/2006/main">
            <a:off x="666750" y="6553200"/>
            <a:ext cx="7810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7A7470"/>
                </a:solidFill>
                <a:latin typeface="Aptos"/>
                <a:ea typeface="Aptos"/>
                <a:cs typeface="Aptos"/>
              </a:defRPr>
            </a:pPr>
            <a:r>
              <a:rPr sz="750" b="0">
                <a:solidFill>
                  <a:srgbClr val="7A7470"/>
                </a:solidFill>
                <a:latin typeface="Aptos"/>
                <a:ea typeface="Aptos"/>
                <a:cs typeface="Aptos"/>
              </a:rPr>
              <a:t>Nguồn: Báo cáo đồ án MyStore và mã nguồn dự án</a:t>
            </a:r>
          </a:p>
        </p:txBody>
      </p:sp>
      <p:sp>
        <p:nvSpPr>
          <p:cNvPr id="31" name="">
            <a:extLst xmlns:a="http://schemas.openxmlformats.org/drawingml/2006/main">
              <a:ext uri="{FF2B5EF4-FFF2-40B4-BE49-F238E27FC236}">
                <a16:creationId xmlns:a16="http://schemas.microsoft.com/office/drawing/2014/main" id="{DC3F9A6F-947F-43D9-8DFC-15EC872574AD}"/>
              </a:ext>
            </a:extLst>
          </p:cNvPr>
          <p:cNvSpPr>
            <a:spLocks xmlns:a="http://schemas.openxmlformats.org/drawingml/2006/main" noGrp="1"/>
          </p:cNvSpPr>
          <p:nvPr/>
        </p:nvSpPr>
        <p:spPr>
          <a:xfrm xmlns:a="http://schemas.openxmlformats.org/drawingml/2006/main">
            <a:off x="11239500" y="6515100"/>
            <a:ext cx="3810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825" b="1">
                <a:solidFill>
                  <a:srgbClr val="7A7470"/>
                </a:solidFill>
                <a:latin typeface="Aptos"/>
                <a:ea typeface="Aptos"/>
                <a:cs typeface="Aptos"/>
              </a:defRPr>
            </a:pPr>
            <a:r>
              <a:rPr sz="825" b="1">
                <a:solidFill>
                  <a:srgbClr val="7A7470"/>
                </a:solidFill>
                <a:latin typeface="Aptos"/>
                <a:ea typeface="Aptos"/>
                <a:cs typeface="Aptos"/>
              </a:rPr>
              <a:t>08</a:t>
            </a:r>
          </a:p>
        </p:txBody>
      </p:sp>
    </p:spTree>
    <p:extLst>
      <p:ext uri="{BB962C8B-B14F-4D97-AF65-F5344CB8AC3E}">
        <p14:creationId xmlns:p14="http://schemas.microsoft.com/office/powerpoint/2010/main" val="1041631319"/>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42086CE6-3140-4293-9745-8D790F213E0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4EE"/>
          </a:solidFill>
          <a:ln xmlns:a="http://schemas.openxmlformats.org/drawingml/2006/main" w="0">
            <a:solidFill>
              <a:srgbClr val="000000">
                <a:alpha val="0"/>
              </a:srgbClr>
            </a:solidFill>
            <a:prstDash val="solid"/>
          </a:ln>
        </p:spPr>
      </p:sp>
      <p:sp>
        <p:nvSpPr>
          <p:cNvPr id="2" name="kicker-9-marker">
            <a:extLst xmlns:a="http://schemas.openxmlformats.org/drawingml/2006/main">
              <a:ext uri="{FF2B5EF4-FFF2-40B4-BE49-F238E27FC236}">
                <a16:creationId xmlns:a16="http://schemas.microsoft.com/office/drawing/2014/main" id="{3559FE86-117F-438B-BD5F-6C5A0B479549}"/>
              </a:ext>
            </a:extLst>
          </p:cNvPr>
          <p:cNvSpPr>
            <a:spLocks xmlns:a="http://schemas.openxmlformats.org/drawingml/2006/main" noGrp="1"/>
          </p:cNvSpPr>
          <p:nvPr/>
        </p:nvSpPr>
        <p:spPr>
          <a:xfrm xmlns:a="http://schemas.openxmlformats.org/drawingml/2006/main">
            <a:off x="666750" y="542925"/>
            <a:ext cx="266700" cy="38100"/>
          </a:xfrm>
          <a:prstGeom xmlns:a="http://schemas.openxmlformats.org/drawingml/2006/main" prst="rect">
            <a:avLst/>
          </a:prstGeom>
          <a:solidFill xmlns:a="http://schemas.openxmlformats.org/drawingml/2006/main">
            <a:srgbClr val="2F7D59"/>
          </a:solidFill>
          <a:ln xmlns:a="http://schemas.openxmlformats.org/drawingml/2006/main" w="0">
            <a:solidFill>
              <a:srgbClr val="000000">
                <a:alpha val="0"/>
              </a:srgbClr>
            </a:solidFill>
            <a:prstDash val="solid"/>
          </a:ln>
        </p:spPr>
      </p:sp>
      <p:sp>
        <p:nvSpPr>
          <p:cNvPr id="3" name="kicker-9-label">
            <a:extLst xmlns:a="http://schemas.openxmlformats.org/drawingml/2006/main">
              <a:ext uri="{FF2B5EF4-FFF2-40B4-BE49-F238E27FC236}">
                <a16:creationId xmlns:a16="http://schemas.microsoft.com/office/drawing/2014/main" id="{F72E301A-42B1-46F9-BD11-27A6213202B2}"/>
              </a:ext>
            </a:extLst>
          </p:cNvPr>
          <p:cNvSpPr>
            <a:spLocks xmlns:a="http://schemas.openxmlformats.org/drawingml/2006/main" noGrp="1"/>
          </p:cNvSpPr>
          <p:nvPr/>
        </p:nvSpPr>
        <p:spPr>
          <a:xfrm xmlns:a="http://schemas.openxmlformats.org/drawingml/2006/main">
            <a:off x="1066800" y="457200"/>
            <a:ext cx="31432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900" b="1">
                <a:solidFill>
                  <a:srgbClr val="2F7D59"/>
                </a:solidFill>
                <a:latin typeface="Aptos"/>
                <a:ea typeface="Aptos"/>
                <a:cs typeface="Aptos"/>
              </a:defRPr>
            </a:pPr>
            <a:r>
              <a:rPr sz="900" b="1">
                <a:solidFill>
                  <a:srgbClr val="2F7D59"/>
                </a:solidFill>
                <a:latin typeface="Aptos"/>
                <a:ea typeface="Aptos"/>
                <a:cs typeface="Aptos"/>
              </a:rPr>
              <a:t>HYBRID ALGORITHM</a:t>
            </a:r>
          </a:p>
        </p:txBody>
      </p:sp>
      <p:sp>
        <p:nvSpPr>
          <p:cNvPr id="4" name="">
            <a:extLst xmlns:a="http://schemas.openxmlformats.org/drawingml/2006/main">
              <a:ext uri="{FF2B5EF4-FFF2-40B4-BE49-F238E27FC236}">
                <a16:creationId xmlns:a16="http://schemas.microsoft.com/office/drawing/2014/main" id="{BAB09A80-707E-46F9-B026-CB2D871D2E80}"/>
              </a:ext>
            </a:extLst>
          </p:cNvPr>
          <p:cNvSpPr>
            <a:spLocks xmlns:a="http://schemas.openxmlformats.org/drawingml/2006/main" noGrp="1"/>
          </p:cNvSpPr>
          <p:nvPr/>
        </p:nvSpPr>
        <p:spPr>
          <a:xfrm xmlns:a="http://schemas.openxmlformats.org/drawingml/2006/main">
            <a:off x="666750" y="781050"/>
            <a:ext cx="8572500" cy="914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850" b="1">
                <a:solidFill>
                  <a:srgbClr val="17202A"/>
                </a:solidFill>
                <a:latin typeface="Aptos Display"/>
                <a:ea typeface="Aptos Display"/>
                <a:cs typeface="Aptos Display"/>
              </a:defRPr>
            </a:pPr>
            <a:r>
              <a:rPr sz="2850" b="1">
                <a:solidFill>
                  <a:srgbClr val="17202A"/>
                </a:solidFill>
                <a:latin typeface="Aptos Display"/>
                <a:ea typeface="Aptos Display"/>
                <a:cs typeface="Aptos Display"/>
              </a:rPr>
              <a:t>Hybrid score cân bằng sở thích cộng đồng và độ tương tự nội dung.</a:t>
            </a:r>
          </a:p>
        </p:txBody>
      </p:sp>
      <p:sp>
        <p:nvSpPr>
          <p:cNvPr id="5" name="">
            <a:extLst xmlns:a="http://schemas.openxmlformats.org/drawingml/2006/main">
              <a:ext uri="{FF2B5EF4-FFF2-40B4-BE49-F238E27FC236}">
                <a16:creationId xmlns:a16="http://schemas.microsoft.com/office/drawing/2014/main" id="{88E169A9-F86D-4905-BCC3-ACF6847F90C3}"/>
              </a:ext>
            </a:extLst>
          </p:cNvPr>
          <p:cNvSpPr>
            <a:spLocks xmlns:a="http://schemas.openxmlformats.org/drawingml/2006/main" noGrp="1"/>
          </p:cNvSpPr>
          <p:nvPr/>
        </p:nvSpPr>
        <p:spPr>
          <a:xfrm xmlns:a="http://schemas.openxmlformats.org/drawingml/2006/main">
            <a:off x="1190625" y="2095500"/>
            <a:ext cx="9810750" cy="628650"/>
          </a:xfrm>
          <a:prstGeom xmlns:a="http://schemas.openxmlformats.org/drawingml/2006/main" prst="rect">
            <a:avLst/>
          </a:prstGeom>
          <a:solidFill xmlns:a="http://schemas.openxmlformats.org/drawingml/2006/main">
            <a:srgbClr val="DDEBDD"/>
          </a:solidFill>
          <a:ln xmlns:a="http://schemas.openxmlformats.org/drawingml/2006/main" w="0">
            <a:solidFill>
              <a:srgbClr val="000000">
                <a:alpha val="0"/>
              </a:srgbClr>
            </a:solidFill>
            <a:prstDash val="solid"/>
          </a:ln>
        </p:spPr>
        <p:txBody>
          <a:bodyPr xmlns:a="http://schemas.openxmlformats.org/drawingml/2006/main" lIns="114300" tIns="95250" rIns="114300" bIns="95250" anchor="ctr"/>
          <a:lstStyle xmlns:a="http://schemas.openxmlformats.org/drawingml/2006/main"/>
          <a:p xmlns:a="http://schemas.openxmlformats.org/drawingml/2006/main">
            <a:pPr algn="ctr">
              <a:defRPr sz="2100" b="1">
                <a:solidFill>
                  <a:srgbClr val="17202A"/>
                </a:solidFill>
                <a:latin typeface="Aptos Mono"/>
                <a:ea typeface="Aptos Mono"/>
                <a:cs typeface="Aptos Mono"/>
              </a:defRPr>
            </a:pPr>
            <a:r>
              <a:rPr sz="2100" b="1">
                <a:solidFill>
                  <a:srgbClr val="17202A"/>
                </a:solidFill>
                <a:latin typeface="Aptos Mono"/>
                <a:ea typeface="Aptos Mono"/>
                <a:cs typeface="Aptos Mono"/>
              </a:rPr>
              <a:t>ScoreHybrid(u,p) = 0.6 × ScoreCFnorm(u,p) + 0.4 × ScoreCBnorm(p)</a:t>
            </a:r>
          </a:p>
        </p:txBody>
      </p:sp>
      <p:sp>
        <p:nvSpPr>
          <p:cNvPr id="6" name="">
            <a:extLst xmlns:a="http://schemas.openxmlformats.org/drawingml/2006/main">
              <a:ext uri="{FF2B5EF4-FFF2-40B4-BE49-F238E27FC236}">
                <a16:creationId xmlns:a16="http://schemas.microsoft.com/office/drawing/2014/main" id="{E3F7C81D-AFC8-4BAB-B80B-A38A76C70B64}"/>
              </a:ext>
            </a:extLst>
          </p:cNvPr>
          <p:cNvSpPr>
            <a:spLocks xmlns:a="http://schemas.openxmlformats.org/drawingml/2006/main" noGrp="1"/>
          </p:cNvSpPr>
          <p:nvPr/>
        </p:nvSpPr>
        <p:spPr>
          <a:xfrm xmlns:a="http://schemas.openxmlformats.org/drawingml/2006/main">
            <a:off x="1047750" y="3238500"/>
            <a:ext cx="2857500" cy="1333500"/>
          </a:xfrm>
          <a:prstGeom xmlns:a="http://schemas.openxmlformats.org/drawingml/2006/main" prst="rect">
            <a:avLst/>
          </a:prstGeom>
          <a:solidFill xmlns:a="http://schemas.openxmlformats.org/drawingml/2006/main">
            <a:srgbClr val="FFFFFF"/>
          </a:solidFill>
          <a:ln xmlns:a="http://schemas.openxmlformats.org/drawingml/2006/main" w="9525">
            <a:solidFill>
              <a:srgbClr val="D8D4CB"/>
            </a:solidFill>
            <a:prstDash val="solid"/>
          </a:ln>
        </p:spPr>
      </p:sp>
      <p:sp>
        <p:nvSpPr>
          <p:cNvPr id="7" name="">
            <a:extLst xmlns:a="http://schemas.openxmlformats.org/drawingml/2006/main">
              <a:ext uri="{FF2B5EF4-FFF2-40B4-BE49-F238E27FC236}">
                <a16:creationId xmlns:a16="http://schemas.microsoft.com/office/drawing/2014/main" id="{1C122139-8E0D-4186-992C-19685D063FEE}"/>
              </a:ext>
            </a:extLst>
          </p:cNvPr>
          <p:cNvSpPr>
            <a:spLocks xmlns:a="http://schemas.openxmlformats.org/drawingml/2006/main" noGrp="1"/>
          </p:cNvSpPr>
          <p:nvPr/>
        </p:nvSpPr>
        <p:spPr>
          <a:xfrm xmlns:a="http://schemas.openxmlformats.org/drawingml/2006/main">
            <a:off x="1047750" y="3238500"/>
            <a:ext cx="66675" cy="1333500"/>
          </a:xfrm>
          <a:prstGeom xmlns:a="http://schemas.openxmlformats.org/drawingml/2006/main" prst="rect">
            <a:avLst/>
          </a:prstGeom>
          <a:solidFill xmlns:a="http://schemas.openxmlformats.org/drawingml/2006/main">
            <a:srgbClr val="3F6FA8"/>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657B22D0-6FBF-4B05-84C9-DC221AE40E1C}"/>
              </a:ext>
            </a:extLst>
          </p:cNvPr>
          <p:cNvSpPr>
            <a:spLocks xmlns:a="http://schemas.openxmlformats.org/drawingml/2006/main" noGrp="1"/>
          </p:cNvSpPr>
          <p:nvPr/>
        </p:nvSpPr>
        <p:spPr>
          <a:xfrm xmlns:a="http://schemas.openxmlformats.org/drawingml/2006/main">
            <a:off x="1200150" y="3333750"/>
            <a:ext cx="26289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3F6FA8"/>
                </a:solidFill>
                <a:latin typeface="Aptos"/>
                <a:ea typeface="Aptos"/>
                <a:cs typeface="Aptos"/>
              </a:defRPr>
            </a:pPr>
            <a:r>
              <a:rPr sz="900" b="1">
                <a:solidFill>
                  <a:srgbClr val="3F6FA8"/>
                </a:solidFill>
                <a:latin typeface="Aptos"/>
                <a:ea typeface="Aptos"/>
                <a:cs typeface="Aptos"/>
              </a:rPr>
              <a:t>Content-based</a:t>
            </a:r>
          </a:p>
        </p:txBody>
      </p:sp>
      <p:sp>
        <p:nvSpPr>
          <p:cNvPr id="9" name="">
            <a:extLst xmlns:a="http://schemas.openxmlformats.org/drawingml/2006/main">
              <a:ext uri="{FF2B5EF4-FFF2-40B4-BE49-F238E27FC236}">
                <a16:creationId xmlns:a16="http://schemas.microsoft.com/office/drawing/2014/main" id="{F17E3CA6-56F9-4114-BB0C-1AAED49836C4}"/>
              </a:ext>
            </a:extLst>
          </p:cNvPr>
          <p:cNvSpPr>
            <a:spLocks xmlns:a="http://schemas.openxmlformats.org/drawingml/2006/main" noGrp="1"/>
          </p:cNvSpPr>
          <p:nvPr/>
        </p:nvSpPr>
        <p:spPr>
          <a:xfrm xmlns:a="http://schemas.openxmlformats.org/drawingml/2006/main">
            <a:off x="1162050" y="3600450"/>
            <a:ext cx="2628900" cy="914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17202A"/>
                </a:solidFill>
                <a:latin typeface="Aptos"/>
                <a:ea typeface="Aptos"/>
                <a:cs typeface="Aptos"/>
              </a:defRPr>
            </a:pPr>
            <a:r>
              <a:rPr sz="1200" b="0">
                <a:solidFill>
                  <a:srgbClr val="17202A"/>
                </a:solidFill>
                <a:latin typeface="Aptos"/>
                <a:ea typeface="Aptos"/>
                <a:cs typeface="Aptos"/>
              </a:rPr>
              <a:t>Vector sản phẩm = tên + danh mục + mô tả + nhóm giá.</a:t>
            </a:r>
          </a:p>
          <a:p xmlns:a="http://schemas.openxmlformats.org/drawingml/2006/main">
            <a:pPr algn="l">
              <a:defRPr sz="1200" b="0">
                <a:solidFill>
                  <a:srgbClr val="17202A"/>
                </a:solidFill>
                <a:latin typeface="Aptos"/>
                <a:ea typeface="Aptos"/>
                <a:cs typeface="Aptos"/>
              </a:defRPr>
            </a:pPr>
            <a:r>
              <a:rPr sz="1200" b="0">
                <a:solidFill>
                  <a:srgbClr val="17202A"/>
                </a:solidFill>
                <a:latin typeface="Aptos"/>
                <a:ea typeface="Aptos"/>
                <a:cs typeface="Aptos"/>
              </a:rPr>
              <a:t>TF-IDF -&gt; cosine similarity.</a:t>
            </a:r>
          </a:p>
        </p:txBody>
      </p:sp>
      <p:sp>
        <p:nvSpPr>
          <p:cNvPr id="10" name="">
            <a:extLst xmlns:a="http://schemas.openxmlformats.org/drawingml/2006/main">
              <a:ext uri="{FF2B5EF4-FFF2-40B4-BE49-F238E27FC236}">
                <a16:creationId xmlns:a16="http://schemas.microsoft.com/office/drawing/2014/main" id="{258DCD0E-ADAF-47D7-B49E-19EDB7041346}"/>
              </a:ext>
            </a:extLst>
          </p:cNvPr>
          <p:cNvSpPr>
            <a:spLocks xmlns:a="http://schemas.openxmlformats.org/drawingml/2006/main" noGrp="1"/>
          </p:cNvSpPr>
          <p:nvPr/>
        </p:nvSpPr>
        <p:spPr>
          <a:xfrm xmlns:a="http://schemas.openxmlformats.org/drawingml/2006/main">
            <a:off x="4667250" y="3238500"/>
            <a:ext cx="2857500" cy="1333500"/>
          </a:xfrm>
          <a:prstGeom xmlns:a="http://schemas.openxmlformats.org/drawingml/2006/main" prst="rect">
            <a:avLst/>
          </a:prstGeom>
          <a:solidFill xmlns:a="http://schemas.openxmlformats.org/drawingml/2006/main">
            <a:srgbClr val="FFFFFF"/>
          </a:solidFill>
          <a:ln xmlns:a="http://schemas.openxmlformats.org/drawingml/2006/main" w="9525">
            <a:solidFill>
              <a:srgbClr val="D8D4CB"/>
            </a:solidFill>
            <a:prstDash val="solid"/>
          </a:ln>
        </p:spPr>
      </p:sp>
      <p:sp>
        <p:nvSpPr>
          <p:cNvPr id="11" name="">
            <a:extLst xmlns:a="http://schemas.openxmlformats.org/drawingml/2006/main">
              <a:ext uri="{FF2B5EF4-FFF2-40B4-BE49-F238E27FC236}">
                <a16:creationId xmlns:a16="http://schemas.microsoft.com/office/drawing/2014/main" id="{988014C7-0E25-4472-8D41-C4968A1B6219}"/>
              </a:ext>
            </a:extLst>
          </p:cNvPr>
          <p:cNvSpPr>
            <a:spLocks xmlns:a="http://schemas.openxmlformats.org/drawingml/2006/main" noGrp="1"/>
          </p:cNvSpPr>
          <p:nvPr/>
        </p:nvSpPr>
        <p:spPr>
          <a:xfrm xmlns:a="http://schemas.openxmlformats.org/drawingml/2006/main">
            <a:off x="4667250" y="3238500"/>
            <a:ext cx="66675" cy="1333500"/>
          </a:xfrm>
          <a:prstGeom xmlns:a="http://schemas.openxmlformats.org/drawingml/2006/main" prst="rect">
            <a:avLst/>
          </a:prstGeom>
          <a:solidFill xmlns:a="http://schemas.openxmlformats.org/drawingml/2006/main">
            <a:srgbClr val="D96B4C"/>
          </a:solidFill>
          <a:ln xmlns:a="http://schemas.openxmlformats.org/drawingml/2006/main" w="0">
            <a:solidFill>
              <a:srgbClr val="000000">
                <a:alpha val="0"/>
              </a:srgbClr>
            </a:solidFill>
            <a:prstDash val="solid"/>
          </a:ln>
        </p:spPr>
      </p:sp>
      <p:sp>
        <p:nvSpPr>
          <p:cNvPr id="12" name="">
            <a:extLst xmlns:a="http://schemas.openxmlformats.org/drawingml/2006/main">
              <a:ext uri="{FF2B5EF4-FFF2-40B4-BE49-F238E27FC236}">
                <a16:creationId xmlns:a16="http://schemas.microsoft.com/office/drawing/2014/main" id="{5CE08003-6A92-4FC7-B46A-C4A0848E79A9}"/>
              </a:ext>
            </a:extLst>
          </p:cNvPr>
          <p:cNvSpPr>
            <a:spLocks xmlns:a="http://schemas.openxmlformats.org/drawingml/2006/main" noGrp="1"/>
          </p:cNvSpPr>
          <p:nvPr/>
        </p:nvSpPr>
        <p:spPr>
          <a:xfrm xmlns:a="http://schemas.openxmlformats.org/drawingml/2006/main">
            <a:off x="4819650" y="3333750"/>
            <a:ext cx="26289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D96B4C"/>
                </a:solidFill>
                <a:latin typeface="Aptos"/>
                <a:ea typeface="Aptos"/>
                <a:cs typeface="Aptos"/>
              </a:defRPr>
            </a:pPr>
            <a:r>
              <a:rPr sz="900" b="1">
                <a:solidFill>
                  <a:srgbClr val="D96B4C"/>
                </a:solidFill>
                <a:latin typeface="Aptos"/>
                <a:ea typeface="Aptos"/>
                <a:cs typeface="Aptos"/>
              </a:rPr>
              <a:t>Collaborative</a:t>
            </a:r>
          </a:p>
        </p:txBody>
      </p:sp>
      <p:sp>
        <p:nvSpPr>
          <p:cNvPr id="13" name="">
            <a:extLst xmlns:a="http://schemas.openxmlformats.org/drawingml/2006/main">
              <a:ext uri="{FF2B5EF4-FFF2-40B4-BE49-F238E27FC236}">
                <a16:creationId xmlns:a16="http://schemas.microsoft.com/office/drawing/2014/main" id="{DF4B9DBF-8109-4A28-ABA5-CA6B461CEED2}"/>
              </a:ext>
            </a:extLst>
          </p:cNvPr>
          <p:cNvSpPr>
            <a:spLocks xmlns:a="http://schemas.openxmlformats.org/drawingml/2006/main" noGrp="1"/>
          </p:cNvSpPr>
          <p:nvPr/>
        </p:nvSpPr>
        <p:spPr>
          <a:xfrm xmlns:a="http://schemas.openxmlformats.org/drawingml/2006/main">
            <a:off x="4781550" y="3600450"/>
            <a:ext cx="2628900" cy="914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17202A"/>
                </a:solidFill>
                <a:latin typeface="Aptos"/>
                <a:ea typeface="Aptos"/>
                <a:cs typeface="Aptos"/>
              </a:defRPr>
            </a:pPr>
            <a:r>
              <a:rPr sz="1200" b="0">
                <a:solidFill>
                  <a:srgbClr val="17202A"/>
                </a:solidFill>
                <a:latin typeface="Aptos"/>
                <a:ea typeface="Aptos"/>
                <a:cs typeface="Aptos"/>
              </a:rPr>
              <a:t>Ma trận User-Item từ behavior weights.</a:t>
            </a:r>
          </a:p>
          <a:p xmlns:a="http://schemas.openxmlformats.org/drawingml/2006/main">
            <a:pPr algn="l">
              <a:defRPr sz="1200" b="0">
                <a:solidFill>
                  <a:srgbClr val="17202A"/>
                </a:solidFill>
                <a:latin typeface="Aptos"/>
                <a:ea typeface="Aptos"/>
                <a:cs typeface="Aptos"/>
              </a:defRPr>
            </a:pPr>
            <a:r>
              <a:rPr sz="1200" b="0">
                <a:solidFill>
                  <a:srgbClr val="17202A"/>
                </a:solidFill>
                <a:latin typeface="Aptos"/>
                <a:ea typeface="Aptos"/>
                <a:cs typeface="Aptos"/>
              </a:rPr>
              <a:t>Truncated SVD học latent factors.</a:t>
            </a:r>
          </a:p>
        </p:txBody>
      </p:sp>
      <p:sp>
        <p:nvSpPr>
          <p:cNvPr id="14" name="">
            <a:extLst xmlns:a="http://schemas.openxmlformats.org/drawingml/2006/main">
              <a:ext uri="{FF2B5EF4-FFF2-40B4-BE49-F238E27FC236}">
                <a16:creationId xmlns:a16="http://schemas.microsoft.com/office/drawing/2014/main" id="{4C1043B5-5B39-4EEA-B7A9-42186ECC5B0C}"/>
              </a:ext>
            </a:extLst>
          </p:cNvPr>
          <p:cNvSpPr>
            <a:spLocks xmlns:a="http://schemas.openxmlformats.org/drawingml/2006/main" noGrp="1"/>
          </p:cNvSpPr>
          <p:nvPr/>
        </p:nvSpPr>
        <p:spPr>
          <a:xfrm xmlns:a="http://schemas.openxmlformats.org/drawingml/2006/main">
            <a:off x="8286750" y="3238500"/>
            <a:ext cx="2857500" cy="1333500"/>
          </a:xfrm>
          <a:prstGeom xmlns:a="http://schemas.openxmlformats.org/drawingml/2006/main" prst="rect">
            <a:avLst/>
          </a:prstGeom>
          <a:solidFill xmlns:a="http://schemas.openxmlformats.org/drawingml/2006/main">
            <a:srgbClr val="FFFFFF"/>
          </a:solidFill>
          <a:ln xmlns:a="http://schemas.openxmlformats.org/drawingml/2006/main" w="9525">
            <a:solidFill>
              <a:srgbClr val="D8D4CB"/>
            </a:solidFill>
            <a:prstDash val="solid"/>
          </a:ln>
        </p:spPr>
      </p:sp>
      <p:sp>
        <p:nvSpPr>
          <p:cNvPr id="15" name="">
            <a:extLst xmlns:a="http://schemas.openxmlformats.org/drawingml/2006/main">
              <a:ext uri="{FF2B5EF4-FFF2-40B4-BE49-F238E27FC236}">
                <a16:creationId xmlns:a16="http://schemas.microsoft.com/office/drawing/2014/main" id="{18CC2C01-77A6-491B-BA24-12BFDC16B807}"/>
              </a:ext>
            </a:extLst>
          </p:cNvPr>
          <p:cNvSpPr>
            <a:spLocks xmlns:a="http://schemas.openxmlformats.org/drawingml/2006/main" noGrp="1"/>
          </p:cNvSpPr>
          <p:nvPr/>
        </p:nvSpPr>
        <p:spPr>
          <a:xfrm xmlns:a="http://schemas.openxmlformats.org/drawingml/2006/main">
            <a:off x="8286750" y="3238500"/>
            <a:ext cx="66675" cy="1333500"/>
          </a:xfrm>
          <a:prstGeom xmlns:a="http://schemas.openxmlformats.org/drawingml/2006/main" prst="rect">
            <a:avLst/>
          </a:prstGeom>
          <a:solidFill xmlns:a="http://schemas.openxmlformats.org/drawingml/2006/main">
            <a:srgbClr val="C8952D"/>
          </a:solidFill>
          <a:ln xmlns:a="http://schemas.openxmlformats.org/drawingml/2006/main" w="0">
            <a:solidFill>
              <a:srgbClr val="000000">
                <a:alpha val="0"/>
              </a:srgbClr>
            </a:solidFill>
            <a:prstDash val="solid"/>
          </a:ln>
        </p:spPr>
      </p:sp>
      <p:sp>
        <p:nvSpPr>
          <p:cNvPr id="16" name="">
            <a:extLst xmlns:a="http://schemas.openxmlformats.org/drawingml/2006/main">
              <a:ext uri="{FF2B5EF4-FFF2-40B4-BE49-F238E27FC236}">
                <a16:creationId xmlns:a16="http://schemas.microsoft.com/office/drawing/2014/main" id="{7AAEEEE3-1915-49F0-BBA5-9445651CDFC8}"/>
              </a:ext>
            </a:extLst>
          </p:cNvPr>
          <p:cNvSpPr>
            <a:spLocks xmlns:a="http://schemas.openxmlformats.org/drawingml/2006/main" noGrp="1"/>
          </p:cNvSpPr>
          <p:nvPr/>
        </p:nvSpPr>
        <p:spPr>
          <a:xfrm xmlns:a="http://schemas.openxmlformats.org/drawingml/2006/main">
            <a:off x="8439150" y="3333750"/>
            <a:ext cx="26289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C8952D"/>
                </a:solidFill>
                <a:latin typeface="Aptos"/>
                <a:ea typeface="Aptos"/>
                <a:cs typeface="Aptos"/>
              </a:defRPr>
            </a:pPr>
            <a:r>
              <a:rPr sz="900" b="1">
                <a:solidFill>
                  <a:srgbClr val="C8952D"/>
                </a:solidFill>
                <a:latin typeface="Aptos"/>
                <a:ea typeface="Aptos"/>
                <a:cs typeface="Aptos"/>
              </a:rPr>
              <a:t>Cold-start tiers</a:t>
            </a:r>
          </a:p>
        </p:txBody>
      </p:sp>
      <p:sp>
        <p:nvSpPr>
          <p:cNvPr id="17" name="">
            <a:extLst xmlns:a="http://schemas.openxmlformats.org/drawingml/2006/main">
              <a:ext uri="{FF2B5EF4-FFF2-40B4-BE49-F238E27FC236}">
                <a16:creationId xmlns:a16="http://schemas.microsoft.com/office/drawing/2014/main" id="{0650D474-69A7-44DF-8258-8E21863D2EB4}"/>
              </a:ext>
            </a:extLst>
          </p:cNvPr>
          <p:cNvSpPr>
            <a:spLocks xmlns:a="http://schemas.openxmlformats.org/drawingml/2006/main" noGrp="1"/>
          </p:cNvSpPr>
          <p:nvPr/>
        </p:nvSpPr>
        <p:spPr>
          <a:xfrm xmlns:a="http://schemas.openxmlformats.org/drawingml/2006/main">
            <a:off x="8401050" y="3600450"/>
            <a:ext cx="2628900" cy="914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17202A"/>
                </a:solidFill>
                <a:latin typeface="Aptos"/>
                <a:ea typeface="Aptos"/>
                <a:cs typeface="Aptos"/>
              </a:defRPr>
            </a:pPr>
            <a:r>
              <a:rPr sz="1200" b="0">
                <a:solidFill>
                  <a:srgbClr val="17202A"/>
                </a:solidFill>
                <a:latin typeface="Aptos"/>
                <a:ea typeface="Aptos"/>
                <a:cs typeface="Aptos"/>
              </a:rPr>
              <a:t>0 hành vi: trending/latest.</a:t>
            </a:r>
          </a:p>
          <a:p xmlns:a="http://schemas.openxmlformats.org/drawingml/2006/main">
            <a:pPr algn="l">
              <a:defRPr sz="1200" b="0">
                <a:solidFill>
                  <a:srgbClr val="17202A"/>
                </a:solidFill>
                <a:latin typeface="Aptos"/>
                <a:ea typeface="Aptos"/>
                <a:cs typeface="Aptos"/>
              </a:defRPr>
            </a:pPr>
            <a:r>
              <a:rPr sz="1200" b="0">
                <a:solidFill>
                  <a:srgbClr val="17202A"/>
                </a:solidFill>
                <a:latin typeface="Aptos"/>
                <a:ea typeface="Aptos"/>
                <a:cs typeface="Aptos"/>
              </a:rPr>
              <a:t>&lt;5 hành vi: pure content-based.</a:t>
            </a:r>
          </a:p>
          <a:p xmlns:a="http://schemas.openxmlformats.org/drawingml/2006/main">
            <a:pPr algn="l">
              <a:defRPr sz="1200" b="0">
                <a:solidFill>
                  <a:srgbClr val="17202A"/>
                </a:solidFill>
                <a:latin typeface="Aptos"/>
                <a:ea typeface="Aptos"/>
                <a:cs typeface="Aptos"/>
              </a:defRPr>
            </a:pPr>
            <a:r>
              <a:rPr sz="1200" b="0">
                <a:solidFill>
                  <a:srgbClr val="17202A"/>
                </a:solidFill>
                <a:latin typeface="Aptos"/>
                <a:ea typeface="Aptos"/>
                <a:cs typeface="Aptos"/>
              </a:rPr>
              <a:t>&gt;=5 hành vi: hybrid 60/40.</a:t>
            </a:r>
          </a:p>
        </p:txBody>
      </p:sp>
      <p:sp>
        <p:nvSpPr>
          <p:cNvPr id="18" name="">
            <a:extLst xmlns:a="http://schemas.openxmlformats.org/drawingml/2006/main">
              <a:ext uri="{FF2B5EF4-FFF2-40B4-BE49-F238E27FC236}">
                <a16:creationId xmlns:a16="http://schemas.microsoft.com/office/drawing/2014/main" id="{485AB70A-0F4E-4E84-834E-FBB3E999BF8A}"/>
              </a:ext>
            </a:extLst>
          </p:cNvPr>
          <p:cNvSpPr>
            <a:spLocks xmlns:a="http://schemas.openxmlformats.org/drawingml/2006/main" noGrp="1"/>
          </p:cNvSpPr>
          <p:nvPr/>
        </p:nvSpPr>
        <p:spPr>
          <a:xfrm xmlns:a="http://schemas.openxmlformats.org/drawingml/2006/main">
            <a:off x="1476375" y="5334000"/>
            <a:ext cx="9239250" cy="419100"/>
          </a:xfrm>
          <a:prstGeom xmlns:a="http://schemas.openxmlformats.org/drawingml/2006/main" prst="rect">
            <a:avLst/>
          </a:prstGeom>
          <a:solidFill xmlns:a="http://schemas.openxmlformats.org/drawingml/2006/main">
            <a:srgbClr val="EFEAE1"/>
          </a:solidFill>
          <a:ln xmlns:a="http://schemas.openxmlformats.org/drawingml/2006/main" w="0">
            <a:solidFill>
              <a:srgbClr val="000000">
                <a:alpha val="0"/>
              </a:srgbClr>
            </a:solidFill>
            <a:prstDash val="solid"/>
          </a:ln>
        </p:spPr>
        <p:txBody>
          <a:bodyPr xmlns:a="http://schemas.openxmlformats.org/drawingml/2006/main" lIns="114300" tIns="95250" rIns="114300" bIns="95250" anchor="ctr"/>
          <a:lstStyle xmlns:a="http://schemas.openxmlformats.org/drawingml/2006/main"/>
          <a:p xmlns:a="http://schemas.openxmlformats.org/drawingml/2006/main">
            <a:pPr algn="ctr">
              <a:defRPr sz="1275" b="0">
                <a:solidFill>
                  <a:srgbClr val="17202A"/>
                </a:solidFill>
                <a:latin typeface="Aptos"/>
                <a:ea typeface="Aptos"/>
                <a:cs typeface="Aptos"/>
              </a:defRPr>
            </a:pPr>
            <a:r>
              <a:rPr sz="1275" b="0">
                <a:solidFill>
                  <a:srgbClr val="17202A"/>
                </a:solidFill>
                <a:latin typeface="Aptos"/>
                <a:ea typeface="Aptos"/>
                <a:cs typeface="Aptos"/>
              </a:rPr>
              <a:t>Behavior weights: view 1.0, add_to_cart 2.0, purchase 3.0, rating 2.5; view trùng trong 30 phút được lọc để giảm nhiễu.</a:t>
            </a:r>
          </a:p>
        </p:txBody>
      </p:sp>
      <p:sp>
        <p:nvSpPr>
          <p:cNvPr id="19" name="">
            <a:extLst xmlns:a="http://schemas.openxmlformats.org/drawingml/2006/main">
              <a:ext uri="{FF2B5EF4-FFF2-40B4-BE49-F238E27FC236}">
                <a16:creationId xmlns:a16="http://schemas.microsoft.com/office/drawing/2014/main" id="{D4756E97-1F8D-4EC3-A6C1-EC7574795CF3}"/>
              </a:ext>
            </a:extLst>
          </p:cNvPr>
          <p:cNvSpPr>
            <a:spLocks xmlns:a="http://schemas.openxmlformats.org/drawingml/2006/main" noGrp="1"/>
          </p:cNvSpPr>
          <p:nvPr/>
        </p:nvSpPr>
        <p:spPr>
          <a:xfrm xmlns:a="http://schemas.openxmlformats.org/drawingml/2006/main">
            <a:off x="666750" y="6553200"/>
            <a:ext cx="7810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7A7470"/>
                </a:solidFill>
                <a:latin typeface="Aptos"/>
                <a:ea typeface="Aptos"/>
                <a:cs typeface="Aptos"/>
              </a:defRPr>
            </a:pPr>
            <a:r>
              <a:rPr sz="750" b="0">
                <a:solidFill>
                  <a:srgbClr val="7A7470"/>
                </a:solidFill>
                <a:latin typeface="Aptos"/>
                <a:ea typeface="Aptos"/>
                <a:cs typeface="Aptos"/>
              </a:rPr>
              <a:t>Nguồn: Báo cáo đồ án MyStore và mã nguồn dự án</a:t>
            </a:r>
          </a:p>
        </p:txBody>
      </p:sp>
      <p:sp>
        <p:nvSpPr>
          <p:cNvPr id="20" name="">
            <a:extLst xmlns:a="http://schemas.openxmlformats.org/drawingml/2006/main">
              <a:ext uri="{FF2B5EF4-FFF2-40B4-BE49-F238E27FC236}">
                <a16:creationId xmlns:a16="http://schemas.microsoft.com/office/drawing/2014/main" id="{FCE17F64-723C-4762-A1CD-398702E70DBB}"/>
              </a:ext>
            </a:extLst>
          </p:cNvPr>
          <p:cNvSpPr>
            <a:spLocks xmlns:a="http://schemas.openxmlformats.org/drawingml/2006/main" noGrp="1"/>
          </p:cNvSpPr>
          <p:nvPr/>
        </p:nvSpPr>
        <p:spPr>
          <a:xfrm xmlns:a="http://schemas.openxmlformats.org/drawingml/2006/main">
            <a:off x="11239500" y="6515100"/>
            <a:ext cx="3810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825" b="1">
                <a:solidFill>
                  <a:srgbClr val="7A7470"/>
                </a:solidFill>
                <a:latin typeface="Aptos"/>
                <a:ea typeface="Aptos"/>
                <a:cs typeface="Aptos"/>
              </a:defRPr>
            </a:pPr>
            <a:r>
              <a:rPr sz="825" b="1">
                <a:solidFill>
                  <a:srgbClr val="7A7470"/>
                </a:solidFill>
                <a:latin typeface="Aptos"/>
                <a:ea typeface="Aptos"/>
                <a:cs typeface="Aptos"/>
              </a:rPr>
              <a:t>09</a:t>
            </a:r>
          </a:p>
        </p:txBody>
      </p:sp>
    </p:spTree>
    <p:extLst>
      <p:ext uri="{BB962C8B-B14F-4D97-AF65-F5344CB8AC3E}">
        <p14:creationId xmlns:p14="http://schemas.microsoft.com/office/powerpoint/2010/main" val="751104457"/>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68716806-E821-4D62-95A6-F1BA862C379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4EE"/>
          </a:solidFill>
          <a:ln xmlns:a="http://schemas.openxmlformats.org/drawingml/2006/main" w="0">
            <a:solidFill>
              <a:srgbClr val="000000">
                <a:alpha val="0"/>
              </a:srgbClr>
            </a:solidFill>
            <a:prstDash val="solid"/>
          </a:ln>
        </p:spPr>
      </p:sp>
      <p:sp>
        <p:nvSpPr>
          <p:cNvPr id="2" name="kicker-10-marker">
            <a:extLst xmlns:a="http://schemas.openxmlformats.org/drawingml/2006/main">
              <a:ext uri="{FF2B5EF4-FFF2-40B4-BE49-F238E27FC236}">
                <a16:creationId xmlns:a16="http://schemas.microsoft.com/office/drawing/2014/main" id="{509D9284-EEFF-49C4-84B1-68C8BDB4EA3B}"/>
              </a:ext>
            </a:extLst>
          </p:cNvPr>
          <p:cNvSpPr>
            <a:spLocks xmlns:a="http://schemas.openxmlformats.org/drawingml/2006/main" noGrp="1"/>
          </p:cNvSpPr>
          <p:nvPr/>
        </p:nvSpPr>
        <p:spPr>
          <a:xfrm xmlns:a="http://schemas.openxmlformats.org/drawingml/2006/main">
            <a:off x="666750" y="542925"/>
            <a:ext cx="266700" cy="38100"/>
          </a:xfrm>
          <a:prstGeom xmlns:a="http://schemas.openxmlformats.org/drawingml/2006/main" prst="rect">
            <a:avLst/>
          </a:prstGeom>
          <a:solidFill xmlns:a="http://schemas.openxmlformats.org/drawingml/2006/main">
            <a:srgbClr val="3F6FA8"/>
          </a:solidFill>
          <a:ln xmlns:a="http://schemas.openxmlformats.org/drawingml/2006/main" w="0">
            <a:solidFill>
              <a:srgbClr val="000000">
                <a:alpha val="0"/>
              </a:srgbClr>
            </a:solidFill>
            <a:prstDash val="solid"/>
          </a:ln>
        </p:spPr>
      </p:sp>
      <p:sp>
        <p:nvSpPr>
          <p:cNvPr id="3" name="kicker-10-label">
            <a:extLst xmlns:a="http://schemas.openxmlformats.org/drawingml/2006/main">
              <a:ext uri="{FF2B5EF4-FFF2-40B4-BE49-F238E27FC236}">
                <a16:creationId xmlns:a16="http://schemas.microsoft.com/office/drawing/2014/main" id="{404495AE-FDDC-4D4D-9483-1016A93E3959}"/>
              </a:ext>
            </a:extLst>
          </p:cNvPr>
          <p:cNvSpPr>
            <a:spLocks xmlns:a="http://schemas.openxmlformats.org/drawingml/2006/main" noGrp="1"/>
          </p:cNvSpPr>
          <p:nvPr/>
        </p:nvSpPr>
        <p:spPr>
          <a:xfrm xmlns:a="http://schemas.openxmlformats.org/drawingml/2006/main">
            <a:off x="1066800" y="457200"/>
            <a:ext cx="31432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900" b="1">
                <a:solidFill>
                  <a:srgbClr val="3F6FA8"/>
                </a:solidFill>
                <a:latin typeface="Aptos"/>
                <a:ea typeface="Aptos"/>
                <a:cs typeface="Aptos"/>
              </a:defRPr>
            </a:pPr>
            <a:r>
              <a:rPr sz="900" b="1">
                <a:solidFill>
                  <a:srgbClr val="3F6FA8"/>
                </a:solidFill>
                <a:latin typeface="Aptos"/>
                <a:ea typeface="Aptos"/>
                <a:cs typeface="Aptos"/>
              </a:rPr>
              <a:t>API &amp; TRIỂN KHAI</a:t>
            </a:r>
          </a:p>
        </p:txBody>
      </p:sp>
      <p:sp>
        <p:nvSpPr>
          <p:cNvPr id="4" name="">
            <a:extLst xmlns:a="http://schemas.openxmlformats.org/drawingml/2006/main">
              <a:ext uri="{FF2B5EF4-FFF2-40B4-BE49-F238E27FC236}">
                <a16:creationId xmlns:a16="http://schemas.microsoft.com/office/drawing/2014/main" id="{F9818B00-5275-4AD5-BEE2-E5D3B10DC7C9}"/>
              </a:ext>
            </a:extLst>
          </p:cNvPr>
          <p:cNvSpPr>
            <a:spLocks xmlns:a="http://schemas.openxmlformats.org/drawingml/2006/main" noGrp="1"/>
          </p:cNvSpPr>
          <p:nvPr/>
        </p:nvSpPr>
        <p:spPr>
          <a:xfrm xmlns:a="http://schemas.openxmlformats.org/drawingml/2006/main">
            <a:off x="666750" y="781050"/>
            <a:ext cx="8572500" cy="914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700" b="1">
                <a:solidFill>
                  <a:srgbClr val="17202A"/>
                </a:solidFill>
                <a:latin typeface="Aptos Display"/>
                <a:ea typeface="Aptos Display"/>
                <a:cs typeface="Aptos Display"/>
              </a:defRPr>
            </a:pPr>
            <a:r>
              <a:rPr sz="2700" b="1">
                <a:solidFill>
                  <a:srgbClr val="17202A"/>
                </a:solidFill>
                <a:latin typeface="Aptos Display"/>
                <a:ea typeface="Aptos Display"/>
                <a:cs typeface="Aptos Display"/>
              </a:rPr>
              <a:t>Endpoint được tách theo nghiệp vụ, còn deployment bám theo từng runtime.</a:t>
            </a:r>
          </a:p>
        </p:txBody>
      </p:sp>
      <p:sp>
        <p:nvSpPr>
          <p:cNvPr id="5" name="">
            <a:extLst xmlns:a="http://schemas.openxmlformats.org/drawingml/2006/main">
              <a:ext uri="{FF2B5EF4-FFF2-40B4-BE49-F238E27FC236}">
                <a16:creationId xmlns:a16="http://schemas.microsoft.com/office/drawing/2014/main" id="{02519724-BC71-4B4E-8005-D790C483F96C}"/>
              </a:ext>
            </a:extLst>
          </p:cNvPr>
          <p:cNvSpPr>
            <a:spLocks xmlns:a="http://schemas.openxmlformats.org/drawingml/2006/main" noGrp="1"/>
          </p:cNvSpPr>
          <p:nvPr/>
        </p:nvSpPr>
        <p:spPr>
          <a:xfrm xmlns:a="http://schemas.openxmlformats.org/drawingml/2006/main">
            <a:off x="876300" y="2095500"/>
            <a:ext cx="1524000" cy="285750"/>
          </a:xfrm>
          <a:prstGeom xmlns:a="http://schemas.openxmlformats.org/drawingml/2006/main" prst="rect">
            <a:avLst/>
          </a:prstGeom>
          <a:solidFill xmlns:a="http://schemas.openxmlformats.org/drawingml/2006/main">
            <a:srgbClr val="17202A"/>
          </a:solidFill>
          <a:ln xmlns:a="http://schemas.openxmlformats.org/drawingml/2006/main" w="0">
            <a:solidFill>
              <a:srgbClr val="000000">
                <a:alpha val="0"/>
              </a:srgbClr>
            </a:solidFill>
            <a:prstDash val="solid"/>
          </a:ln>
        </p:spPr>
        <p:txBody>
          <a:bodyPr xmlns:a="http://schemas.openxmlformats.org/drawingml/2006/main" lIns="114300" tIns="95250" rIns="114300" bIns="95250" anchor="ctr"/>
          <a:lstStyle xmlns:a="http://schemas.openxmlformats.org/drawingml/2006/main"/>
          <a:p xmlns:a="http://schemas.openxmlformats.org/drawingml/2006/main">
            <a:pPr algn="ctr">
              <a:defRPr sz="1050" b="1">
                <a:solidFill>
                  <a:srgbClr val="FFFFFF"/>
                </a:solidFill>
                <a:latin typeface="Aptos"/>
                <a:ea typeface="Aptos"/>
                <a:cs typeface="Aptos"/>
              </a:defRPr>
            </a:pPr>
            <a:r>
              <a:rPr sz="1050" b="1">
                <a:solidFill>
                  <a:srgbClr val="FFFFFF"/>
                </a:solidFill>
                <a:latin typeface="Aptos"/>
                <a:ea typeface="Aptos"/>
                <a:cs typeface="Aptos"/>
              </a:rPr>
              <a:t>Nhóm</a:t>
            </a:r>
          </a:p>
        </p:txBody>
      </p:sp>
      <p:sp>
        <p:nvSpPr>
          <p:cNvPr id="6" name="">
            <a:extLst xmlns:a="http://schemas.openxmlformats.org/drawingml/2006/main">
              <a:ext uri="{FF2B5EF4-FFF2-40B4-BE49-F238E27FC236}">
                <a16:creationId xmlns:a16="http://schemas.microsoft.com/office/drawing/2014/main" id="{4B28C0F7-EBDD-493A-BD0C-293C6EB22FAD}"/>
              </a:ext>
            </a:extLst>
          </p:cNvPr>
          <p:cNvSpPr>
            <a:spLocks xmlns:a="http://schemas.openxmlformats.org/drawingml/2006/main" noGrp="1"/>
          </p:cNvSpPr>
          <p:nvPr/>
        </p:nvSpPr>
        <p:spPr>
          <a:xfrm xmlns:a="http://schemas.openxmlformats.org/drawingml/2006/main">
            <a:off x="2400300" y="2095500"/>
            <a:ext cx="5905500" cy="285750"/>
          </a:xfrm>
          <a:prstGeom xmlns:a="http://schemas.openxmlformats.org/drawingml/2006/main" prst="rect">
            <a:avLst/>
          </a:prstGeom>
          <a:solidFill xmlns:a="http://schemas.openxmlformats.org/drawingml/2006/main">
            <a:srgbClr val="17202A"/>
          </a:solidFill>
          <a:ln xmlns:a="http://schemas.openxmlformats.org/drawingml/2006/main" w="0">
            <a:solidFill>
              <a:srgbClr val="000000">
                <a:alpha val="0"/>
              </a:srgbClr>
            </a:solidFill>
            <a:prstDash val="solid"/>
          </a:ln>
        </p:spPr>
        <p:txBody>
          <a:bodyPr xmlns:a="http://schemas.openxmlformats.org/drawingml/2006/main" lIns="114300" tIns="95250" rIns="114300" bIns="95250" anchor="ctr"/>
          <a:lstStyle xmlns:a="http://schemas.openxmlformats.org/drawingml/2006/main"/>
          <a:p xmlns:a="http://schemas.openxmlformats.org/drawingml/2006/main">
            <a:pPr algn="ctr">
              <a:defRPr sz="1050" b="1">
                <a:solidFill>
                  <a:srgbClr val="FFFFFF"/>
                </a:solidFill>
                <a:latin typeface="Aptos"/>
                <a:ea typeface="Aptos"/>
                <a:cs typeface="Aptos"/>
              </a:defRPr>
            </a:pPr>
            <a:r>
              <a:rPr sz="1050" b="1">
                <a:solidFill>
                  <a:srgbClr val="FFFFFF"/>
                </a:solidFill>
                <a:latin typeface="Aptos"/>
                <a:ea typeface="Aptos"/>
                <a:cs typeface="Aptos"/>
              </a:rPr>
              <a:t>Endpoint chính</a:t>
            </a:r>
          </a:p>
        </p:txBody>
      </p:sp>
      <p:sp>
        <p:nvSpPr>
          <p:cNvPr id="7" name="">
            <a:extLst xmlns:a="http://schemas.openxmlformats.org/drawingml/2006/main">
              <a:ext uri="{FF2B5EF4-FFF2-40B4-BE49-F238E27FC236}">
                <a16:creationId xmlns:a16="http://schemas.microsoft.com/office/drawing/2014/main" id="{3458BD8C-1E0D-4CED-BE14-230D50885FAE}"/>
              </a:ext>
            </a:extLst>
          </p:cNvPr>
          <p:cNvSpPr>
            <a:spLocks xmlns:a="http://schemas.openxmlformats.org/drawingml/2006/main" noGrp="1"/>
          </p:cNvSpPr>
          <p:nvPr/>
        </p:nvSpPr>
        <p:spPr>
          <a:xfrm xmlns:a="http://schemas.openxmlformats.org/drawingml/2006/main">
            <a:off x="8305800" y="2095500"/>
            <a:ext cx="2857500" cy="285750"/>
          </a:xfrm>
          <a:prstGeom xmlns:a="http://schemas.openxmlformats.org/drawingml/2006/main" prst="rect">
            <a:avLst/>
          </a:prstGeom>
          <a:solidFill xmlns:a="http://schemas.openxmlformats.org/drawingml/2006/main">
            <a:srgbClr val="17202A"/>
          </a:solidFill>
          <a:ln xmlns:a="http://schemas.openxmlformats.org/drawingml/2006/main" w="0">
            <a:solidFill>
              <a:srgbClr val="000000">
                <a:alpha val="0"/>
              </a:srgbClr>
            </a:solidFill>
            <a:prstDash val="solid"/>
          </a:ln>
        </p:spPr>
        <p:txBody>
          <a:bodyPr xmlns:a="http://schemas.openxmlformats.org/drawingml/2006/main" lIns="114300" tIns="95250" rIns="114300" bIns="95250" anchor="ctr"/>
          <a:lstStyle xmlns:a="http://schemas.openxmlformats.org/drawingml/2006/main"/>
          <a:p xmlns:a="http://schemas.openxmlformats.org/drawingml/2006/main">
            <a:pPr algn="ctr">
              <a:defRPr sz="1050" b="1">
                <a:solidFill>
                  <a:srgbClr val="FFFFFF"/>
                </a:solidFill>
                <a:latin typeface="Aptos"/>
                <a:ea typeface="Aptos"/>
                <a:cs typeface="Aptos"/>
              </a:defRPr>
            </a:pPr>
            <a:r>
              <a:rPr sz="1050" b="1">
                <a:solidFill>
                  <a:srgbClr val="FFFFFF"/>
                </a:solidFill>
                <a:latin typeface="Aptos"/>
                <a:ea typeface="Aptos"/>
                <a:cs typeface="Aptos"/>
              </a:rPr>
              <a:t>Vai trò</a:t>
            </a:r>
          </a:p>
        </p:txBody>
      </p:sp>
      <p:sp>
        <p:nvSpPr>
          <p:cNvPr id="8" name="">
            <a:extLst xmlns:a="http://schemas.openxmlformats.org/drawingml/2006/main">
              <a:ext uri="{FF2B5EF4-FFF2-40B4-BE49-F238E27FC236}">
                <a16:creationId xmlns:a16="http://schemas.microsoft.com/office/drawing/2014/main" id="{2D07BA75-DD18-4346-85C4-606E0BF77DE6}"/>
              </a:ext>
            </a:extLst>
          </p:cNvPr>
          <p:cNvSpPr>
            <a:spLocks xmlns:a="http://schemas.openxmlformats.org/drawingml/2006/main" noGrp="1"/>
          </p:cNvSpPr>
          <p:nvPr/>
        </p:nvSpPr>
        <p:spPr>
          <a:xfrm xmlns:a="http://schemas.openxmlformats.org/drawingml/2006/main">
            <a:off x="876300" y="2457450"/>
            <a:ext cx="1524000" cy="457200"/>
          </a:xfrm>
          <a:prstGeom xmlns:a="http://schemas.openxmlformats.org/drawingml/2006/main" prst="rect">
            <a:avLst/>
          </a:prstGeom>
          <a:solidFill xmlns:a="http://schemas.openxmlformats.org/drawingml/2006/main">
            <a:srgbClr val="EFEAE1"/>
          </a:solidFill>
          <a:ln xmlns:a="http://schemas.openxmlformats.org/drawingml/2006/main" w="0">
            <a:solidFill>
              <a:srgbClr val="000000">
                <a:alpha val="0"/>
              </a:srgbClr>
            </a:solidFill>
            <a:prstDash val="solid"/>
          </a:ln>
        </p:spPr>
        <p:txBody>
          <a:bodyPr xmlns:a="http://schemas.openxmlformats.org/drawingml/2006/main" lIns="114300" tIns="95250" rIns="114300" bIns="95250" anchor="ctr"/>
          <a:lstStyle xmlns:a="http://schemas.openxmlformats.org/drawingml/2006/main"/>
          <a:p xmlns:a="http://schemas.openxmlformats.org/drawingml/2006/main">
            <a:pPr algn="ctr">
              <a:defRPr sz="1050" b="1">
                <a:solidFill>
                  <a:srgbClr val="17202A"/>
                </a:solidFill>
                <a:latin typeface="Aptos"/>
                <a:ea typeface="Aptos"/>
                <a:cs typeface="Aptos"/>
              </a:defRPr>
            </a:pPr>
            <a:r>
              <a:rPr sz="1050" b="1">
                <a:solidFill>
                  <a:srgbClr val="17202A"/>
                </a:solidFill>
                <a:latin typeface="Aptos"/>
                <a:ea typeface="Aptos"/>
                <a:cs typeface="Aptos"/>
              </a:rPr>
              <a:t>User</a:t>
            </a:r>
          </a:p>
        </p:txBody>
      </p:sp>
      <p:sp>
        <p:nvSpPr>
          <p:cNvPr id="9" name="">
            <a:extLst xmlns:a="http://schemas.openxmlformats.org/drawingml/2006/main">
              <a:ext uri="{FF2B5EF4-FFF2-40B4-BE49-F238E27FC236}">
                <a16:creationId xmlns:a16="http://schemas.microsoft.com/office/drawing/2014/main" id="{E3C026E9-424C-408B-AFFB-2D85366B2474}"/>
              </a:ext>
            </a:extLst>
          </p:cNvPr>
          <p:cNvSpPr>
            <a:spLocks xmlns:a="http://schemas.openxmlformats.org/drawingml/2006/main" noGrp="1"/>
          </p:cNvSpPr>
          <p:nvPr/>
        </p:nvSpPr>
        <p:spPr>
          <a:xfrm xmlns:a="http://schemas.openxmlformats.org/drawingml/2006/main">
            <a:off x="2400300" y="2457450"/>
            <a:ext cx="5905500" cy="457200"/>
          </a:xfrm>
          <a:prstGeom xmlns:a="http://schemas.openxmlformats.org/drawingml/2006/main" prst="rect">
            <a:avLst/>
          </a:prstGeom>
          <a:solidFill xmlns:a="http://schemas.openxmlformats.org/drawingml/2006/main">
            <a:srgbClr val="EFEAE1"/>
          </a:solidFill>
          <a:ln xmlns:a="http://schemas.openxmlformats.org/drawingml/2006/main" w="0">
            <a:solidFill>
              <a:srgbClr val="000000">
                <a:alpha val="0"/>
              </a:srgbClr>
            </a:solidFill>
            <a:prstDash val="solid"/>
          </a:ln>
        </p:spPr>
        <p:txBody>
          <a:bodyPr xmlns:a="http://schemas.openxmlformats.org/drawingml/2006/main" lIns="114300" tIns="95250" rIns="114300" bIns="95250" anchor="ctr"/>
          <a:lstStyle xmlns:a="http://schemas.openxmlformats.org/drawingml/2006/main"/>
          <a:p xmlns:a="http://schemas.openxmlformats.org/drawingml/2006/main">
            <a:pPr algn="l">
              <a:defRPr sz="900" b="0">
                <a:solidFill>
                  <a:srgbClr val="17202A"/>
                </a:solidFill>
                <a:latin typeface="Aptos Mono"/>
                <a:ea typeface="Aptos Mono"/>
                <a:cs typeface="Aptos Mono"/>
              </a:defRPr>
            </a:pPr>
            <a:r>
              <a:rPr sz="900" b="0">
                <a:solidFill>
                  <a:srgbClr val="17202A"/>
                </a:solidFill>
                <a:latin typeface="Aptos Mono"/>
                <a:ea typeface="Aptos Mono"/>
                <a:cs typeface="Aptos Mono"/>
              </a:rPr>
              <a:t>/api/user/register, /login, /logout, /is-auth</a:t>
            </a:r>
          </a:p>
        </p:txBody>
      </p:sp>
      <p:sp>
        <p:nvSpPr>
          <p:cNvPr id="10" name="">
            <a:extLst xmlns:a="http://schemas.openxmlformats.org/drawingml/2006/main">
              <a:ext uri="{FF2B5EF4-FFF2-40B4-BE49-F238E27FC236}">
                <a16:creationId xmlns:a16="http://schemas.microsoft.com/office/drawing/2014/main" id="{9E68EAE0-0384-4C4C-9C49-37554437E5EE}"/>
              </a:ext>
            </a:extLst>
          </p:cNvPr>
          <p:cNvSpPr>
            <a:spLocks xmlns:a="http://schemas.openxmlformats.org/drawingml/2006/main" noGrp="1"/>
          </p:cNvSpPr>
          <p:nvPr/>
        </p:nvSpPr>
        <p:spPr>
          <a:xfrm xmlns:a="http://schemas.openxmlformats.org/drawingml/2006/main">
            <a:off x="8305800" y="2457450"/>
            <a:ext cx="2857500" cy="457200"/>
          </a:xfrm>
          <a:prstGeom xmlns:a="http://schemas.openxmlformats.org/drawingml/2006/main" prst="rect">
            <a:avLst/>
          </a:prstGeom>
          <a:solidFill xmlns:a="http://schemas.openxmlformats.org/drawingml/2006/main">
            <a:srgbClr val="EFEAE1"/>
          </a:solidFill>
          <a:ln xmlns:a="http://schemas.openxmlformats.org/drawingml/2006/main" w="0">
            <a:solidFill>
              <a:srgbClr val="000000">
                <a:alpha val="0"/>
              </a:srgbClr>
            </a:solidFill>
            <a:prstDash val="solid"/>
          </a:ln>
        </p:spPr>
        <p:txBody>
          <a:bodyPr xmlns:a="http://schemas.openxmlformats.org/drawingml/2006/main" lIns="114300" tIns="95250" rIns="114300" bIns="95250" anchor="ctr"/>
          <a:lstStyle xmlns:a="http://schemas.openxmlformats.org/drawingml/2006/main"/>
          <a:p xmlns:a="http://schemas.openxmlformats.org/drawingml/2006/main">
            <a:pPr algn="ctr">
              <a:defRPr sz="975" b="0">
                <a:solidFill>
                  <a:srgbClr val="17202A"/>
                </a:solidFill>
                <a:latin typeface="Aptos"/>
                <a:ea typeface="Aptos"/>
                <a:cs typeface="Aptos"/>
              </a:defRPr>
            </a:pPr>
            <a:r>
              <a:rPr sz="975" b="0">
                <a:solidFill>
                  <a:srgbClr val="17202A"/>
                </a:solidFill>
                <a:latin typeface="Aptos"/>
                <a:ea typeface="Aptos"/>
                <a:cs typeface="Aptos"/>
              </a:rPr>
              <a:t>JWT + HTTP-only cookie</a:t>
            </a:r>
          </a:p>
        </p:txBody>
      </p:sp>
      <p:sp>
        <p:nvSpPr>
          <p:cNvPr id="11" name="">
            <a:extLst xmlns:a="http://schemas.openxmlformats.org/drawingml/2006/main">
              <a:ext uri="{FF2B5EF4-FFF2-40B4-BE49-F238E27FC236}">
                <a16:creationId xmlns:a16="http://schemas.microsoft.com/office/drawing/2014/main" id="{D5914BAD-AB77-4DC9-A61D-D20BFA286655}"/>
              </a:ext>
            </a:extLst>
          </p:cNvPr>
          <p:cNvSpPr>
            <a:spLocks xmlns:a="http://schemas.openxmlformats.org/drawingml/2006/main" noGrp="1"/>
          </p:cNvSpPr>
          <p:nvPr/>
        </p:nvSpPr>
        <p:spPr>
          <a:xfrm xmlns:a="http://schemas.openxmlformats.org/drawingml/2006/main">
            <a:off x="876300" y="3009900"/>
            <a:ext cx="1524000" cy="457200"/>
          </a:xfrm>
          <a:prstGeom xmlns:a="http://schemas.openxmlformats.org/drawingml/2006/main" prst="rect">
            <a:avLst/>
          </a:prstGeom>
          <a:solidFill xmlns:a="http://schemas.openxmlformats.org/drawingml/2006/main">
            <a:srgbClr val="FFFFFF"/>
          </a:solidFill>
          <a:ln xmlns:a="http://schemas.openxmlformats.org/drawingml/2006/main" w="0">
            <a:solidFill>
              <a:srgbClr val="000000">
                <a:alpha val="0"/>
              </a:srgbClr>
            </a:solidFill>
            <a:prstDash val="solid"/>
          </a:ln>
        </p:spPr>
        <p:txBody>
          <a:bodyPr xmlns:a="http://schemas.openxmlformats.org/drawingml/2006/main" lIns="114300" tIns="95250" rIns="114300" bIns="95250" anchor="ctr"/>
          <a:lstStyle xmlns:a="http://schemas.openxmlformats.org/drawingml/2006/main"/>
          <a:p xmlns:a="http://schemas.openxmlformats.org/drawingml/2006/main">
            <a:pPr algn="ctr">
              <a:defRPr sz="1050" b="1">
                <a:solidFill>
                  <a:srgbClr val="17202A"/>
                </a:solidFill>
                <a:latin typeface="Aptos"/>
                <a:ea typeface="Aptos"/>
                <a:cs typeface="Aptos"/>
              </a:defRPr>
            </a:pPr>
            <a:r>
              <a:rPr sz="1050" b="1">
                <a:solidFill>
                  <a:srgbClr val="17202A"/>
                </a:solidFill>
                <a:latin typeface="Aptos"/>
                <a:ea typeface="Aptos"/>
                <a:cs typeface="Aptos"/>
              </a:rPr>
              <a:t>Product</a:t>
            </a:r>
          </a:p>
        </p:txBody>
      </p:sp>
      <p:sp>
        <p:nvSpPr>
          <p:cNvPr id="12" name="">
            <a:extLst xmlns:a="http://schemas.openxmlformats.org/drawingml/2006/main">
              <a:ext uri="{FF2B5EF4-FFF2-40B4-BE49-F238E27FC236}">
                <a16:creationId xmlns:a16="http://schemas.microsoft.com/office/drawing/2014/main" id="{EE77A0DC-70B0-427F-AD73-9F017856F246}"/>
              </a:ext>
            </a:extLst>
          </p:cNvPr>
          <p:cNvSpPr>
            <a:spLocks xmlns:a="http://schemas.openxmlformats.org/drawingml/2006/main" noGrp="1"/>
          </p:cNvSpPr>
          <p:nvPr/>
        </p:nvSpPr>
        <p:spPr>
          <a:xfrm xmlns:a="http://schemas.openxmlformats.org/drawingml/2006/main">
            <a:off x="2400300" y="3009900"/>
            <a:ext cx="5905500" cy="457200"/>
          </a:xfrm>
          <a:prstGeom xmlns:a="http://schemas.openxmlformats.org/drawingml/2006/main" prst="rect">
            <a:avLst/>
          </a:prstGeom>
          <a:solidFill xmlns:a="http://schemas.openxmlformats.org/drawingml/2006/main">
            <a:srgbClr val="FFFFFF"/>
          </a:solidFill>
          <a:ln xmlns:a="http://schemas.openxmlformats.org/drawingml/2006/main" w="0">
            <a:solidFill>
              <a:srgbClr val="000000">
                <a:alpha val="0"/>
              </a:srgbClr>
            </a:solidFill>
            <a:prstDash val="solid"/>
          </a:ln>
        </p:spPr>
        <p:txBody>
          <a:bodyPr xmlns:a="http://schemas.openxmlformats.org/drawingml/2006/main" lIns="114300" tIns="95250" rIns="114300" bIns="95250" anchor="ctr"/>
          <a:lstStyle xmlns:a="http://schemas.openxmlformats.org/drawingml/2006/main"/>
          <a:p xmlns:a="http://schemas.openxmlformats.org/drawingml/2006/main">
            <a:pPr algn="l">
              <a:defRPr sz="900" b="0">
                <a:solidFill>
                  <a:srgbClr val="17202A"/>
                </a:solidFill>
                <a:latin typeface="Aptos Mono"/>
                <a:ea typeface="Aptos Mono"/>
                <a:cs typeface="Aptos Mono"/>
              </a:defRPr>
            </a:pPr>
            <a:r>
              <a:rPr sz="900" b="0">
                <a:solidFill>
                  <a:srgbClr val="17202A"/>
                </a:solidFill>
                <a:latin typeface="Aptos Mono"/>
                <a:ea typeface="Aptos Mono"/>
                <a:cs typeface="Aptos Mono"/>
              </a:rPr>
              <a:t>/api/product/add, /list, /id, /edit, /delete, /search</a:t>
            </a:r>
          </a:p>
        </p:txBody>
      </p:sp>
      <p:sp>
        <p:nvSpPr>
          <p:cNvPr id="13" name="">
            <a:extLst xmlns:a="http://schemas.openxmlformats.org/drawingml/2006/main">
              <a:ext uri="{FF2B5EF4-FFF2-40B4-BE49-F238E27FC236}">
                <a16:creationId xmlns:a16="http://schemas.microsoft.com/office/drawing/2014/main" id="{F22D85BD-2779-40F6-822B-8EC109F5A87E}"/>
              </a:ext>
            </a:extLst>
          </p:cNvPr>
          <p:cNvSpPr>
            <a:spLocks xmlns:a="http://schemas.openxmlformats.org/drawingml/2006/main" noGrp="1"/>
          </p:cNvSpPr>
          <p:nvPr/>
        </p:nvSpPr>
        <p:spPr>
          <a:xfrm xmlns:a="http://schemas.openxmlformats.org/drawingml/2006/main">
            <a:off x="8305800" y="3009900"/>
            <a:ext cx="2857500" cy="457200"/>
          </a:xfrm>
          <a:prstGeom xmlns:a="http://schemas.openxmlformats.org/drawingml/2006/main" prst="rect">
            <a:avLst/>
          </a:prstGeom>
          <a:solidFill xmlns:a="http://schemas.openxmlformats.org/drawingml/2006/main">
            <a:srgbClr val="FFFFFF"/>
          </a:solidFill>
          <a:ln xmlns:a="http://schemas.openxmlformats.org/drawingml/2006/main" w="0">
            <a:solidFill>
              <a:srgbClr val="000000">
                <a:alpha val="0"/>
              </a:srgbClr>
            </a:solidFill>
            <a:prstDash val="solid"/>
          </a:ln>
        </p:spPr>
        <p:txBody>
          <a:bodyPr xmlns:a="http://schemas.openxmlformats.org/drawingml/2006/main" lIns="114300" tIns="95250" rIns="114300" bIns="95250" anchor="ctr"/>
          <a:lstStyle xmlns:a="http://schemas.openxmlformats.org/drawingml/2006/main"/>
          <a:p xmlns:a="http://schemas.openxmlformats.org/drawingml/2006/main">
            <a:pPr algn="ctr">
              <a:defRPr sz="975" b="0">
                <a:solidFill>
                  <a:srgbClr val="17202A"/>
                </a:solidFill>
                <a:latin typeface="Aptos"/>
                <a:ea typeface="Aptos"/>
                <a:cs typeface="Aptos"/>
              </a:defRPr>
            </a:pPr>
            <a:r>
              <a:rPr sz="975" b="0">
                <a:solidFill>
                  <a:srgbClr val="17202A"/>
                </a:solidFill>
                <a:latin typeface="Aptos"/>
                <a:ea typeface="Aptos"/>
                <a:cs typeface="Aptos"/>
              </a:rPr>
              <a:t>CRUD + search + variants</a:t>
            </a:r>
          </a:p>
        </p:txBody>
      </p:sp>
      <p:sp>
        <p:nvSpPr>
          <p:cNvPr id="14" name="">
            <a:extLst xmlns:a="http://schemas.openxmlformats.org/drawingml/2006/main">
              <a:ext uri="{FF2B5EF4-FFF2-40B4-BE49-F238E27FC236}">
                <a16:creationId xmlns:a16="http://schemas.microsoft.com/office/drawing/2014/main" id="{26186CC7-C0FE-447E-9EF8-35DFB140D68A}"/>
              </a:ext>
            </a:extLst>
          </p:cNvPr>
          <p:cNvSpPr>
            <a:spLocks xmlns:a="http://schemas.openxmlformats.org/drawingml/2006/main" noGrp="1"/>
          </p:cNvSpPr>
          <p:nvPr/>
        </p:nvSpPr>
        <p:spPr>
          <a:xfrm xmlns:a="http://schemas.openxmlformats.org/drawingml/2006/main">
            <a:off x="876300" y="3562350"/>
            <a:ext cx="1524000" cy="457200"/>
          </a:xfrm>
          <a:prstGeom xmlns:a="http://schemas.openxmlformats.org/drawingml/2006/main" prst="rect">
            <a:avLst/>
          </a:prstGeom>
          <a:solidFill xmlns:a="http://schemas.openxmlformats.org/drawingml/2006/main">
            <a:srgbClr val="EFEAE1"/>
          </a:solidFill>
          <a:ln xmlns:a="http://schemas.openxmlformats.org/drawingml/2006/main" w="0">
            <a:solidFill>
              <a:srgbClr val="000000">
                <a:alpha val="0"/>
              </a:srgbClr>
            </a:solidFill>
            <a:prstDash val="solid"/>
          </a:ln>
        </p:spPr>
        <p:txBody>
          <a:bodyPr xmlns:a="http://schemas.openxmlformats.org/drawingml/2006/main" lIns="114300" tIns="95250" rIns="114300" bIns="95250" anchor="ctr"/>
          <a:lstStyle xmlns:a="http://schemas.openxmlformats.org/drawingml/2006/main"/>
          <a:p xmlns:a="http://schemas.openxmlformats.org/drawingml/2006/main">
            <a:pPr algn="ctr">
              <a:defRPr sz="1050" b="1">
                <a:solidFill>
                  <a:srgbClr val="17202A"/>
                </a:solidFill>
                <a:latin typeface="Aptos"/>
                <a:ea typeface="Aptos"/>
                <a:cs typeface="Aptos"/>
              </a:defRPr>
            </a:pPr>
            <a:r>
              <a:rPr sz="1050" b="1">
                <a:solidFill>
                  <a:srgbClr val="17202A"/>
                </a:solidFill>
                <a:latin typeface="Aptos"/>
                <a:ea typeface="Aptos"/>
                <a:cs typeface="Aptos"/>
              </a:rPr>
              <a:t>Order</a:t>
            </a:r>
          </a:p>
        </p:txBody>
      </p:sp>
      <p:sp>
        <p:nvSpPr>
          <p:cNvPr id="15" name="">
            <a:extLst xmlns:a="http://schemas.openxmlformats.org/drawingml/2006/main">
              <a:ext uri="{FF2B5EF4-FFF2-40B4-BE49-F238E27FC236}">
                <a16:creationId xmlns:a16="http://schemas.microsoft.com/office/drawing/2014/main" id="{2093D86D-A4CC-42A9-84C0-7533034B7B50}"/>
              </a:ext>
            </a:extLst>
          </p:cNvPr>
          <p:cNvSpPr>
            <a:spLocks xmlns:a="http://schemas.openxmlformats.org/drawingml/2006/main" noGrp="1"/>
          </p:cNvSpPr>
          <p:nvPr/>
        </p:nvSpPr>
        <p:spPr>
          <a:xfrm xmlns:a="http://schemas.openxmlformats.org/drawingml/2006/main">
            <a:off x="2400300" y="3562350"/>
            <a:ext cx="5905500" cy="457200"/>
          </a:xfrm>
          <a:prstGeom xmlns:a="http://schemas.openxmlformats.org/drawingml/2006/main" prst="rect">
            <a:avLst/>
          </a:prstGeom>
          <a:solidFill xmlns:a="http://schemas.openxmlformats.org/drawingml/2006/main">
            <a:srgbClr val="EFEAE1"/>
          </a:solidFill>
          <a:ln xmlns:a="http://schemas.openxmlformats.org/drawingml/2006/main" w="0">
            <a:solidFill>
              <a:srgbClr val="000000">
                <a:alpha val="0"/>
              </a:srgbClr>
            </a:solidFill>
            <a:prstDash val="solid"/>
          </a:ln>
        </p:spPr>
        <p:txBody>
          <a:bodyPr xmlns:a="http://schemas.openxmlformats.org/drawingml/2006/main" lIns="114300" tIns="95250" rIns="114300" bIns="95250" anchor="ctr"/>
          <a:lstStyle xmlns:a="http://schemas.openxmlformats.org/drawingml/2006/main"/>
          <a:p xmlns:a="http://schemas.openxmlformats.org/drawingml/2006/main">
            <a:pPr algn="l">
              <a:defRPr sz="900" b="0">
                <a:solidFill>
                  <a:srgbClr val="17202A"/>
                </a:solidFill>
                <a:latin typeface="Aptos Mono"/>
                <a:ea typeface="Aptos Mono"/>
                <a:cs typeface="Aptos Mono"/>
              </a:defRPr>
            </a:pPr>
            <a:r>
              <a:rPr sz="900" b="0">
                <a:solidFill>
                  <a:srgbClr val="17202A"/>
                </a:solidFill>
                <a:latin typeface="Aptos Mono"/>
                <a:ea typeface="Aptos Mono"/>
                <a:cs typeface="Aptos Mono"/>
              </a:rPr>
              <a:t>/api/order/cod, /stripe, /user, /seller, /stripe-webhook</a:t>
            </a:r>
          </a:p>
        </p:txBody>
      </p:sp>
      <p:sp>
        <p:nvSpPr>
          <p:cNvPr id="16" name="">
            <a:extLst xmlns:a="http://schemas.openxmlformats.org/drawingml/2006/main">
              <a:ext uri="{FF2B5EF4-FFF2-40B4-BE49-F238E27FC236}">
                <a16:creationId xmlns:a16="http://schemas.microsoft.com/office/drawing/2014/main" id="{CAA08229-26CE-4E54-8E7A-EAB680292C65}"/>
              </a:ext>
            </a:extLst>
          </p:cNvPr>
          <p:cNvSpPr>
            <a:spLocks xmlns:a="http://schemas.openxmlformats.org/drawingml/2006/main" noGrp="1"/>
          </p:cNvSpPr>
          <p:nvPr/>
        </p:nvSpPr>
        <p:spPr>
          <a:xfrm xmlns:a="http://schemas.openxmlformats.org/drawingml/2006/main">
            <a:off x="8305800" y="3562350"/>
            <a:ext cx="2857500" cy="457200"/>
          </a:xfrm>
          <a:prstGeom xmlns:a="http://schemas.openxmlformats.org/drawingml/2006/main" prst="rect">
            <a:avLst/>
          </a:prstGeom>
          <a:solidFill xmlns:a="http://schemas.openxmlformats.org/drawingml/2006/main">
            <a:srgbClr val="EFEAE1"/>
          </a:solidFill>
          <a:ln xmlns:a="http://schemas.openxmlformats.org/drawingml/2006/main" w="0">
            <a:solidFill>
              <a:srgbClr val="000000">
                <a:alpha val="0"/>
              </a:srgbClr>
            </a:solidFill>
            <a:prstDash val="solid"/>
          </a:ln>
        </p:spPr>
        <p:txBody>
          <a:bodyPr xmlns:a="http://schemas.openxmlformats.org/drawingml/2006/main" lIns="114300" tIns="95250" rIns="114300" bIns="95250" anchor="ctr"/>
          <a:lstStyle xmlns:a="http://schemas.openxmlformats.org/drawingml/2006/main"/>
          <a:p xmlns:a="http://schemas.openxmlformats.org/drawingml/2006/main">
            <a:pPr algn="ctr">
              <a:defRPr sz="975" b="0">
                <a:solidFill>
                  <a:srgbClr val="17202A"/>
                </a:solidFill>
                <a:latin typeface="Aptos"/>
                <a:ea typeface="Aptos"/>
                <a:cs typeface="Aptos"/>
              </a:defRPr>
            </a:pPr>
            <a:r>
              <a:rPr sz="975" b="0">
                <a:solidFill>
                  <a:srgbClr val="17202A"/>
                </a:solidFill>
                <a:latin typeface="Aptos"/>
                <a:ea typeface="Aptos"/>
                <a:cs typeface="Aptos"/>
              </a:rPr>
              <a:t>COD + Stripe + status</a:t>
            </a:r>
          </a:p>
        </p:txBody>
      </p:sp>
      <p:sp>
        <p:nvSpPr>
          <p:cNvPr id="17" name="">
            <a:extLst xmlns:a="http://schemas.openxmlformats.org/drawingml/2006/main">
              <a:ext uri="{FF2B5EF4-FFF2-40B4-BE49-F238E27FC236}">
                <a16:creationId xmlns:a16="http://schemas.microsoft.com/office/drawing/2014/main" id="{0D250E2D-6611-4E4C-A9F4-20B8BF77A6F2}"/>
              </a:ext>
            </a:extLst>
          </p:cNvPr>
          <p:cNvSpPr>
            <a:spLocks xmlns:a="http://schemas.openxmlformats.org/drawingml/2006/main" noGrp="1"/>
          </p:cNvSpPr>
          <p:nvPr/>
        </p:nvSpPr>
        <p:spPr>
          <a:xfrm xmlns:a="http://schemas.openxmlformats.org/drawingml/2006/main">
            <a:off x="876300" y="4114800"/>
            <a:ext cx="1524000" cy="457200"/>
          </a:xfrm>
          <a:prstGeom xmlns:a="http://schemas.openxmlformats.org/drawingml/2006/main" prst="rect">
            <a:avLst/>
          </a:prstGeom>
          <a:solidFill xmlns:a="http://schemas.openxmlformats.org/drawingml/2006/main">
            <a:srgbClr val="FFFFFF"/>
          </a:solidFill>
          <a:ln xmlns:a="http://schemas.openxmlformats.org/drawingml/2006/main" w="0">
            <a:solidFill>
              <a:srgbClr val="000000">
                <a:alpha val="0"/>
              </a:srgbClr>
            </a:solidFill>
            <a:prstDash val="solid"/>
          </a:ln>
        </p:spPr>
        <p:txBody>
          <a:bodyPr xmlns:a="http://schemas.openxmlformats.org/drawingml/2006/main" lIns="114300" tIns="95250" rIns="114300" bIns="95250" anchor="ctr"/>
          <a:lstStyle xmlns:a="http://schemas.openxmlformats.org/drawingml/2006/main"/>
          <a:p xmlns:a="http://schemas.openxmlformats.org/drawingml/2006/main">
            <a:pPr algn="ctr">
              <a:defRPr sz="1050" b="1">
                <a:solidFill>
                  <a:srgbClr val="D96B4C"/>
                </a:solidFill>
                <a:latin typeface="Aptos"/>
                <a:ea typeface="Aptos"/>
                <a:cs typeface="Aptos"/>
              </a:defRPr>
            </a:pPr>
            <a:r>
              <a:rPr sz="1050" b="1">
                <a:solidFill>
                  <a:srgbClr val="D96B4C"/>
                </a:solidFill>
                <a:latin typeface="Aptos"/>
                <a:ea typeface="Aptos"/>
                <a:cs typeface="Aptos"/>
              </a:rPr>
              <a:t>Recommendation</a:t>
            </a:r>
          </a:p>
        </p:txBody>
      </p:sp>
      <p:sp>
        <p:nvSpPr>
          <p:cNvPr id="18" name="">
            <a:extLst xmlns:a="http://schemas.openxmlformats.org/drawingml/2006/main">
              <a:ext uri="{FF2B5EF4-FFF2-40B4-BE49-F238E27FC236}">
                <a16:creationId xmlns:a16="http://schemas.microsoft.com/office/drawing/2014/main" id="{2214E9EF-8123-430B-990C-C7088CE6F753}"/>
              </a:ext>
            </a:extLst>
          </p:cNvPr>
          <p:cNvSpPr>
            <a:spLocks xmlns:a="http://schemas.openxmlformats.org/drawingml/2006/main" noGrp="1"/>
          </p:cNvSpPr>
          <p:nvPr/>
        </p:nvSpPr>
        <p:spPr>
          <a:xfrm xmlns:a="http://schemas.openxmlformats.org/drawingml/2006/main">
            <a:off x="2400300" y="4114800"/>
            <a:ext cx="5905500" cy="457200"/>
          </a:xfrm>
          <a:prstGeom xmlns:a="http://schemas.openxmlformats.org/drawingml/2006/main" prst="rect">
            <a:avLst/>
          </a:prstGeom>
          <a:solidFill xmlns:a="http://schemas.openxmlformats.org/drawingml/2006/main">
            <a:srgbClr val="FFFFFF"/>
          </a:solidFill>
          <a:ln xmlns:a="http://schemas.openxmlformats.org/drawingml/2006/main" w="0">
            <a:solidFill>
              <a:srgbClr val="000000">
                <a:alpha val="0"/>
              </a:srgbClr>
            </a:solidFill>
            <a:prstDash val="solid"/>
          </a:ln>
        </p:spPr>
        <p:txBody>
          <a:bodyPr xmlns:a="http://schemas.openxmlformats.org/drawingml/2006/main" lIns="114300" tIns="95250" rIns="114300" bIns="95250" anchor="ctr"/>
          <a:lstStyle xmlns:a="http://schemas.openxmlformats.org/drawingml/2006/main"/>
          <a:p xmlns:a="http://schemas.openxmlformats.org/drawingml/2006/main">
            <a:pPr algn="l">
              <a:defRPr sz="900" b="0">
                <a:solidFill>
                  <a:srgbClr val="17202A"/>
                </a:solidFill>
                <a:latin typeface="Aptos Mono"/>
                <a:ea typeface="Aptos Mono"/>
                <a:cs typeface="Aptos Mono"/>
              </a:defRPr>
            </a:pPr>
            <a:r>
              <a:rPr sz="900" b="0">
                <a:solidFill>
                  <a:srgbClr val="17202A"/>
                </a:solidFill>
                <a:latin typeface="Aptos Mono"/>
                <a:ea typeface="Aptos Mono"/>
                <a:cs typeface="Aptos Mono"/>
              </a:rPr>
              <a:t>/api/recommendations/product/:id, /user/:userId, /trending</a:t>
            </a:r>
          </a:p>
        </p:txBody>
      </p:sp>
      <p:sp>
        <p:nvSpPr>
          <p:cNvPr id="19" name="">
            <a:extLst xmlns:a="http://schemas.openxmlformats.org/drawingml/2006/main">
              <a:ext uri="{FF2B5EF4-FFF2-40B4-BE49-F238E27FC236}">
                <a16:creationId xmlns:a16="http://schemas.microsoft.com/office/drawing/2014/main" id="{DDA21541-8834-4A2B-98CB-AA5A065DEF7C}"/>
              </a:ext>
            </a:extLst>
          </p:cNvPr>
          <p:cNvSpPr>
            <a:spLocks xmlns:a="http://schemas.openxmlformats.org/drawingml/2006/main" noGrp="1"/>
          </p:cNvSpPr>
          <p:nvPr/>
        </p:nvSpPr>
        <p:spPr>
          <a:xfrm xmlns:a="http://schemas.openxmlformats.org/drawingml/2006/main">
            <a:off x="8305800" y="4114800"/>
            <a:ext cx="2857500" cy="457200"/>
          </a:xfrm>
          <a:prstGeom xmlns:a="http://schemas.openxmlformats.org/drawingml/2006/main" prst="rect">
            <a:avLst/>
          </a:prstGeom>
          <a:solidFill xmlns:a="http://schemas.openxmlformats.org/drawingml/2006/main">
            <a:srgbClr val="FFFFFF"/>
          </a:solidFill>
          <a:ln xmlns:a="http://schemas.openxmlformats.org/drawingml/2006/main" w="0">
            <a:solidFill>
              <a:srgbClr val="000000">
                <a:alpha val="0"/>
              </a:srgbClr>
            </a:solidFill>
            <a:prstDash val="solid"/>
          </a:ln>
        </p:spPr>
        <p:txBody>
          <a:bodyPr xmlns:a="http://schemas.openxmlformats.org/drawingml/2006/main" lIns="114300" tIns="95250" rIns="114300" bIns="95250" anchor="ctr"/>
          <a:lstStyle xmlns:a="http://schemas.openxmlformats.org/drawingml/2006/main"/>
          <a:p xmlns:a="http://schemas.openxmlformats.org/drawingml/2006/main">
            <a:pPr algn="ctr">
              <a:defRPr sz="975" b="0">
                <a:solidFill>
                  <a:srgbClr val="17202A"/>
                </a:solidFill>
                <a:latin typeface="Aptos"/>
                <a:ea typeface="Aptos"/>
                <a:cs typeface="Aptos"/>
              </a:defRPr>
            </a:pPr>
            <a:r>
              <a:rPr sz="975" b="0">
                <a:solidFill>
                  <a:srgbClr val="17202A"/>
                </a:solidFill>
                <a:latin typeface="Aptos"/>
                <a:ea typeface="Aptos"/>
                <a:cs typeface="Aptos"/>
              </a:rPr>
              <a:t>Cache + ML + fallback</a:t>
            </a:r>
          </a:p>
        </p:txBody>
      </p:sp>
      <p:sp>
        <p:nvSpPr>
          <p:cNvPr id="20" name="">
            <a:extLst xmlns:a="http://schemas.openxmlformats.org/drawingml/2006/main">
              <a:ext uri="{FF2B5EF4-FFF2-40B4-BE49-F238E27FC236}">
                <a16:creationId xmlns:a16="http://schemas.microsoft.com/office/drawing/2014/main" id="{2EE7B300-F385-4195-9997-18923367466E}"/>
              </a:ext>
            </a:extLst>
          </p:cNvPr>
          <p:cNvSpPr>
            <a:spLocks xmlns:a="http://schemas.openxmlformats.org/drawingml/2006/main" noGrp="1"/>
          </p:cNvSpPr>
          <p:nvPr/>
        </p:nvSpPr>
        <p:spPr>
          <a:xfrm xmlns:a="http://schemas.openxmlformats.org/drawingml/2006/main">
            <a:off x="876300" y="4667250"/>
            <a:ext cx="1524000" cy="457200"/>
          </a:xfrm>
          <a:prstGeom xmlns:a="http://schemas.openxmlformats.org/drawingml/2006/main" prst="rect">
            <a:avLst/>
          </a:prstGeom>
          <a:solidFill xmlns:a="http://schemas.openxmlformats.org/drawingml/2006/main">
            <a:srgbClr val="EFEAE1"/>
          </a:solidFill>
          <a:ln xmlns:a="http://schemas.openxmlformats.org/drawingml/2006/main" w="0">
            <a:solidFill>
              <a:srgbClr val="000000">
                <a:alpha val="0"/>
              </a:srgbClr>
            </a:solidFill>
            <a:prstDash val="solid"/>
          </a:ln>
        </p:spPr>
        <p:txBody>
          <a:bodyPr xmlns:a="http://schemas.openxmlformats.org/drawingml/2006/main" lIns="114300" tIns="95250" rIns="114300" bIns="95250" anchor="ctr"/>
          <a:lstStyle xmlns:a="http://schemas.openxmlformats.org/drawingml/2006/main"/>
          <a:p xmlns:a="http://schemas.openxmlformats.org/drawingml/2006/main">
            <a:pPr algn="ctr">
              <a:defRPr sz="1050" b="1">
                <a:solidFill>
                  <a:srgbClr val="17202A"/>
                </a:solidFill>
                <a:latin typeface="Aptos"/>
                <a:ea typeface="Aptos"/>
                <a:cs typeface="Aptos"/>
              </a:defRPr>
            </a:pPr>
            <a:r>
              <a:rPr sz="1050" b="1">
                <a:solidFill>
                  <a:srgbClr val="17202A"/>
                </a:solidFill>
                <a:latin typeface="Aptos"/>
                <a:ea typeface="Aptos"/>
                <a:cs typeface="Aptos"/>
              </a:rPr>
              <a:t>ML Service</a:t>
            </a:r>
          </a:p>
        </p:txBody>
      </p:sp>
      <p:sp>
        <p:nvSpPr>
          <p:cNvPr id="21" name="">
            <a:extLst xmlns:a="http://schemas.openxmlformats.org/drawingml/2006/main">
              <a:ext uri="{FF2B5EF4-FFF2-40B4-BE49-F238E27FC236}">
                <a16:creationId xmlns:a16="http://schemas.microsoft.com/office/drawing/2014/main" id="{20211AC4-CA78-4740-BB79-FBBE0CF64397}"/>
              </a:ext>
            </a:extLst>
          </p:cNvPr>
          <p:cNvSpPr>
            <a:spLocks xmlns:a="http://schemas.openxmlformats.org/drawingml/2006/main" noGrp="1"/>
          </p:cNvSpPr>
          <p:nvPr/>
        </p:nvSpPr>
        <p:spPr>
          <a:xfrm xmlns:a="http://schemas.openxmlformats.org/drawingml/2006/main">
            <a:off x="2400300" y="4667250"/>
            <a:ext cx="5905500" cy="457200"/>
          </a:xfrm>
          <a:prstGeom xmlns:a="http://schemas.openxmlformats.org/drawingml/2006/main" prst="rect">
            <a:avLst/>
          </a:prstGeom>
          <a:solidFill xmlns:a="http://schemas.openxmlformats.org/drawingml/2006/main">
            <a:srgbClr val="EFEAE1"/>
          </a:solidFill>
          <a:ln xmlns:a="http://schemas.openxmlformats.org/drawingml/2006/main" w="0">
            <a:solidFill>
              <a:srgbClr val="000000">
                <a:alpha val="0"/>
              </a:srgbClr>
            </a:solidFill>
            <a:prstDash val="solid"/>
          </a:ln>
        </p:spPr>
        <p:txBody>
          <a:bodyPr xmlns:a="http://schemas.openxmlformats.org/drawingml/2006/main" lIns="114300" tIns="95250" rIns="114300" bIns="95250" anchor="ctr"/>
          <a:lstStyle xmlns:a="http://schemas.openxmlformats.org/drawingml/2006/main"/>
          <a:p xmlns:a="http://schemas.openxmlformats.org/drawingml/2006/main">
            <a:pPr algn="l">
              <a:defRPr sz="900" b="0">
                <a:solidFill>
                  <a:srgbClr val="17202A"/>
                </a:solidFill>
                <a:latin typeface="Aptos Mono"/>
                <a:ea typeface="Aptos Mono"/>
                <a:cs typeface="Aptos Mono"/>
              </a:defRPr>
            </a:pPr>
            <a:r>
              <a:rPr sz="900" b="0">
                <a:solidFill>
                  <a:srgbClr val="17202A"/>
                </a:solidFill>
                <a:latin typeface="Aptos Mono"/>
                <a:ea typeface="Aptos Mono"/>
                <a:cs typeface="Aptos Mono"/>
              </a:rPr>
              <a:t>/ml/recommend/content/:id, /user/:userId, /evaluate?k=5</a:t>
            </a:r>
          </a:p>
        </p:txBody>
      </p:sp>
      <p:sp>
        <p:nvSpPr>
          <p:cNvPr id="22" name="">
            <a:extLst xmlns:a="http://schemas.openxmlformats.org/drawingml/2006/main">
              <a:ext uri="{FF2B5EF4-FFF2-40B4-BE49-F238E27FC236}">
                <a16:creationId xmlns:a16="http://schemas.microsoft.com/office/drawing/2014/main" id="{3A2D4E99-0FAF-4D19-8F1B-DECA35875C18}"/>
              </a:ext>
            </a:extLst>
          </p:cNvPr>
          <p:cNvSpPr>
            <a:spLocks xmlns:a="http://schemas.openxmlformats.org/drawingml/2006/main" noGrp="1"/>
          </p:cNvSpPr>
          <p:nvPr/>
        </p:nvSpPr>
        <p:spPr>
          <a:xfrm xmlns:a="http://schemas.openxmlformats.org/drawingml/2006/main">
            <a:off x="8305800" y="4667250"/>
            <a:ext cx="2857500" cy="457200"/>
          </a:xfrm>
          <a:prstGeom xmlns:a="http://schemas.openxmlformats.org/drawingml/2006/main" prst="rect">
            <a:avLst/>
          </a:prstGeom>
          <a:solidFill xmlns:a="http://schemas.openxmlformats.org/drawingml/2006/main">
            <a:srgbClr val="EFEAE1"/>
          </a:solidFill>
          <a:ln xmlns:a="http://schemas.openxmlformats.org/drawingml/2006/main" w="0">
            <a:solidFill>
              <a:srgbClr val="000000">
                <a:alpha val="0"/>
              </a:srgbClr>
            </a:solidFill>
            <a:prstDash val="solid"/>
          </a:ln>
        </p:spPr>
        <p:txBody>
          <a:bodyPr xmlns:a="http://schemas.openxmlformats.org/drawingml/2006/main" lIns="114300" tIns="95250" rIns="114300" bIns="95250" anchor="ctr"/>
          <a:lstStyle xmlns:a="http://schemas.openxmlformats.org/drawingml/2006/main"/>
          <a:p xmlns:a="http://schemas.openxmlformats.org/drawingml/2006/main">
            <a:pPr algn="ctr">
              <a:defRPr sz="975" b="0">
                <a:solidFill>
                  <a:srgbClr val="17202A"/>
                </a:solidFill>
                <a:latin typeface="Aptos"/>
                <a:ea typeface="Aptos"/>
                <a:cs typeface="Aptos"/>
              </a:defRPr>
            </a:pPr>
            <a:r>
              <a:rPr sz="975" b="0">
                <a:solidFill>
                  <a:srgbClr val="17202A"/>
                </a:solidFill>
                <a:latin typeface="Aptos"/>
                <a:ea typeface="Aptos"/>
                <a:cs typeface="Aptos"/>
              </a:rPr>
              <a:t>Flask + sklearn</a:t>
            </a:r>
          </a:p>
        </p:txBody>
      </p:sp>
      <p:sp>
        <p:nvSpPr>
          <p:cNvPr id="23" name="">
            <a:extLst xmlns:a="http://schemas.openxmlformats.org/drawingml/2006/main">
              <a:ext uri="{FF2B5EF4-FFF2-40B4-BE49-F238E27FC236}">
                <a16:creationId xmlns:a16="http://schemas.microsoft.com/office/drawing/2014/main" id="{7EBEAB08-6329-4564-AC5F-F89D0223DAA3}"/>
              </a:ext>
            </a:extLst>
          </p:cNvPr>
          <p:cNvSpPr>
            <a:spLocks xmlns:a="http://schemas.openxmlformats.org/drawingml/2006/main" noGrp="1"/>
          </p:cNvSpPr>
          <p:nvPr/>
        </p:nvSpPr>
        <p:spPr>
          <a:xfrm xmlns:a="http://schemas.openxmlformats.org/drawingml/2006/main">
            <a:off x="1333500" y="5572125"/>
            <a:ext cx="9525000" cy="419100"/>
          </a:xfrm>
          <a:prstGeom xmlns:a="http://schemas.openxmlformats.org/drawingml/2006/main" prst="rect">
            <a:avLst/>
          </a:prstGeom>
          <a:solidFill xmlns:a="http://schemas.openxmlformats.org/drawingml/2006/main">
            <a:srgbClr val="DDEBDD"/>
          </a:solidFill>
          <a:ln xmlns:a="http://schemas.openxmlformats.org/drawingml/2006/main" w="0">
            <a:solidFill>
              <a:srgbClr val="000000">
                <a:alpha val="0"/>
              </a:srgbClr>
            </a:solidFill>
            <a:prstDash val="solid"/>
          </a:ln>
        </p:spPr>
        <p:txBody>
          <a:bodyPr xmlns:a="http://schemas.openxmlformats.org/drawingml/2006/main" lIns="114300" tIns="95250" rIns="114300" bIns="95250" anchor="ctr"/>
          <a:lstStyle xmlns:a="http://schemas.openxmlformats.org/drawingml/2006/main"/>
          <a:p xmlns:a="http://schemas.openxmlformats.org/drawingml/2006/main">
            <a:pPr algn="ctr">
              <a:defRPr sz="1275" b="0">
                <a:solidFill>
                  <a:srgbClr val="17202A"/>
                </a:solidFill>
                <a:latin typeface="Aptos"/>
                <a:ea typeface="Aptos"/>
                <a:cs typeface="Aptos"/>
              </a:defRPr>
            </a:pPr>
            <a:r>
              <a:rPr sz="1275" b="0">
                <a:solidFill>
                  <a:srgbClr val="17202A"/>
                </a:solidFill>
                <a:latin typeface="Aptos"/>
                <a:ea typeface="Aptos"/>
                <a:cs typeface="Aptos"/>
              </a:rPr>
              <a:t>Deployment: Frontend/Backend trên Vercel, database trên MongoDB Atlas, ảnh qua Cloudinary, ML Service chạy local hoặc server riêng port 5000.</a:t>
            </a:r>
          </a:p>
        </p:txBody>
      </p:sp>
      <p:sp>
        <p:nvSpPr>
          <p:cNvPr id="24" name="">
            <a:extLst xmlns:a="http://schemas.openxmlformats.org/drawingml/2006/main">
              <a:ext uri="{FF2B5EF4-FFF2-40B4-BE49-F238E27FC236}">
                <a16:creationId xmlns:a16="http://schemas.microsoft.com/office/drawing/2014/main" id="{6FDEA9DF-B140-4393-BE31-6D01B14D02A6}"/>
              </a:ext>
            </a:extLst>
          </p:cNvPr>
          <p:cNvSpPr>
            <a:spLocks xmlns:a="http://schemas.openxmlformats.org/drawingml/2006/main" noGrp="1"/>
          </p:cNvSpPr>
          <p:nvPr/>
        </p:nvSpPr>
        <p:spPr>
          <a:xfrm xmlns:a="http://schemas.openxmlformats.org/drawingml/2006/main">
            <a:off x="666750" y="6553200"/>
            <a:ext cx="7810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7A7470"/>
                </a:solidFill>
                <a:latin typeface="Aptos"/>
                <a:ea typeface="Aptos"/>
                <a:cs typeface="Aptos"/>
              </a:defRPr>
            </a:pPr>
            <a:r>
              <a:rPr sz="750" b="0">
                <a:solidFill>
                  <a:srgbClr val="7A7470"/>
                </a:solidFill>
                <a:latin typeface="Aptos"/>
                <a:ea typeface="Aptos"/>
                <a:cs typeface="Aptos"/>
              </a:rPr>
              <a:t>Nguồn: Báo cáo đồ án MyStore và mã nguồn dự án</a:t>
            </a:r>
          </a:p>
        </p:txBody>
      </p:sp>
      <p:sp>
        <p:nvSpPr>
          <p:cNvPr id="25" name="">
            <a:extLst xmlns:a="http://schemas.openxmlformats.org/drawingml/2006/main">
              <a:ext uri="{FF2B5EF4-FFF2-40B4-BE49-F238E27FC236}">
                <a16:creationId xmlns:a16="http://schemas.microsoft.com/office/drawing/2014/main" id="{F05FED38-B79F-4DD9-9E92-FCFB8BC913C3}"/>
              </a:ext>
            </a:extLst>
          </p:cNvPr>
          <p:cNvSpPr>
            <a:spLocks xmlns:a="http://schemas.openxmlformats.org/drawingml/2006/main" noGrp="1"/>
          </p:cNvSpPr>
          <p:nvPr/>
        </p:nvSpPr>
        <p:spPr>
          <a:xfrm xmlns:a="http://schemas.openxmlformats.org/drawingml/2006/main">
            <a:off x="11239500" y="6515100"/>
            <a:ext cx="3810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825" b="1">
                <a:solidFill>
                  <a:srgbClr val="7A7470"/>
                </a:solidFill>
                <a:latin typeface="Aptos"/>
                <a:ea typeface="Aptos"/>
                <a:cs typeface="Aptos"/>
              </a:defRPr>
            </a:pPr>
            <a:r>
              <a:rPr sz="825" b="1">
                <a:solidFill>
                  <a:srgbClr val="7A7470"/>
                </a:solidFill>
                <a:latin typeface="Aptos"/>
                <a:ea typeface="Aptos"/>
                <a:cs typeface="Aptos"/>
              </a:rPr>
              <a:t>10</a:t>
            </a:r>
          </a:p>
        </p:txBody>
      </p:sp>
    </p:spTree>
    <p:extLst>
      <p:ext uri="{BB962C8B-B14F-4D97-AF65-F5344CB8AC3E}">
        <p14:creationId xmlns:p14="http://schemas.microsoft.com/office/powerpoint/2010/main" val="2048562640"/>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5E17DAEF-8197-470B-ABB5-48B53BD8A56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4EE"/>
          </a:solidFill>
          <a:ln xmlns:a="http://schemas.openxmlformats.org/drawingml/2006/main" w="0">
            <a:solidFill>
              <a:srgbClr val="000000">
                <a:alpha val="0"/>
              </a:srgbClr>
            </a:solidFill>
            <a:prstDash val="solid"/>
          </a:ln>
        </p:spPr>
      </p:sp>
      <p:sp>
        <p:nvSpPr>
          <p:cNvPr id="2" name="kicker-11-marker">
            <a:extLst xmlns:a="http://schemas.openxmlformats.org/drawingml/2006/main">
              <a:ext uri="{FF2B5EF4-FFF2-40B4-BE49-F238E27FC236}">
                <a16:creationId xmlns:a16="http://schemas.microsoft.com/office/drawing/2014/main" id="{4A5E6FD0-64AC-4BF1-9FEA-063CC40834FB}"/>
              </a:ext>
            </a:extLst>
          </p:cNvPr>
          <p:cNvSpPr>
            <a:spLocks xmlns:a="http://schemas.openxmlformats.org/drawingml/2006/main" noGrp="1"/>
          </p:cNvSpPr>
          <p:nvPr/>
        </p:nvSpPr>
        <p:spPr>
          <a:xfrm xmlns:a="http://schemas.openxmlformats.org/drawingml/2006/main">
            <a:off x="666750" y="542925"/>
            <a:ext cx="266700" cy="38100"/>
          </a:xfrm>
          <a:prstGeom xmlns:a="http://schemas.openxmlformats.org/drawingml/2006/main" prst="rect">
            <a:avLst/>
          </a:prstGeom>
          <a:solidFill xmlns:a="http://schemas.openxmlformats.org/drawingml/2006/main">
            <a:srgbClr val="2F7D59"/>
          </a:solidFill>
          <a:ln xmlns:a="http://schemas.openxmlformats.org/drawingml/2006/main" w="0">
            <a:solidFill>
              <a:srgbClr val="000000">
                <a:alpha val="0"/>
              </a:srgbClr>
            </a:solidFill>
            <a:prstDash val="solid"/>
          </a:ln>
        </p:spPr>
      </p:sp>
      <p:sp>
        <p:nvSpPr>
          <p:cNvPr id="3" name="kicker-11-label">
            <a:extLst xmlns:a="http://schemas.openxmlformats.org/drawingml/2006/main">
              <a:ext uri="{FF2B5EF4-FFF2-40B4-BE49-F238E27FC236}">
                <a16:creationId xmlns:a16="http://schemas.microsoft.com/office/drawing/2014/main" id="{551D99ED-92C3-4BCD-83A2-A67BC473FC4D}"/>
              </a:ext>
            </a:extLst>
          </p:cNvPr>
          <p:cNvSpPr>
            <a:spLocks xmlns:a="http://schemas.openxmlformats.org/drawingml/2006/main" noGrp="1"/>
          </p:cNvSpPr>
          <p:nvPr/>
        </p:nvSpPr>
        <p:spPr>
          <a:xfrm xmlns:a="http://schemas.openxmlformats.org/drawingml/2006/main">
            <a:off x="1066800" y="457200"/>
            <a:ext cx="31432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900" b="1">
                <a:solidFill>
                  <a:srgbClr val="2F7D59"/>
                </a:solidFill>
                <a:latin typeface="Aptos"/>
                <a:ea typeface="Aptos"/>
                <a:cs typeface="Aptos"/>
              </a:defRPr>
            </a:pPr>
            <a:r>
              <a:rPr sz="900" b="1">
                <a:solidFill>
                  <a:srgbClr val="2F7D59"/>
                </a:solidFill>
                <a:latin typeface="Aptos"/>
                <a:ea typeface="Aptos"/>
                <a:cs typeface="Aptos"/>
              </a:rPr>
              <a:t>KẾT QUẢ ĐÁNH GIÁ</a:t>
            </a:r>
          </a:p>
        </p:txBody>
      </p:sp>
      <p:sp>
        <p:nvSpPr>
          <p:cNvPr id="4" name="">
            <a:extLst xmlns:a="http://schemas.openxmlformats.org/drawingml/2006/main">
              <a:ext uri="{FF2B5EF4-FFF2-40B4-BE49-F238E27FC236}">
                <a16:creationId xmlns:a16="http://schemas.microsoft.com/office/drawing/2014/main" id="{04389BF7-A008-4503-BD90-765D5155445B}"/>
              </a:ext>
            </a:extLst>
          </p:cNvPr>
          <p:cNvSpPr>
            <a:spLocks xmlns:a="http://schemas.openxmlformats.org/drawingml/2006/main" noGrp="1"/>
          </p:cNvSpPr>
          <p:nvPr/>
        </p:nvSpPr>
        <p:spPr>
          <a:xfrm xmlns:a="http://schemas.openxmlformats.org/drawingml/2006/main">
            <a:off x="666750" y="781050"/>
            <a:ext cx="7239000" cy="914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700" b="1">
                <a:solidFill>
                  <a:srgbClr val="17202A"/>
                </a:solidFill>
                <a:latin typeface="Aptos Display"/>
                <a:ea typeface="Aptos Display"/>
                <a:cs typeface="Aptos Display"/>
              </a:defRPr>
            </a:pPr>
            <a:r>
              <a:rPr sz="2700" b="1">
                <a:solidFill>
                  <a:srgbClr val="17202A"/>
                </a:solidFill>
                <a:latin typeface="Aptos Display"/>
                <a:ea typeface="Aptos Display"/>
                <a:cs typeface="Aptos Display"/>
              </a:rPr>
              <a:t>Khảo sát cho thấy gợi ý sản phẩm có tác động rõ nhất ở tính hữu ích.</a:t>
            </a:r>
          </a:p>
        </p:txBody>
      </p:sp>
      <p:sp>
        <p:nvSpPr>
          <p:cNvPr id="5" name="">
            <a:extLst xmlns:a="http://schemas.openxmlformats.org/drawingml/2006/main">
              <a:ext uri="{FF2B5EF4-FFF2-40B4-BE49-F238E27FC236}">
                <a16:creationId xmlns:a16="http://schemas.microsoft.com/office/drawing/2014/main" id="{F1728730-CB21-4271-A94E-2AD0D8FFCF8B}"/>
              </a:ext>
            </a:extLst>
          </p:cNvPr>
          <p:cNvSpPr>
            <a:spLocks xmlns:a="http://schemas.openxmlformats.org/drawingml/2006/main" noGrp="1"/>
          </p:cNvSpPr>
          <p:nvPr/>
        </p:nvSpPr>
        <p:spPr>
          <a:xfrm xmlns:a="http://schemas.openxmlformats.org/drawingml/2006/main">
            <a:off x="7953375" y="1428750"/>
            <a:ext cx="2762250" cy="381000"/>
          </a:xfrm>
          <a:prstGeom xmlns:a="http://schemas.openxmlformats.org/drawingml/2006/main" prst="rect">
            <a:avLst/>
          </a:prstGeom>
          <a:solidFill xmlns:a="http://schemas.openxmlformats.org/drawingml/2006/main">
            <a:srgbClr val="17202A"/>
          </a:solidFill>
          <a:ln xmlns:a="http://schemas.openxmlformats.org/drawingml/2006/main" w="0">
            <a:solidFill>
              <a:srgbClr val="000000">
                <a:alpha val="0"/>
              </a:srgbClr>
            </a:solidFill>
            <a:prstDash val="solid"/>
          </a:ln>
        </p:spPr>
        <p:txBody>
          <a:bodyPr xmlns:a="http://schemas.openxmlformats.org/drawingml/2006/main" lIns="114300" tIns="95250" rIns="114300" bIns="95250" anchor="ctr"/>
          <a:lstStyle xmlns:a="http://schemas.openxmlformats.org/drawingml/2006/main"/>
          <a:p xmlns:a="http://schemas.openxmlformats.org/drawingml/2006/main">
            <a:pPr algn="ctr">
              <a:defRPr sz="1350" b="1">
                <a:solidFill>
                  <a:srgbClr val="FFFFFF"/>
                </a:solidFill>
                <a:latin typeface="Aptos"/>
                <a:ea typeface="Aptos"/>
                <a:cs typeface="Aptos"/>
              </a:defRPr>
            </a:pPr>
            <a:r>
              <a:rPr sz="1350" b="1">
                <a:solidFill>
                  <a:srgbClr val="FFFFFF"/>
                </a:solidFill>
                <a:latin typeface="Aptos"/>
                <a:ea typeface="Aptos"/>
                <a:cs typeface="Aptos"/>
              </a:rPr>
              <a:t>50 người dùng trải nghiệm thực tế</a:t>
            </a:r>
          </a:p>
        </p:txBody>
      </p:sp>
      <p:sp>
        <p:nvSpPr>
          <p:cNvPr id="6" name="">
            <a:extLst xmlns:a="http://schemas.openxmlformats.org/drawingml/2006/main">
              <a:ext uri="{FF2B5EF4-FFF2-40B4-BE49-F238E27FC236}">
                <a16:creationId xmlns:a16="http://schemas.microsoft.com/office/drawing/2014/main" id="{D88E7732-E57D-4F19-8DE8-1CB16068C2AB}"/>
              </a:ext>
            </a:extLst>
          </p:cNvPr>
          <p:cNvSpPr>
            <a:spLocks xmlns:a="http://schemas.openxmlformats.org/drawingml/2006/main" noGrp="1"/>
          </p:cNvSpPr>
          <p:nvPr/>
        </p:nvSpPr>
        <p:spPr>
          <a:xfrm xmlns:a="http://schemas.openxmlformats.org/drawingml/2006/main">
            <a:off x="1190625" y="2333625"/>
            <a:ext cx="2476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17202A"/>
                </a:solidFill>
                <a:latin typeface="Aptos"/>
                <a:ea typeface="Aptos"/>
                <a:cs typeface="Aptos"/>
              </a:defRPr>
            </a:pPr>
            <a:r>
              <a:rPr sz="1125" b="1">
                <a:solidFill>
                  <a:srgbClr val="17202A"/>
                </a:solidFill>
                <a:latin typeface="Aptos"/>
                <a:ea typeface="Aptos"/>
                <a:cs typeface="Aptos"/>
              </a:rPr>
              <a:t>Độ phù hợp (4.04 / 5.0)</a:t>
            </a:r>
          </a:p>
        </p:txBody>
      </p:sp>
      <p:sp>
        <p:nvSpPr>
          <p:cNvPr id="7" name="">
            <a:extLst xmlns:a="http://schemas.openxmlformats.org/drawingml/2006/main">
              <a:ext uri="{FF2B5EF4-FFF2-40B4-BE49-F238E27FC236}">
                <a16:creationId xmlns:a16="http://schemas.microsoft.com/office/drawing/2014/main" id="{C45B52B2-3E13-4BD0-8570-A2178D53688B}"/>
              </a:ext>
            </a:extLst>
          </p:cNvPr>
          <p:cNvSpPr>
            <a:spLocks xmlns:a="http://schemas.openxmlformats.org/drawingml/2006/main" noGrp="1"/>
          </p:cNvSpPr>
          <p:nvPr/>
        </p:nvSpPr>
        <p:spPr>
          <a:xfrm xmlns:a="http://schemas.openxmlformats.org/drawingml/2006/main">
            <a:off x="3762375" y="2371725"/>
            <a:ext cx="5334000" cy="152400"/>
          </a:xfrm>
          <a:prstGeom xmlns:a="http://schemas.openxmlformats.org/drawingml/2006/main" prst="rect">
            <a:avLst/>
          </a:prstGeom>
          <a:solidFill xmlns:a="http://schemas.openxmlformats.org/drawingml/2006/main">
            <a:srgbClr val="EFEAE1"/>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0190AA55-5000-403D-BF84-74BF6C859382}"/>
              </a:ext>
            </a:extLst>
          </p:cNvPr>
          <p:cNvSpPr>
            <a:spLocks xmlns:a="http://schemas.openxmlformats.org/drawingml/2006/main" noGrp="1"/>
          </p:cNvSpPr>
          <p:nvPr/>
        </p:nvSpPr>
        <p:spPr>
          <a:xfrm xmlns:a="http://schemas.openxmlformats.org/drawingml/2006/main">
            <a:off x="3762375" y="2371725"/>
            <a:ext cx="4267200" cy="152400"/>
          </a:xfrm>
          <a:prstGeom xmlns:a="http://schemas.openxmlformats.org/drawingml/2006/main" prst="rect">
            <a:avLst/>
          </a:prstGeom>
          <a:solidFill xmlns:a="http://schemas.openxmlformats.org/drawingml/2006/main">
            <a:srgbClr val="3F6FA8"/>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09B3500D-D2E3-4CE2-8E7C-01CC6939839E}"/>
              </a:ext>
            </a:extLst>
          </p:cNvPr>
          <p:cNvSpPr>
            <a:spLocks xmlns:a="http://schemas.openxmlformats.org/drawingml/2006/main" noGrp="1"/>
          </p:cNvSpPr>
          <p:nvPr/>
        </p:nvSpPr>
        <p:spPr>
          <a:xfrm xmlns:a="http://schemas.openxmlformats.org/drawingml/2006/main">
            <a:off x="1190625" y="3114675"/>
            <a:ext cx="2476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17202A"/>
                </a:solidFill>
                <a:latin typeface="Aptos"/>
                <a:ea typeface="Aptos"/>
                <a:cs typeface="Aptos"/>
              </a:defRPr>
            </a:pPr>
            <a:r>
              <a:rPr sz="1125" b="1">
                <a:solidFill>
                  <a:srgbClr val="17202A"/>
                </a:solidFill>
                <a:latin typeface="Aptos"/>
                <a:ea typeface="Aptos"/>
                <a:cs typeface="Aptos"/>
              </a:rPr>
              <a:t>Độ hữu ích (4.32 / 5.0)</a:t>
            </a:r>
          </a:p>
        </p:txBody>
      </p:sp>
      <p:sp>
        <p:nvSpPr>
          <p:cNvPr id="10" name="">
            <a:extLst xmlns:a="http://schemas.openxmlformats.org/drawingml/2006/main">
              <a:ext uri="{FF2B5EF4-FFF2-40B4-BE49-F238E27FC236}">
                <a16:creationId xmlns:a16="http://schemas.microsoft.com/office/drawing/2014/main" id="{1600A10A-FFEB-4A5F-BFFB-19CEB022C8EA}"/>
              </a:ext>
            </a:extLst>
          </p:cNvPr>
          <p:cNvSpPr>
            <a:spLocks xmlns:a="http://schemas.openxmlformats.org/drawingml/2006/main" noGrp="1"/>
          </p:cNvSpPr>
          <p:nvPr/>
        </p:nvSpPr>
        <p:spPr>
          <a:xfrm xmlns:a="http://schemas.openxmlformats.org/drawingml/2006/main">
            <a:off x="3762375" y="3152775"/>
            <a:ext cx="5334000" cy="152400"/>
          </a:xfrm>
          <a:prstGeom xmlns:a="http://schemas.openxmlformats.org/drawingml/2006/main" prst="rect">
            <a:avLst/>
          </a:prstGeom>
          <a:solidFill xmlns:a="http://schemas.openxmlformats.org/drawingml/2006/main">
            <a:srgbClr val="EFEAE1"/>
          </a:solidFill>
          <a:ln xmlns:a="http://schemas.openxmlformats.org/drawingml/2006/main" w="0">
            <a:solidFill>
              <a:srgbClr val="000000">
                <a:alpha val="0"/>
              </a:srgbClr>
            </a:solidFill>
            <a:prstDash val="solid"/>
          </a:ln>
        </p:spPr>
      </p:sp>
      <p:sp>
        <p:nvSpPr>
          <p:cNvPr id="11" name="">
            <a:extLst xmlns:a="http://schemas.openxmlformats.org/drawingml/2006/main">
              <a:ext uri="{FF2B5EF4-FFF2-40B4-BE49-F238E27FC236}">
                <a16:creationId xmlns:a16="http://schemas.microsoft.com/office/drawing/2014/main" id="{70F4A488-823C-41A7-BE13-EF350CE92926}"/>
              </a:ext>
            </a:extLst>
          </p:cNvPr>
          <p:cNvSpPr>
            <a:spLocks xmlns:a="http://schemas.openxmlformats.org/drawingml/2006/main" noGrp="1"/>
          </p:cNvSpPr>
          <p:nvPr/>
        </p:nvSpPr>
        <p:spPr>
          <a:xfrm xmlns:a="http://schemas.openxmlformats.org/drawingml/2006/main">
            <a:off x="3762375" y="3152775"/>
            <a:ext cx="4587240" cy="152400"/>
          </a:xfrm>
          <a:prstGeom xmlns:a="http://schemas.openxmlformats.org/drawingml/2006/main" prst="rect">
            <a:avLst/>
          </a:prstGeom>
          <a:solidFill xmlns:a="http://schemas.openxmlformats.org/drawingml/2006/main">
            <a:srgbClr val="2F7D59"/>
          </a:solidFill>
          <a:ln xmlns:a="http://schemas.openxmlformats.org/drawingml/2006/main" w="0">
            <a:solidFill>
              <a:srgbClr val="000000">
                <a:alpha val="0"/>
              </a:srgbClr>
            </a:solidFill>
            <a:prstDash val="solid"/>
          </a:ln>
        </p:spPr>
      </p:sp>
      <p:sp>
        <p:nvSpPr>
          <p:cNvPr id="12" name="">
            <a:extLst xmlns:a="http://schemas.openxmlformats.org/drawingml/2006/main">
              <a:ext uri="{FF2B5EF4-FFF2-40B4-BE49-F238E27FC236}">
                <a16:creationId xmlns:a16="http://schemas.microsoft.com/office/drawing/2014/main" id="{9F6C2D60-3B61-43C5-A1A7-DFEE37190894}"/>
              </a:ext>
            </a:extLst>
          </p:cNvPr>
          <p:cNvSpPr>
            <a:spLocks xmlns:a="http://schemas.openxmlformats.org/drawingml/2006/main" noGrp="1"/>
          </p:cNvSpPr>
          <p:nvPr/>
        </p:nvSpPr>
        <p:spPr>
          <a:xfrm xmlns:a="http://schemas.openxmlformats.org/drawingml/2006/main">
            <a:off x="1190625" y="3895725"/>
            <a:ext cx="2476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17202A"/>
                </a:solidFill>
                <a:latin typeface="Aptos"/>
                <a:ea typeface="Aptos"/>
                <a:cs typeface="Aptos"/>
              </a:defRPr>
            </a:pPr>
            <a:r>
              <a:rPr sz="1125" b="1">
                <a:solidFill>
                  <a:srgbClr val="17202A"/>
                </a:solidFill>
                <a:latin typeface="Aptos"/>
                <a:ea typeface="Aptos"/>
                <a:cs typeface="Aptos"/>
              </a:rPr>
              <a:t>Hài lòng chung (4.20 / 5.0)</a:t>
            </a:r>
          </a:p>
        </p:txBody>
      </p:sp>
      <p:sp>
        <p:nvSpPr>
          <p:cNvPr id="13" name="">
            <a:extLst xmlns:a="http://schemas.openxmlformats.org/drawingml/2006/main">
              <a:ext uri="{FF2B5EF4-FFF2-40B4-BE49-F238E27FC236}">
                <a16:creationId xmlns:a16="http://schemas.microsoft.com/office/drawing/2014/main" id="{C50C7541-A802-4FD4-9A83-4EAF4ABEAD83}"/>
              </a:ext>
            </a:extLst>
          </p:cNvPr>
          <p:cNvSpPr>
            <a:spLocks xmlns:a="http://schemas.openxmlformats.org/drawingml/2006/main" noGrp="1"/>
          </p:cNvSpPr>
          <p:nvPr/>
        </p:nvSpPr>
        <p:spPr>
          <a:xfrm xmlns:a="http://schemas.openxmlformats.org/drawingml/2006/main">
            <a:off x="3762375" y="3933825"/>
            <a:ext cx="5334000" cy="152400"/>
          </a:xfrm>
          <a:prstGeom xmlns:a="http://schemas.openxmlformats.org/drawingml/2006/main" prst="rect">
            <a:avLst/>
          </a:prstGeom>
          <a:solidFill xmlns:a="http://schemas.openxmlformats.org/drawingml/2006/main">
            <a:srgbClr val="EFEAE1"/>
          </a:solidFill>
          <a:ln xmlns:a="http://schemas.openxmlformats.org/drawingml/2006/main" w="0">
            <a:solidFill>
              <a:srgbClr val="000000">
                <a:alpha val="0"/>
              </a:srgbClr>
            </a:solidFill>
            <a:prstDash val="solid"/>
          </a:ln>
        </p:spPr>
      </p:sp>
      <p:sp>
        <p:nvSpPr>
          <p:cNvPr id="14" name="">
            <a:extLst xmlns:a="http://schemas.openxmlformats.org/drawingml/2006/main">
              <a:ext uri="{FF2B5EF4-FFF2-40B4-BE49-F238E27FC236}">
                <a16:creationId xmlns:a16="http://schemas.microsoft.com/office/drawing/2014/main" id="{92E72979-006A-4745-8FA9-66662C082F66}"/>
              </a:ext>
            </a:extLst>
          </p:cNvPr>
          <p:cNvSpPr>
            <a:spLocks xmlns:a="http://schemas.openxmlformats.org/drawingml/2006/main" noGrp="1"/>
          </p:cNvSpPr>
          <p:nvPr/>
        </p:nvSpPr>
        <p:spPr>
          <a:xfrm xmlns:a="http://schemas.openxmlformats.org/drawingml/2006/main">
            <a:off x="3762375" y="3933825"/>
            <a:ext cx="4480560" cy="152400"/>
          </a:xfrm>
          <a:prstGeom xmlns:a="http://schemas.openxmlformats.org/drawingml/2006/main" prst="rect">
            <a:avLst/>
          </a:prstGeom>
          <a:solidFill xmlns:a="http://schemas.openxmlformats.org/drawingml/2006/main">
            <a:srgbClr val="C8952D"/>
          </a:solidFill>
          <a:ln xmlns:a="http://schemas.openxmlformats.org/drawingml/2006/main" w="0">
            <a:solidFill>
              <a:srgbClr val="000000">
                <a:alpha val="0"/>
              </a:srgbClr>
            </a:solidFill>
            <a:prstDash val="solid"/>
          </a:ln>
        </p:spPr>
      </p:sp>
      <p:sp>
        <p:nvSpPr>
          <p:cNvPr id="15" name="">
            <a:extLst xmlns:a="http://schemas.openxmlformats.org/drawingml/2006/main">
              <a:ext uri="{FF2B5EF4-FFF2-40B4-BE49-F238E27FC236}">
                <a16:creationId xmlns:a16="http://schemas.microsoft.com/office/drawing/2014/main" id="{19DCC912-EDA7-4FE0-9C3F-4D2B1C5701A0}"/>
              </a:ext>
            </a:extLst>
          </p:cNvPr>
          <p:cNvSpPr>
            <a:spLocks xmlns:a="http://schemas.openxmlformats.org/drawingml/2006/main" noGrp="1"/>
          </p:cNvSpPr>
          <p:nvPr/>
        </p:nvSpPr>
        <p:spPr>
          <a:xfrm xmlns:a="http://schemas.openxmlformats.org/drawingml/2006/main">
            <a:off x="8191500" y="2381250"/>
            <a:ext cx="2095500" cy="495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95250" rIns="114300" bIns="95250" anchor="ctr"/>
          <a:lstStyle xmlns:a="http://schemas.openxmlformats.org/drawingml/2006/main"/>
          <a:p xmlns:a="http://schemas.openxmlformats.org/drawingml/2006/main">
            <a:pPr algn="ctr">
              <a:defRPr sz="1275" b="1">
                <a:solidFill>
                  <a:srgbClr val="17202A"/>
                </a:solidFill>
                <a:latin typeface="Aptos"/>
                <a:ea typeface="Aptos"/>
                <a:cs typeface="Aptos"/>
              </a:defRPr>
            </a:pPr>
            <a:r>
              <a:rPr sz="1275" b="1">
                <a:solidFill>
                  <a:srgbClr val="17202A"/>
                </a:solidFill>
                <a:latin typeface="Aptos"/>
                <a:ea typeface="Aptos"/>
                <a:cs typeface="Aptos"/>
              </a:rPr>
              <a:t>Tỷ lệ phản hồi tích cực</a:t>
            </a:r>
          </a:p>
          <a:p xmlns:a="http://schemas.openxmlformats.org/drawingml/2006/main">
            <a:pPr algn="ctr">
              <a:defRPr sz="1275" b="1">
                <a:solidFill>
                  <a:srgbClr val="17202A"/>
                </a:solidFill>
                <a:latin typeface="Aptos"/>
                <a:ea typeface="Aptos"/>
                <a:cs typeface="Aptos"/>
              </a:defRPr>
            </a:pPr>
            <a:r>
              <a:rPr sz="1275" b="1">
                <a:solidFill>
                  <a:srgbClr val="17202A"/>
                </a:solidFill>
                <a:latin typeface="Aptos"/>
                <a:ea typeface="Aptos"/>
                <a:cs typeface="Aptos"/>
              </a:rPr>
              <a:t>(điểm 4 và 5)</a:t>
            </a:r>
          </a:p>
        </p:txBody>
      </p:sp>
      <p:sp>
        <p:nvSpPr>
          <p:cNvPr id="16" name="">
            <a:extLst xmlns:a="http://schemas.openxmlformats.org/drawingml/2006/main">
              <a:ext uri="{FF2B5EF4-FFF2-40B4-BE49-F238E27FC236}">
                <a16:creationId xmlns:a16="http://schemas.microsoft.com/office/drawing/2014/main" id="{995F2BE4-A5FD-4C5F-8153-FED0F1D0F7AB}"/>
              </a:ext>
            </a:extLst>
          </p:cNvPr>
          <p:cNvSpPr>
            <a:spLocks xmlns:a="http://schemas.openxmlformats.org/drawingml/2006/main" noGrp="1"/>
          </p:cNvSpPr>
          <p:nvPr/>
        </p:nvSpPr>
        <p:spPr>
          <a:xfrm xmlns:a="http://schemas.openxmlformats.org/drawingml/2006/main">
            <a:off x="7667625" y="3143250"/>
            <a:ext cx="3143250" cy="514350"/>
          </a:xfrm>
          <a:prstGeom xmlns:a="http://schemas.openxmlformats.org/drawingml/2006/main" prst="rect">
            <a:avLst/>
          </a:prstGeom>
          <a:solidFill xmlns:a="http://schemas.openxmlformats.org/drawingml/2006/main">
            <a:srgbClr val="DDEBDD"/>
          </a:solidFill>
          <a:ln xmlns:a="http://schemas.openxmlformats.org/drawingml/2006/main" w="0">
            <a:solidFill>
              <a:srgbClr val="000000">
                <a:alpha val="0"/>
              </a:srgbClr>
            </a:solidFill>
            <a:prstDash val="solid"/>
          </a:ln>
        </p:spPr>
        <p:txBody>
          <a:bodyPr xmlns:a="http://schemas.openxmlformats.org/drawingml/2006/main" lIns="114300" tIns="95250" rIns="114300" bIns="95250" anchor="ctr"/>
          <a:lstStyle xmlns:a="http://schemas.openxmlformats.org/drawingml/2006/main"/>
          <a:p xmlns:a="http://schemas.openxmlformats.org/drawingml/2006/main">
            <a:pPr algn="ctr">
              <a:defRPr sz="2175" b="1">
                <a:solidFill>
                  <a:srgbClr val="2F7D59"/>
                </a:solidFill>
                <a:latin typeface="Aptos"/>
                <a:ea typeface="Aptos"/>
                <a:cs typeface="Aptos"/>
              </a:defRPr>
            </a:pPr>
            <a:r>
              <a:rPr sz="2175" b="1">
                <a:solidFill>
                  <a:srgbClr val="2F7D59"/>
                </a:solidFill>
                <a:latin typeface="Aptos"/>
                <a:ea typeface="Aptos"/>
                <a:cs typeface="Aptos"/>
              </a:rPr>
              <a:t>80%  |  86%  |  84%</a:t>
            </a:r>
          </a:p>
        </p:txBody>
      </p:sp>
      <p:sp>
        <p:nvSpPr>
          <p:cNvPr id="17" name="">
            <a:extLst xmlns:a="http://schemas.openxmlformats.org/drawingml/2006/main">
              <a:ext uri="{FF2B5EF4-FFF2-40B4-BE49-F238E27FC236}">
                <a16:creationId xmlns:a16="http://schemas.microsoft.com/office/drawing/2014/main" id="{B4622864-B168-4C92-B300-F4196586D198}"/>
              </a:ext>
            </a:extLst>
          </p:cNvPr>
          <p:cNvSpPr>
            <a:spLocks xmlns:a="http://schemas.openxmlformats.org/drawingml/2006/main" noGrp="1"/>
          </p:cNvSpPr>
          <p:nvPr/>
        </p:nvSpPr>
        <p:spPr>
          <a:xfrm xmlns:a="http://schemas.openxmlformats.org/drawingml/2006/main">
            <a:off x="1524000" y="5334000"/>
            <a:ext cx="9144000" cy="457200"/>
          </a:xfrm>
          <a:prstGeom xmlns:a="http://schemas.openxmlformats.org/drawingml/2006/main" prst="rect">
            <a:avLst/>
          </a:prstGeom>
          <a:solidFill xmlns:a="http://schemas.openxmlformats.org/drawingml/2006/main">
            <a:srgbClr val="EFEAE1"/>
          </a:solidFill>
          <a:ln xmlns:a="http://schemas.openxmlformats.org/drawingml/2006/main" w="0">
            <a:solidFill>
              <a:srgbClr val="000000">
                <a:alpha val="0"/>
              </a:srgbClr>
            </a:solidFill>
            <a:prstDash val="solid"/>
          </a:ln>
        </p:spPr>
        <p:txBody>
          <a:bodyPr xmlns:a="http://schemas.openxmlformats.org/drawingml/2006/main" lIns="114300" tIns="95250" rIns="114300" bIns="95250" anchor="ctr"/>
          <a:lstStyle xmlns:a="http://schemas.openxmlformats.org/drawingml/2006/main"/>
          <a:p xmlns:a="http://schemas.openxmlformats.org/drawingml/2006/main">
            <a:pPr algn="ctr">
              <a:defRPr sz="1275" b="0">
                <a:solidFill>
                  <a:srgbClr val="17202A"/>
                </a:solidFill>
                <a:latin typeface="Aptos"/>
                <a:ea typeface="Aptos"/>
                <a:cs typeface="Aptos"/>
              </a:defRPr>
            </a:pPr>
            <a:r>
              <a:rPr sz="1275" b="0">
                <a:solidFill>
                  <a:srgbClr val="17202A"/>
                </a:solidFill>
                <a:latin typeface="Aptos"/>
                <a:ea typeface="Aptos"/>
                <a:cs typeface="Aptos"/>
              </a:rPr>
              <a:t>Điểm hạn chế đã ghi nhận: người dùng có ít tương tác có thể bị ảnh hưởng mạnh bởi sản phẩm vừa xem; hướng cải tiến là thêm time-decay weights.</a:t>
            </a:r>
          </a:p>
        </p:txBody>
      </p:sp>
      <p:sp>
        <p:nvSpPr>
          <p:cNvPr id="18" name="">
            <a:extLst xmlns:a="http://schemas.openxmlformats.org/drawingml/2006/main">
              <a:ext uri="{FF2B5EF4-FFF2-40B4-BE49-F238E27FC236}">
                <a16:creationId xmlns:a16="http://schemas.microsoft.com/office/drawing/2014/main" id="{2186D781-BA32-4AB5-A4EF-D88FE1135441}"/>
              </a:ext>
            </a:extLst>
          </p:cNvPr>
          <p:cNvSpPr>
            <a:spLocks xmlns:a="http://schemas.openxmlformats.org/drawingml/2006/main" noGrp="1"/>
          </p:cNvSpPr>
          <p:nvPr/>
        </p:nvSpPr>
        <p:spPr>
          <a:xfrm xmlns:a="http://schemas.openxmlformats.org/drawingml/2006/main">
            <a:off x="666750" y="6553200"/>
            <a:ext cx="7810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7A7470"/>
                </a:solidFill>
                <a:latin typeface="Aptos"/>
                <a:ea typeface="Aptos"/>
                <a:cs typeface="Aptos"/>
              </a:defRPr>
            </a:pPr>
            <a:r>
              <a:rPr sz="750" b="0">
                <a:solidFill>
                  <a:srgbClr val="7A7470"/>
                </a:solidFill>
                <a:latin typeface="Aptos"/>
                <a:ea typeface="Aptos"/>
                <a:cs typeface="Aptos"/>
              </a:rPr>
              <a:t>Nguồn: Tài liệu bổ sung Recommendation System, khảo sát 50 người dùng</a:t>
            </a:r>
          </a:p>
        </p:txBody>
      </p:sp>
      <p:sp>
        <p:nvSpPr>
          <p:cNvPr id="19" name="">
            <a:extLst xmlns:a="http://schemas.openxmlformats.org/drawingml/2006/main">
              <a:ext uri="{FF2B5EF4-FFF2-40B4-BE49-F238E27FC236}">
                <a16:creationId xmlns:a16="http://schemas.microsoft.com/office/drawing/2014/main" id="{852D8DEF-A5F0-4B3D-8A46-189CC836C399}"/>
              </a:ext>
            </a:extLst>
          </p:cNvPr>
          <p:cNvSpPr>
            <a:spLocks xmlns:a="http://schemas.openxmlformats.org/drawingml/2006/main" noGrp="1"/>
          </p:cNvSpPr>
          <p:nvPr/>
        </p:nvSpPr>
        <p:spPr>
          <a:xfrm xmlns:a="http://schemas.openxmlformats.org/drawingml/2006/main">
            <a:off x="11239500" y="6515100"/>
            <a:ext cx="3810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825" b="1">
                <a:solidFill>
                  <a:srgbClr val="7A7470"/>
                </a:solidFill>
                <a:latin typeface="Aptos"/>
                <a:ea typeface="Aptos"/>
                <a:cs typeface="Aptos"/>
              </a:defRPr>
            </a:pPr>
            <a:r>
              <a:rPr sz="825" b="1">
                <a:solidFill>
                  <a:srgbClr val="7A7470"/>
                </a:solidFill>
                <a:latin typeface="Aptos"/>
                <a:ea typeface="Aptos"/>
                <a:cs typeface="Aptos"/>
              </a:rPr>
              <a:t>11</a:t>
            </a:r>
          </a:p>
        </p:txBody>
      </p:sp>
    </p:spTree>
    <p:extLst>
      <p:ext uri="{BB962C8B-B14F-4D97-AF65-F5344CB8AC3E}">
        <p14:creationId xmlns:p14="http://schemas.microsoft.com/office/powerpoint/2010/main" val="2049117785"/>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A6B42298-897D-4F03-95FC-524EAF2870C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7202A"/>
          </a:solidFill>
          <a:ln xmlns:a="http://schemas.openxmlformats.org/drawingml/2006/main" w="0">
            <a:solidFill>
              <a:srgbClr val="000000">
                <a:alpha val="0"/>
              </a:srgbClr>
            </a:solidFill>
            <a:prstDash val="solid"/>
          </a:ln>
        </p:spPr>
      </p:sp>
      <p:sp>
        <p:nvSpPr>
          <p:cNvPr id="2" name="kicker-12-marker">
            <a:extLst xmlns:a="http://schemas.openxmlformats.org/drawingml/2006/main">
              <a:ext uri="{FF2B5EF4-FFF2-40B4-BE49-F238E27FC236}">
                <a16:creationId xmlns:a16="http://schemas.microsoft.com/office/drawing/2014/main" id="{84B86E61-E105-4C10-9622-4E793E7C848C}"/>
              </a:ext>
            </a:extLst>
          </p:cNvPr>
          <p:cNvSpPr>
            <a:spLocks xmlns:a="http://schemas.openxmlformats.org/drawingml/2006/main" noGrp="1"/>
          </p:cNvSpPr>
          <p:nvPr/>
        </p:nvSpPr>
        <p:spPr>
          <a:xfrm xmlns:a="http://schemas.openxmlformats.org/drawingml/2006/main">
            <a:off x="666750" y="542925"/>
            <a:ext cx="266700" cy="38100"/>
          </a:xfrm>
          <a:prstGeom xmlns:a="http://schemas.openxmlformats.org/drawingml/2006/main" prst="rect">
            <a:avLst/>
          </a:prstGeom>
          <a:solidFill xmlns:a="http://schemas.openxmlformats.org/drawingml/2006/main">
            <a:srgbClr val="C8952D"/>
          </a:solidFill>
          <a:ln xmlns:a="http://schemas.openxmlformats.org/drawingml/2006/main" w="0">
            <a:solidFill>
              <a:srgbClr val="000000">
                <a:alpha val="0"/>
              </a:srgbClr>
            </a:solidFill>
            <a:prstDash val="solid"/>
          </a:ln>
        </p:spPr>
      </p:sp>
      <p:sp>
        <p:nvSpPr>
          <p:cNvPr id="3" name="kicker-12-label">
            <a:extLst xmlns:a="http://schemas.openxmlformats.org/drawingml/2006/main">
              <a:ext uri="{FF2B5EF4-FFF2-40B4-BE49-F238E27FC236}">
                <a16:creationId xmlns:a16="http://schemas.microsoft.com/office/drawing/2014/main" id="{6C28F7E1-CAB1-405C-91C1-A05D02955005}"/>
              </a:ext>
            </a:extLst>
          </p:cNvPr>
          <p:cNvSpPr>
            <a:spLocks xmlns:a="http://schemas.openxmlformats.org/drawingml/2006/main" noGrp="1"/>
          </p:cNvSpPr>
          <p:nvPr/>
        </p:nvSpPr>
        <p:spPr>
          <a:xfrm xmlns:a="http://schemas.openxmlformats.org/drawingml/2006/main">
            <a:off x="1066800" y="457200"/>
            <a:ext cx="31432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900" b="1">
                <a:solidFill>
                  <a:srgbClr val="C8952D"/>
                </a:solidFill>
                <a:latin typeface="Aptos"/>
                <a:ea typeface="Aptos"/>
                <a:cs typeface="Aptos"/>
              </a:defRPr>
            </a:pPr>
            <a:r>
              <a:rPr sz="900" b="1">
                <a:solidFill>
                  <a:srgbClr val="C8952D"/>
                </a:solidFill>
                <a:latin typeface="Aptos"/>
                <a:ea typeface="Aptos"/>
                <a:cs typeface="Aptos"/>
              </a:rPr>
              <a:t>KẾT LUẬN</a:t>
            </a:r>
          </a:p>
        </p:txBody>
      </p:sp>
      <p:sp>
        <p:nvSpPr>
          <p:cNvPr id="4" name="">
            <a:extLst xmlns:a="http://schemas.openxmlformats.org/drawingml/2006/main">
              <a:ext uri="{FF2B5EF4-FFF2-40B4-BE49-F238E27FC236}">
                <a16:creationId xmlns:a16="http://schemas.microsoft.com/office/drawing/2014/main" id="{4CF46DBE-0E9B-432E-8351-AB9364BB8A89}"/>
              </a:ext>
            </a:extLst>
          </p:cNvPr>
          <p:cNvSpPr>
            <a:spLocks xmlns:a="http://schemas.openxmlformats.org/drawingml/2006/main" noGrp="1"/>
          </p:cNvSpPr>
          <p:nvPr/>
        </p:nvSpPr>
        <p:spPr>
          <a:xfrm xmlns:a="http://schemas.openxmlformats.org/drawingml/2006/main">
            <a:off x="666750" y="876300"/>
            <a:ext cx="8096250" cy="1143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000" b="1">
                <a:solidFill>
                  <a:srgbClr val="F7F4EE"/>
                </a:solidFill>
                <a:latin typeface="Aptos Display"/>
                <a:ea typeface="Aptos Display"/>
                <a:cs typeface="Aptos Display"/>
              </a:defRPr>
            </a:pPr>
            <a:r>
              <a:rPr sz="3000" b="1">
                <a:solidFill>
                  <a:srgbClr val="F7F4EE"/>
                </a:solidFill>
                <a:latin typeface="Aptos Display"/>
                <a:ea typeface="Aptos Display"/>
                <a:cs typeface="Aptos Display"/>
              </a:rPr>
              <a:t>MyStore đã hoàn thành lõi thương mại điện tử và tạo được nền tảng cá nhân hóa có thể mở rộng.</a:t>
            </a:r>
          </a:p>
        </p:txBody>
      </p:sp>
      <p:sp>
        <p:nvSpPr>
          <p:cNvPr id="5" name="">
            <a:extLst xmlns:a="http://schemas.openxmlformats.org/drawingml/2006/main">
              <a:ext uri="{FF2B5EF4-FFF2-40B4-BE49-F238E27FC236}">
                <a16:creationId xmlns:a16="http://schemas.microsoft.com/office/drawing/2014/main" id="{BA6CB2EE-1D4B-4962-A8B7-EBD9BD3B2BE9}"/>
              </a:ext>
            </a:extLst>
          </p:cNvPr>
          <p:cNvSpPr>
            <a:spLocks xmlns:a="http://schemas.openxmlformats.org/drawingml/2006/main" noGrp="1"/>
          </p:cNvSpPr>
          <p:nvPr/>
        </p:nvSpPr>
        <p:spPr>
          <a:xfrm xmlns:a="http://schemas.openxmlformats.org/drawingml/2006/main">
            <a:off x="904875" y="2571750"/>
            <a:ext cx="2476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F7F4EE"/>
                </a:solidFill>
                <a:latin typeface="Aptos"/>
                <a:ea typeface="Aptos"/>
                <a:cs typeface="Aptos"/>
              </a:defRPr>
            </a:pPr>
            <a:r>
              <a:rPr sz="1125" b="1">
                <a:solidFill>
                  <a:srgbClr val="F7F4EE"/>
                </a:solidFill>
                <a:latin typeface="Aptos"/>
                <a:ea typeface="Aptos"/>
                <a:cs typeface="Aptos"/>
              </a:rPr>
              <a:t>Auth, sản phẩm, giỏ hàng, thanh toán</a:t>
            </a:r>
          </a:p>
        </p:txBody>
      </p:sp>
      <p:sp>
        <p:nvSpPr>
          <p:cNvPr id="6" name="">
            <a:extLst xmlns:a="http://schemas.openxmlformats.org/drawingml/2006/main">
              <a:ext uri="{FF2B5EF4-FFF2-40B4-BE49-F238E27FC236}">
                <a16:creationId xmlns:a16="http://schemas.microsoft.com/office/drawing/2014/main" id="{51927281-6EC1-4C44-B7EA-BD896CE8F16C}"/>
              </a:ext>
            </a:extLst>
          </p:cNvPr>
          <p:cNvSpPr>
            <a:spLocks xmlns:a="http://schemas.openxmlformats.org/drawingml/2006/main" noGrp="1"/>
          </p:cNvSpPr>
          <p:nvPr/>
        </p:nvSpPr>
        <p:spPr>
          <a:xfrm xmlns:a="http://schemas.openxmlformats.org/drawingml/2006/main">
            <a:off x="3476625" y="2609850"/>
            <a:ext cx="2857500" cy="152400"/>
          </a:xfrm>
          <a:prstGeom xmlns:a="http://schemas.openxmlformats.org/drawingml/2006/main" prst="rect">
            <a:avLst/>
          </a:prstGeom>
          <a:solidFill xmlns:a="http://schemas.openxmlformats.org/drawingml/2006/main">
            <a:srgbClr val="EFEAE1"/>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9A745ABB-6794-49BA-9E39-6CF6E01D49E0}"/>
              </a:ext>
            </a:extLst>
          </p:cNvPr>
          <p:cNvSpPr>
            <a:spLocks xmlns:a="http://schemas.openxmlformats.org/drawingml/2006/main" noGrp="1"/>
          </p:cNvSpPr>
          <p:nvPr/>
        </p:nvSpPr>
        <p:spPr>
          <a:xfrm xmlns:a="http://schemas.openxmlformats.org/drawingml/2006/main">
            <a:off x="3476625" y="2609850"/>
            <a:ext cx="2857500" cy="152400"/>
          </a:xfrm>
          <a:prstGeom xmlns:a="http://schemas.openxmlformats.org/drawingml/2006/main" prst="rect">
            <a:avLst/>
          </a:prstGeom>
          <a:solidFill xmlns:a="http://schemas.openxmlformats.org/drawingml/2006/main">
            <a:srgbClr val="2F7D59"/>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90BEC74C-8291-4000-B65D-D923998283E9}"/>
              </a:ext>
            </a:extLst>
          </p:cNvPr>
          <p:cNvSpPr>
            <a:spLocks xmlns:a="http://schemas.openxmlformats.org/drawingml/2006/main" noGrp="1"/>
          </p:cNvSpPr>
          <p:nvPr/>
        </p:nvSpPr>
        <p:spPr>
          <a:xfrm xmlns:a="http://schemas.openxmlformats.org/drawingml/2006/main">
            <a:off x="6429375" y="2552700"/>
            <a:ext cx="5715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1">
                <a:solidFill>
                  <a:srgbClr val="2F7D59"/>
                </a:solidFill>
                <a:latin typeface="Aptos"/>
                <a:ea typeface="Aptos"/>
                <a:cs typeface="Aptos"/>
              </a:defRPr>
            </a:pPr>
            <a:r>
              <a:rPr sz="1050" b="1">
                <a:solidFill>
                  <a:srgbClr val="2F7D59"/>
                </a:solidFill>
                <a:latin typeface="Aptos"/>
                <a:ea typeface="Aptos"/>
                <a:cs typeface="Aptos"/>
              </a:rPr>
              <a:t>100%</a:t>
            </a:r>
          </a:p>
        </p:txBody>
      </p:sp>
      <p:sp>
        <p:nvSpPr>
          <p:cNvPr id="9" name="">
            <a:extLst xmlns:a="http://schemas.openxmlformats.org/drawingml/2006/main">
              <a:ext uri="{FF2B5EF4-FFF2-40B4-BE49-F238E27FC236}">
                <a16:creationId xmlns:a16="http://schemas.microsoft.com/office/drawing/2014/main" id="{CADA47A0-52B2-4BF4-B466-83BD1A68071A}"/>
              </a:ext>
            </a:extLst>
          </p:cNvPr>
          <p:cNvSpPr>
            <a:spLocks xmlns:a="http://schemas.openxmlformats.org/drawingml/2006/main" noGrp="1"/>
          </p:cNvSpPr>
          <p:nvPr/>
        </p:nvSpPr>
        <p:spPr>
          <a:xfrm xmlns:a="http://schemas.openxmlformats.org/drawingml/2006/main">
            <a:off x="904875" y="3000375"/>
            <a:ext cx="2476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F7F4EE"/>
                </a:solidFill>
                <a:latin typeface="Aptos"/>
                <a:ea typeface="Aptos"/>
                <a:cs typeface="Aptos"/>
              </a:defRPr>
            </a:pPr>
            <a:r>
              <a:rPr sz="1125" b="1">
                <a:solidFill>
                  <a:srgbClr val="F7F4EE"/>
                </a:solidFill>
                <a:latin typeface="Aptos"/>
                <a:ea typeface="Aptos"/>
                <a:cs typeface="Aptos"/>
              </a:rPr>
              <a:t>Đánh giá &amp; behavior tracking</a:t>
            </a:r>
          </a:p>
        </p:txBody>
      </p:sp>
      <p:sp>
        <p:nvSpPr>
          <p:cNvPr id="10" name="">
            <a:extLst xmlns:a="http://schemas.openxmlformats.org/drawingml/2006/main">
              <a:ext uri="{FF2B5EF4-FFF2-40B4-BE49-F238E27FC236}">
                <a16:creationId xmlns:a16="http://schemas.microsoft.com/office/drawing/2014/main" id="{B715F556-ACAA-4775-B7F3-7DFFA8B8A69C}"/>
              </a:ext>
            </a:extLst>
          </p:cNvPr>
          <p:cNvSpPr>
            <a:spLocks xmlns:a="http://schemas.openxmlformats.org/drawingml/2006/main" noGrp="1"/>
          </p:cNvSpPr>
          <p:nvPr/>
        </p:nvSpPr>
        <p:spPr>
          <a:xfrm xmlns:a="http://schemas.openxmlformats.org/drawingml/2006/main">
            <a:off x="3476625" y="3038475"/>
            <a:ext cx="2857500" cy="152400"/>
          </a:xfrm>
          <a:prstGeom xmlns:a="http://schemas.openxmlformats.org/drawingml/2006/main" prst="rect">
            <a:avLst/>
          </a:prstGeom>
          <a:solidFill xmlns:a="http://schemas.openxmlformats.org/drawingml/2006/main">
            <a:srgbClr val="EFEAE1"/>
          </a:solidFill>
          <a:ln xmlns:a="http://schemas.openxmlformats.org/drawingml/2006/main" w="0">
            <a:solidFill>
              <a:srgbClr val="000000">
                <a:alpha val="0"/>
              </a:srgbClr>
            </a:solidFill>
            <a:prstDash val="solid"/>
          </a:ln>
        </p:spPr>
      </p:sp>
      <p:sp>
        <p:nvSpPr>
          <p:cNvPr id="11" name="">
            <a:extLst xmlns:a="http://schemas.openxmlformats.org/drawingml/2006/main">
              <a:ext uri="{FF2B5EF4-FFF2-40B4-BE49-F238E27FC236}">
                <a16:creationId xmlns:a16="http://schemas.microsoft.com/office/drawing/2014/main" id="{C52ED3A0-AF22-43B9-AF77-CD78EA03DF0D}"/>
              </a:ext>
            </a:extLst>
          </p:cNvPr>
          <p:cNvSpPr>
            <a:spLocks xmlns:a="http://schemas.openxmlformats.org/drawingml/2006/main" noGrp="1"/>
          </p:cNvSpPr>
          <p:nvPr/>
        </p:nvSpPr>
        <p:spPr>
          <a:xfrm xmlns:a="http://schemas.openxmlformats.org/drawingml/2006/main">
            <a:off x="3476625" y="3038475"/>
            <a:ext cx="2857500" cy="152400"/>
          </a:xfrm>
          <a:prstGeom xmlns:a="http://schemas.openxmlformats.org/drawingml/2006/main" prst="rect">
            <a:avLst/>
          </a:prstGeom>
          <a:solidFill xmlns:a="http://schemas.openxmlformats.org/drawingml/2006/main">
            <a:srgbClr val="2F7D59"/>
          </a:solidFill>
          <a:ln xmlns:a="http://schemas.openxmlformats.org/drawingml/2006/main" w="0">
            <a:solidFill>
              <a:srgbClr val="000000">
                <a:alpha val="0"/>
              </a:srgbClr>
            </a:solidFill>
            <a:prstDash val="solid"/>
          </a:ln>
        </p:spPr>
      </p:sp>
      <p:sp>
        <p:nvSpPr>
          <p:cNvPr id="12" name="">
            <a:extLst xmlns:a="http://schemas.openxmlformats.org/drawingml/2006/main">
              <a:ext uri="{FF2B5EF4-FFF2-40B4-BE49-F238E27FC236}">
                <a16:creationId xmlns:a16="http://schemas.microsoft.com/office/drawing/2014/main" id="{C65CB2B2-3E38-40B5-98A8-364154A46C5D}"/>
              </a:ext>
            </a:extLst>
          </p:cNvPr>
          <p:cNvSpPr>
            <a:spLocks xmlns:a="http://schemas.openxmlformats.org/drawingml/2006/main" noGrp="1"/>
          </p:cNvSpPr>
          <p:nvPr/>
        </p:nvSpPr>
        <p:spPr>
          <a:xfrm xmlns:a="http://schemas.openxmlformats.org/drawingml/2006/main">
            <a:off x="6429375" y="2981325"/>
            <a:ext cx="5715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1">
                <a:solidFill>
                  <a:srgbClr val="2F7D59"/>
                </a:solidFill>
                <a:latin typeface="Aptos"/>
                <a:ea typeface="Aptos"/>
                <a:cs typeface="Aptos"/>
              </a:defRPr>
            </a:pPr>
            <a:r>
              <a:rPr sz="1050" b="1">
                <a:solidFill>
                  <a:srgbClr val="2F7D59"/>
                </a:solidFill>
                <a:latin typeface="Aptos"/>
                <a:ea typeface="Aptos"/>
                <a:cs typeface="Aptos"/>
              </a:rPr>
              <a:t>100%</a:t>
            </a:r>
          </a:p>
        </p:txBody>
      </p:sp>
      <p:sp>
        <p:nvSpPr>
          <p:cNvPr id="13" name="">
            <a:extLst xmlns:a="http://schemas.openxmlformats.org/drawingml/2006/main">
              <a:ext uri="{FF2B5EF4-FFF2-40B4-BE49-F238E27FC236}">
                <a16:creationId xmlns:a16="http://schemas.microsoft.com/office/drawing/2014/main" id="{C4CB10B9-2376-462A-B238-1A8723F77D02}"/>
              </a:ext>
            </a:extLst>
          </p:cNvPr>
          <p:cNvSpPr>
            <a:spLocks xmlns:a="http://schemas.openxmlformats.org/drawingml/2006/main" noGrp="1"/>
          </p:cNvSpPr>
          <p:nvPr/>
        </p:nvSpPr>
        <p:spPr>
          <a:xfrm xmlns:a="http://schemas.openxmlformats.org/drawingml/2006/main">
            <a:off x="904875" y="3429000"/>
            <a:ext cx="2476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F7F4EE"/>
                </a:solidFill>
                <a:latin typeface="Aptos"/>
                <a:ea typeface="Aptos"/>
                <a:cs typeface="Aptos"/>
              </a:defRPr>
            </a:pPr>
            <a:r>
              <a:rPr sz="1125" b="1">
                <a:solidFill>
                  <a:srgbClr val="F7F4EE"/>
                </a:solidFill>
                <a:latin typeface="Aptos"/>
                <a:ea typeface="Aptos"/>
                <a:cs typeface="Aptos"/>
              </a:rPr>
              <a:t>Recommendation Node fallback</a:t>
            </a:r>
          </a:p>
        </p:txBody>
      </p:sp>
      <p:sp>
        <p:nvSpPr>
          <p:cNvPr id="14" name="">
            <a:extLst xmlns:a="http://schemas.openxmlformats.org/drawingml/2006/main">
              <a:ext uri="{FF2B5EF4-FFF2-40B4-BE49-F238E27FC236}">
                <a16:creationId xmlns:a16="http://schemas.microsoft.com/office/drawing/2014/main" id="{8419C7AA-C093-41FB-B330-8BB9CF149333}"/>
              </a:ext>
            </a:extLst>
          </p:cNvPr>
          <p:cNvSpPr>
            <a:spLocks xmlns:a="http://schemas.openxmlformats.org/drawingml/2006/main" noGrp="1"/>
          </p:cNvSpPr>
          <p:nvPr/>
        </p:nvSpPr>
        <p:spPr>
          <a:xfrm xmlns:a="http://schemas.openxmlformats.org/drawingml/2006/main">
            <a:off x="3476625" y="3467100"/>
            <a:ext cx="2857500" cy="152400"/>
          </a:xfrm>
          <a:prstGeom xmlns:a="http://schemas.openxmlformats.org/drawingml/2006/main" prst="rect">
            <a:avLst/>
          </a:prstGeom>
          <a:solidFill xmlns:a="http://schemas.openxmlformats.org/drawingml/2006/main">
            <a:srgbClr val="EFEAE1"/>
          </a:solidFill>
          <a:ln xmlns:a="http://schemas.openxmlformats.org/drawingml/2006/main" w="0">
            <a:solidFill>
              <a:srgbClr val="000000">
                <a:alpha val="0"/>
              </a:srgbClr>
            </a:solidFill>
            <a:prstDash val="solid"/>
          </a:ln>
        </p:spPr>
      </p:sp>
      <p:sp>
        <p:nvSpPr>
          <p:cNvPr id="15" name="">
            <a:extLst xmlns:a="http://schemas.openxmlformats.org/drawingml/2006/main">
              <a:ext uri="{FF2B5EF4-FFF2-40B4-BE49-F238E27FC236}">
                <a16:creationId xmlns:a16="http://schemas.microsoft.com/office/drawing/2014/main" id="{07BA4421-72E0-4257-9AC4-AE538E23B586}"/>
              </a:ext>
            </a:extLst>
          </p:cNvPr>
          <p:cNvSpPr>
            <a:spLocks xmlns:a="http://schemas.openxmlformats.org/drawingml/2006/main" noGrp="1"/>
          </p:cNvSpPr>
          <p:nvPr/>
        </p:nvSpPr>
        <p:spPr>
          <a:xfrm xmlns:a="http://schemas.openxmlformats.org/drawingml/2006/main">
            <a:off x="3476625" y="3467100"/>
            <a:ext cx="2857500" cy="152400"/>
          </a:xfrm>
          <a:prstGeom xmlns:a="http://schemas.openxmlformats.org/drawingml/2006/main" prst="rect">
            <a:avLst/>
          </a:prstGeom>
          <a:solidFill xmlns:a="http://schemas.openxmlformats.org/drawingml/2006/main">
            <a:srgbClr val="2F7D59"/>
          </a:solidFill>
          <a:ln xmlns:a="http://schemas.openxmlformats.org/drawingml/2006/main" w="0">
            <a:solidFill>
              <a:srgbClr val="000000">
                <a:alpha val="0"/>
              </a:srgbClr>
            </a:solidFill>
            <a:prstDash val="solid"/>
          </a:ln>
        </p:spPr>
      </p:sp>
      <p:sp>
        <p:nvSpPr>
          <p:cNvPr id="16" name="">
            <a:extLst xmlns:a="http://schemas.openxmlformats.org/drawingml/2006/main">
              <a:ext uri="{FF2B5EF4-FFF2-40B4-BE49-F238E27FC236}">
                <a16:creationId xmlns:a16="http://schemas.microsoft.com/office/drawing/2014/main" id="{84A05356-0B12-4B57-BC2B-9D02C85CFD6B}"/>
              </a:ext>
            </a:extLst>
          </p:cNvPr>
          <p:cNvSpPr>
            <a:spLocks xmlns:a="http://schemas.openxmlformats.org/drawingml/2006/main" noGrp="1"/>
          </p:cNvSpPr>
          <p:nvPr/>
        </p:nvSpPr>
        <p:spPr>
          <a:xfrm xmlns:a="http://schemas.openxmlformats.org/drawingml/2006/main">
            <a:off x="6429375" y="3409950"/>
            <a:ext cx="5715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1">
                <a:solidFill>
                  <a:srgbClr val="2F7D59"/>
                </a:solidFill>
                <a:latin typeface="Aptos"/>
                <a:ea typeface="Aptos"/>
                <a:cs typeface="Aptos"/>
              </a:defRPr>
            </a:pPr>
            <a:r>
              <a:rPr sz="1050" b="1">
                <a:solidFill>
                  <a:srgbClr val="2F7D59"/>
                </a:solidFill>
                <a:latin typeface="Aptos"/>
                <a:ea typeface="Aptos"/>
                <a:cs typeface="Aptos"/>
              </a:rPr>
              <a:t>100%</a:t>
            </a:r>
          </a:p>
        </p:txBody>
      </p:sp>
      <p:sp>
        <p:nvSpPr>
          <p:cNvPr id="17" name="">
            <a:extLst xmlns:a="http://schemas.openxmlformats.org/drawingml/2006/main">
              <a:ext uri="{FF2B5EF4-FFF2-40B4-BE49-F238E27FC236}">
                <a16:creationId xmlns:a16="http://schemas.microsoft.com/office/drawing/2014/main" id="{9F041616-D984-418F-96EB-615590A81C65}"/>
              </a:ext>
            </a:extLst>
          </p:cNvPr>
          <p:cNvSpPr>
            <a:spLocks xmlns:a="http://schemas.openxmlformats.org/drawingml/2006/main" noGrp="1"/>
          </p:cNvSpPr>
          <p:nvPr/>
        </p:nvSpPr>
        <p:spPr>
          <a:xfrm xmlns:a="http://schemas.openxmlformats.org/drawingml/2006/main">
            <a:off x="904875" y="3857625"/>
            <a:ext cx="2476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F7F4EE"/>
                </a:solidFill>
                <a:latin typeface="Aptos"/>
                <a:ea typeface="Aptos"/>
                <a:cs typeface="Aptos"/>
              </a:defRPr>
            </a:pPr>
            <a:r>
              <a:rPr sz="1125" b="1">
                <a:solidFill>
                  <a:srgbClr val="F7F4EE"/>
                </a:solidFill>
                <a:latin typeface="Aptos"/>
                <a:ea typeface="Aptos"/>
                <a:cs typeface="Aptos"/>
              </a:rPr>
              <a:t>ML Service Python</a:t>
            </a:r>
          </a:p>
        </p:txBody>
      </p:sp>
      <p:sp>
        <p:nvSpPr>
          <p:cNvPr id="18" name="">
            <a:extLst xmlns:a="http://schemas.openxmlformats.org/drawingml/2006/main">
              <a:ext uri="{FF2B5EF4-FFF2-40B4-BE49-F238E27FC236}">
                <a16:creationId xmlns:a16="http://schemas.microsoft.com/office/drawing/2014/main" id="{26D6C537-24EA-4EA4-8CCE-F5F2C47BC8FF}"/>
              </a:ext>
            </a:extLst>
          </p:cNvPr>
          <p:cNvSpPr>
            <a:spLocks xmlns:a="http://schemas.openxmlformats.org/drawingml/2006/main" noGrp="1"/>
          </p:cNvSpPr>
          <p:nvPr/>
        </p:nvSpPr>
        <p:spPr>
          <a:xfrm xmlns:a="http://schemas.openxmlformats.org/drawingml/2006/main">
            <a:off x="3476625" y="3895725"/>
            <a:ext cx="2857500" cy="152400"/>
          </a:xfrm>
          <a:prstGeom xmlns:a="http://schemas.openxmlformats.org/drawingml/2006/main" prst="rect">
            <a:avLst/>
          </a:prstGeom>
          <a:solidFill xmlns:a="http://schemas.openxmlformats.org/drawingml/2006/main">
            <a:srgbClr val="EFEAE1"/>
          </a:solidFill>
          <a:ln xmlns:a="http://schemas.openxmlformats.org/drawingml/2006/main" w="0">
            <a:solidFill>
              <a:srgbClr val="000000">
                <a:alpha val="0"/>
              </a:srgbClr>
            </a:solidFill>
            <a:prstDash val="solid"/>
          </a:ln>
        </p:spPr>
      </p:sp>
      <p:sp>
        <p:nvSpPr>
          <p:cNvPr id="19" name="">
            <a:extLst xmlns:a="http://schemas.openxmlformats.org/drawingml/2006/main">
              <a:ext uri="{FF2B5EF4-FFF2-40B4-BE49-F238E27FC236}">
                <a16:creationId xmlns:a16="http://schemas.microsoft.com/office/drawing/2014/main" id="{5676A9CD-FDC7-4982-B60E-15F594900EA2}"/>
              </a:ext>
            </a:extLst>
          </p:cNvPr>
          <p:cNvSpPr>
            <a:spLocks xmlns:a="http://schemas.openxmlformats.org/drawingml/2006/main" noGrp="1"/>
          </p:cNvSpPr>
          <p:nvPr/>
        </p:nvSpPr>
        <p:spPr>
          <a:xfrm xmlns:a="http://schemas.openxmlformats.org/drawingml/2006/main">
            <a:off x="3476625" y="3895725"/>
            <a:ext cx="2571750" cy="152400"/>
          </a:xfrm>
          <a:prstGeom xmlns:a="http://schemas.openxmlformats.org/drawingml/2006/main" prst="rect">
            <a:avLst/>
          </a:prstGeom>
          <a:solidFill xmlns:a="http://schemas.openxmlformats.org/drawingml/2006/main">
            <a:srgbClr val="C8952D"/>
          </a:solidFill>
          <a:ln xmlns:a="http://schemas.openxmlformats.org/drawingml/2006/main" w="0">
            <a:solidFill>
              <a:srgbClr val="000000">
                <a:alpha val="0"/>
              </a:srgbClr>
            </a:solidFill>
            <a:prstDash val="solid"/>
          </a:ln>
        </p:spPr>
      </p:sp>
      <p:sp>
        <p:nvSpPr>
          <p:cNvPr id="20" name="">
            <a:extLst xmlns:a="http://schemas.openxmlformats.org/drawingml/2006/main">
              <a:ext uri="{FF2B5EF4-FFF2-40B4-BE49-F238E27FC236}">
                <a16:creationId xmlns:a16="http://schemas.microsoft.com/office/drawing/2014/main" id="{996B0C4F-DFC7-469A-9DBF-8CC5A58C2D30}"/>
              </a:ext>
            </a:extLst>
          </p:cNvPr>
          <p:cNvSpPr>
            <a:spLocks xmlns:a="http://schemas.openxmlformats.org/drawingml/2006/main" noGrp="1"/>
          </p:cNvSpPr>
          <p:nvPr/>
        </p:nvSpPr>
        <p:spPr>
          <a:xfrm xmlns:a="http://schemas.openxmlformats.org/drawingml/2006/main">
            <a:off x="6429375" y="3838575"/>
            <a:ext cx="5715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1">
                <a:solidFill>
                  <a:srgbClr val="C8952D"/>
                </a:solidFill>
                <a:latin typeface="Aptos"/>
                <a:ea typeface="Aptos"/>
                <a:cs typeface="Aptos"/>
              </a:defRPr>
            </a:pPr>
            <a:r>
              <a:rPr sz="1050" b="1">
                <a:solidFill>
                  <a:srgbClr val="C8952D"/>
                </a:solidFill>
                <a:latin typeface="Aptos"/>
                <a:ea typeface="Aptos"/>
                <a:cs typeface="Aptos"/>
              </a:rPr>
              <a:t>90%</a:t>
            </a:r>
          </a:p>
        </p:txBody>
      </p:sp>
      <p:sp>
        <p:nvSpPr>
          <p:cNvPr id="21" name="">
            <a:extLst xmlns:a="http://schemas.openxmlformats.org/drawingml/2006/main">
              <a:ext uri="{FF2B5EF4-FFF2-40B4-BE49-F238E27FC236}">
                <a16:creationId xmlns:a16="http://schemas.microsoft.com/office/drawing/2014/main" id="{44A3FC7B-653A-4181-816E-7B4090740CBC}"/>
              </a:ext>
            </a:extLst>
          </p:cNvPr>
          <p:cNvSpPr>
            <a:spLocks xmlns:a="http://schemas.openxmlformats.org/drawingml/2006/main" noGrp="1"/>
          </p:cNvSpPr>
          <p:nvPr/>
        </p:nvSpPr>
        <p:spPr>
          <a:xfrm xmlns:a="http://schemas.openxmlformats.org/drawingml/2006/main">
            <a:off x="904875" y="4286250"/>
            <a:ext cx="2476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F7F4EE"/>
                </a:solidFill>
                <a:latin typeface="Aptos"/>
                <a:ea typeface="Aptos"/>
                <a:cs typeface="Aptos"/>
              </a:defRPr>
            </a:pPr>
            <a:r>
              <a:rPr sz="1125" b="1">
                <a:solidFill>
                  <a:srgbClr val="F7F4EE"/>
                </a:solidFill>
                <a:latin typeface="Aptos"/>
                <a:ea typeface="Aptos"/>
                <a:cs typeface="Aptos"/>
              </a:rPr>
              <a:t>Dashboard seller</a:t>
            </a:r>
          </a:p>
        </p:txBody>
      </p:sp>
      <p:sp>
        <p:nvSpPr>
          <p:cNvPr id="22" name="">
            <a:extLst xmlns:a="http://schemas.openxmlformats.org/drawingml/2006/main">
              <a:ext uri="{FF2B5EF4-FFF2-40B4-BE49-F238E27FC236}">
                <a16:creationId xmlns:a16="http://schemas.microsoft.com/office/drawing/2014/main" id="{D047BBC2-34AA-4201-BF59-8F6B2E9CFE99}"/>
              </a:ext>
            </a:extLst>
          </p:cNvPr>
          <p:cNvSpPr>
            <a:spLocks xmlns:a="http://schemas.openxmlformats.org/drawingml/2006/main" noGrp="1"/>
          </p:cNvSpPr>
          <p:nvPr/>
        </p:nvSpPr>
        <p:spPr>
          <a:xfrm xmlns:a="http://schemas.openxmlformats.org/drawingml/2006/main">
            <a:off x="3476625" y="4324350"/>
            <a:ext cx="2857500" cy="152400"/>
          </a:xfrm>
          <a:prstGeom xmlns:a="http://schemas.openxmlformats.org/drawingml/2006/main" prst="rect">
            <a:avLst/>
          </a:prstGeom>
          <a:solidFill xmlns:a="http://schemas.openxmlformats.org/drawingml/2006/main">
            <a:srgbClr val="EFEAE1"/>
          </a:solidFill>
          <a:ln xmlns:a="http://schemas.openxmlformats.org/drawingml/2006/main" w="0">
            <a:solidFill>
              <a:srgbClr val="000000">
                <a:alpha val="0"/>
              </a:srgbClr>
            </a:solidFill>
            <a:prstDash val="solid"/>
          </a:ln>
        </p:spPr>
      </p:sp>
      <p:sp>
        <p:nvSpPr>
          <p:cNvPr id="23" name="">
            <a:extLst xmlns:a="http://schemas.openxmlformats.org/drawingml/2006/main">
              <a:ext uri="{FF2B5EF4-FFF2-40B4-BE49-F238E27FC236}">
                <a16:creationId xmlns:a16="http://schemas.microsoft.com/office/drawing/2014/main" id="{836C0D86-B7CA-4A4E-9288-204CF4C075E7}"/>
              </a:ext>
            </a:extLst>
          </p:cNvPr>
          <p:cNvSpPr>
            <a:spLocks xmlns:a="http://schemas.openxmlformats.org/drawingml/2006/main" noGrp="1"/>
          </p:cNvSpPr>
          <p:nvPr/>
        </p:nvSpPr>
        <p:spPr>
          <a:xfrm xmlns:a="http://schemas.openxmlformats.org/drawingml/2006/main">
            <a:off x="3476625" y="4324350"/>
            <a:ext cx="2428875" cy="152400"/>
          </a:xfrm>
          <a:prstGeom xmlns:a="http://schemas.openxmlformats.org/drawingml/2006/main" prst="rect">
            <a:avLst/>
          </a:prstGeom>
          <a:solidFill xmlns:a="http://schemas.openxmlformats.org/drawingml/2006/main">
            <a:srgbClr val="C8952D"/>
          </a:solidFill>
          <a:ln xmlns:a="http://schemas.openxmlformats.org/drawingml/2006/main" w="0">
            <a:solidFill>
              <a:srgbClr val="000000">
                <a:alpha val="0"/>
              </a:srgbClr>
            </a:solidFill>
            <a:prstDash val="solid"/>
          </a:ln>
        </p:spPr>
      </p:sp>
      <p:sp>
        <p:nvSpPr>
          <p:cNvPr id="24" name="">
            <a:extLst xmlns:a="http://schemas.openxmlformats.org/drawingml/2006/main">
              <a:ext uri="{FF2B5EF4-FFF2-40B4-BE49-F238E27FC236}">
                <a16:creationId xmlns:a16="http://schemas.microsoft.com/office/drawing/2014/main" id="{2CFFE004-0B77-44D3-97E7-7934D350ED1B}"/>
              </a:ext>
            </a:extLst>
          </p:cNvPr>
          <p:cNvSpPr>
            <a:spLocks xmlns:a="http://schemas.openxmlformats.org/drawingml/2006/main" noGrp="1"/>
          </p:cNvSpPr>
          <p:nvPr/>
        </p:nvSpPr>
        <p:spPr>
          <a:xfrm xmlns:a="http://schemas.openxmlformats.org/drawingml/2006/main">
            <a:off x="6429375" y="4267200"/>
            <a:ext cx="5715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1">
                <a:solidFill>
                  <a:srgbClr val="C8952D"/>
                </a:solidFill>
                <a:latin typeface="Aptos"/>
                <a:ea typeface="Aptos"/>
                <a:cs typeface="Aptos"/>
              </a:defRPr>
            </a:pPr>
            <a:r>
              <a:rPr sz="1050" b="1">
                <a:solidFill>
                  <a:srgbClr val="C8952D"/>
                </a:solidFill>
                <a:latin typeface="Aptos"/>
                <a:ea typeface="Aptos"/>
                <a:cs typeface="Aptos"/>
              </a:rPr>
              <a:t>85%</a:t>
            </a:r>
          </a:p>
        </p:txBody>
      </p:sp>
      <p:sp>
        <p:nvSpPr>
          <p:cNvPr id="25" name="">
            <a:extLst xmlns:a="http://schemas.openxmlformats.org/drawingml/2006/main">
              <a:ext uri="{FF2B5EF4-FFF2-40B4-BE49-F238E27FC236}">
                <a16:creationId xmlns:a16="http://schemas.microsoft.com/office/drawing/2014/main" id="{9E60C5EF-B57E-4B64-9736-E98BA96A0BC9}"/>
              </a:ext>
            </a:extLst>
          </p:cNvPr>
          <p:cNvSpPr>
            <a:spLocks xmlns:a="http://schemas.openxmlformats.org/drawingml/2006/main" noGrp="1"/>
          </p:cNvSpPr>
          <p:nvPr/>
        </p:nvSpPr>
        <p:spPr>
          <a:xfrm xmlns:a="http://schemas.openxmlformats.org/drawingml/2006/main">
            <a:off x="904875" y="4714875"/>
            <a:ext cx="2476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F7F4EE"/>
                </a:solidFill>
                <a:latin typeface="Aptos"/>
                <a:ea typeface="Aptos"/>
                <a:cs typeface="Aptos"/>
              </a:defRPr>
            </a:pPr>
            <a:r>
              <a:rPr sz="1125" b="1">
                <a:solidFill>
                  <a:srgbClr val="F7F4EE"/>
                </a:solidFill>
                <a:latin typeface="Aptos"/>
                <a:ea typeface="Aptos"/>
                <a:cs typeface="Aptos"/>
              </a:rPr>
              <a:t>UI/UX</a:t>
            </a:r>
          </a:p>
        </p:txBody>
      </p:sp>
      <p:sp>
        <p:nvSpPr>
          <p:cNvPr id="26" name="">
            <a:extLst xmlns:a="http://schemas.openxmlformats.org/drawingml/2006/main">
              <a:ext uri="{FF2B5EF4-FFF2-40B4-BE49-F238E27FC236}">
                <a16:creationId xmlns:a16="http://schemas.microsoft.com/office/drawing/2014/main" id="{C10B8BD0-6CA7-4FC1-AD61-41D203FFD1CA}"/>
              </a:ext>
            </a:extLst>
          </p:cNvPr>
          <p:cNvSpPr>
            <a:spLocks xmlns:a="http://schemas.openxmlformats.org/drawingml/2006/main" noGrp="1"/>
          </p:cNvSpPr>
          <p:nvPr/>
        </p:nvSpPr>
        <p:spPr>
          <a:xfrm xmlns:a="http://schemas.openxmlformats.org/drawingml/2006/main">
            <a:off x="3476625" y="4752975"/>
            <a:ext cx="2857500" cy="152400"/>
          </a:xfrm>
          <a:prstGeom xmlns:a="http://schemas.openxmlformats.org/drawingml/2006/main" prst="rect">
            <a:avLst/>
          </a:prstGeom>
          <a:solidFill xmlns:a="http://schemas.openxmlformats.org/drawingml/2006/main">
            <a:srgbClr val="EFEAE1"/>
          </a:solidFill>
          <a:ln xmlns:a="http://schemas.openxmlformats.org/drawingml/2006/main" w="0">
            <a:solidFill>
              <a:srgbClr val="000000">
                <a:alpha val="0"/>
              </a:srgbClr>
            </a:solidFill>
            <a:prstDash val="solid"/>
          </a:ln>
        </p:spPr>
      </p:sp>
      <p:sp>
        <p:nvSpPr>
          <p:cNvPr id="27" name="">
            <a:extLst xmlns:a="http://schemas.openxmlformats.org/drawingml/2006/main">
              <a:ext uri="{FF2B5EF4-FFF2-40B4-BE49-F238E27FC236}">
                <a16:creationId xmlns:a16="http://schemas.microsoft.com/office/drawing/2014/main" id="{327EFCC5-2C51-492D-906F-6462C069E632}"/>
              </a:ext>
            </a:extLst>
          </p:cNvPr>
          <p:cNvSpPr>
            <a:spLocks xmlns:a="http://schemas.openxmlformats.org/drawingml/2006/main" noGrp="1"/>
          </p:cNvSpPr>
          <p:nvPr/>
        </p:nvSpPr>
        <p:spPr>
          <a:xfrm xmlns:a="http://schemas.openxmlformats.org/drawingml/2006/main">
            <a:off x="3476625" y="4752975"/>
            <a:ext cx="2286000" cy="152400"/>
          </a:xfrm>
          <a:prstGeom xmlns:a="http://schemas.openxmlformats.org/drawingml/2006/main" prst="rect">
            <a:avLst/>
          </a:prstGeom>
          <a:solidFill xmlns:a="http://schemas.openxmlformats.org/drawingml/2006/main">
            <a:srgbClr val="C8952D"/>
          </a:solidFill>
          <a:ln xmlns:a="http://schemas.openxmlformats.org/drawingml/2006/main" w="0">
            <a:solidFill>
              <a:srgbClr val="000000">
                <a:alpha val="0"/>
              </a:srgbClr>
            </a:solidFill>
            <a:prstDash val="solid"/>
          </a:ln>
        </p:spPr>
      </p:sp>
      <p:sp>
        <p:nvSpPr>
          <p:cNvPr id="28" name="">
            <a:extLst xmlns:a="http://schemas.openxmlformats.org/drawingml/2006/main">
              <a:ext uri="{FF2B5EF4-FFF2-40B4-BE49-F238E27FC236}">
                <a16:creationId xmlns:a16="http://schemas.microsoft.com/office/drawing/2014/main" id="{D67A31FF-A918-4EFA-8A54-5E94A5DB66CA}"/>
              </a:ext>
            </a:extLst>
          </p:cNvPr>
          <p:cNvSpPr>
            <a:spLocks xmlns:a="http://schemas.openxmlformats.org/drawingml/2006/main" noGrp="1"/>
          </p:cNvSpPr>
          <p:nvPr/>
        </p:nvSpPr>
        <p:spPr>
          <a:xfrm xmlns:a="http://schemas.openxmlformats.org/drawingml/2006/main">
            <a:off x="6429375" y="4695825"/>
            <a:ext cx="5715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1">
                <a:solidFill>
                  <a:srgbClr val="C8952D"/>
                </a:solidFill>
                <a:latin typeface="Aptos"/>
                <a:ea typeface="Aptos"/>
                <a:cs typeface="Aptos"/>
              </a:defRPr>
            </a:pPr>
            <a:r>
              <a:rPr sz="1050" b="1">
                <a:solidFill>
                  <a:srgbClr val="C8952D"/>
                </a:solidFill>
                <a:latin typeface="Aptos"/>
                <a:ea typeface="Aptos"/>
                <a:cs typeface="Aptos"/>
              </a:rPr>
              <a:t>80%</a:t>
            </a:r>
          </a:p>
        </p:txBody>
      </p:sp>
      <p:sp>
        <p:nvSpPr>
          <p:cNvPr id="29" name="">
            <a:extLst xmlns:a="http://schemas.openxmlformats.org/drawingml/2006/main">
              <a:ext uri="{FF2B5EF4-FFF2-40B4-BE49-F238E27FC236}">
                <a16:creationId xmlns:a16="http://schemas.microsoft.com/office/drawing/2014/main" id="{099B64E6-AD6B-4219-915E-06C027E6FCF5}"/>
              </a:ext>
            </a:extLst>
          </p:cNvPr>
          <p:cNvSpPr>
            <a:spLocks xmlns:a="http://schemas.openxmlformats.org/drawingml/2006/main" noGrp="1"/>
          </p:cNvSpPr>
          <p:nvPr/>
        </p:nvSpPr>
        <p:spPr>
          <a:xfrm xmlns:a="http://schemas.openxmlformats.org/drawingml/2006/main">
            <a:off x="7715250" y="2343150"/>
            <a:ext cx="2381250" cy="323850"/>
          </a:xfrm>
          <a:prstGeom xmlns:a="http://schemas.openxmlformats.org/drawingml/2006/main" prst="rect">
            <a:avLst/>
          </a:prstGeom>
          <a:solidFill xmlns:a="http://schemas.openxmlformats.org/drawingml/2006/main">
            <a:srgbClr val="D96B4C"/>
          </a:solidFill>
          <a:ln xmlns:a="http://schemas.openxmlformats.org/drawingml/2006/main" w="0">
            <a:solidFill>
              <a:srgbClr val="000000">
                <a:alpha val="0"/>
              </a:srgbClr>
            </a:solidFill>
            <a:prstDash val="solid"/>
          </a:ln>
        </p:spPr>
        <p:txBody>
          <a:bodyPr xmlns:a="http://schemas.openxmlformats.org/drawingml/2006/main" lIns="114300" tIns="95250" rIns="114300" bIns="95250" anchor="ctr"/>
          <a:lstStyle xmlns:a="http://schemas.openxmlformats.org/drawingml/2006/main"/>
          <a:p xmlns:a="http://schemas.openxmlformats.org/drawingml/2006/main">
            <a:pPr algn="ctr">
              <a:defRPr sz="1500" b="1">
                <a:solidFill>
                  <a:srgbClr val="FFFFFF"/>
                </a:solidFill>
                <a:latin typeface="Aptos"/>
                <a:ea typeface="Aptos"/>
                <a:cs typeface="Aptos"/>
              </a:defRPr>
            </a:pPr>
            <a:r>
              <a:rPr sz="1500" b="1">
                <a:solidFill>
                  <a:srgbClr val="FFFFFF"/>
                </a:solidFill>
                <a:latin typeface="Aptos"/>
                <a:ea typeface="Aptos"/>
                <a:cs typeface="Aptos"/>
              </a:rPr>
              <a:t>Hướng phát triển</a:t>
            </a:r>
          </a:p>
        </p:txBody>
      </p:sp>
      <p:sp>
        <p:nvSpPr>
          <p:cNvPr id="30" name="">
            <a:extLst xmlns:a="http://schemas.openxmlformats.org/drawingml/2006/main">
              <a:ext uri="{FF2B5EF4-FFF2-40B4-BE49-F238E27FC236}">
                <a16:creationId xmlns:a16="http://schemas.microsoft.com/office/drawing/2014/main" id="{FA702CE8-3DC8-4F97-B57A-A77923A7BC09}"/>
              </a:ext>
            </a:extLst>
          </p:cNvPr>
          <p:cNvSpPr>
            <a:spLocks xmlns:a="http://schemas.openxmlformats.org/drawingml/2006/main" noGrp="1"/>
          </p:cNvSpPr>
          <p:nvPr/>
        </p:nvSpPr>
        <p:spPr>
          <a:xfrm xmlns:a="http://schemas.openxmlformats.org/drawingml/2006/main">
            <a:off x="7143750" y="2895600"/>
            <a:ext cx="3714750" cy="1809750"/>
          </a:xfrm>
          <a:prstGeom xmlns:a="http://schemas.openxmlformats.org/drawingml/2006/main" prst="rect">
            <a:avLst/>
          </a:prstGeom>
          <a:solidFill xmlns:a="http://schemas.openxmlformats.org/drawingml/2006/main">
            <a:srgbClr val="24313D"/>
          </a:solidFill>
          <a:ln xmlns:a="http://schemas.openxmlformats.org/drawingml/2006/main" w="9525">
            <a:solidFill>
              <a:srgbClr val="52606B"/>
            </a:solidFill>
            <a:prstDash val="solid"/>
          </a:ln>
        </p:spPr>
        <p:txBody>
          <a:bodyPr xmlns:a="http://schemas.openxmlformats.org/drawingml/2006/main" lIns="114300" tIns="95250" rIns="114300" bIns="95250" anchor="t"/>
          <a:lstStyle xmlns:a="http://schemas.openxmlformats.org/drawingml/2006/main"/>
          <a:p xmlns:a="http://schemas.openxmlformats.org/drawingml/2006/main">
            <a:pPr algn="l">
              <a:defRPr sz="1350" b="0">
                <a:solidFill>
                  <a:srgbClr val="F7F4EE"/>
                </a:solidFill>
                <a:latin typeface="Aptos"/>
                <a:ea typeface="Aptos"/>
                <a:cs typeface="Aptos"/>
              </a:defRPr>
            </a:pPr>
            <a:r>
              <a:rPr sz="1350" b="0">
                <a:solidFill>
                  <a:srgbClr val="F7F4EE"/>
                </a:solidFill>
                <a:latin typeface="Aptos"/>
                <a:ea typeface="Aptos"/>
                <a:cs typeface="Aptos"/>
              </a:rPr>
              <a:t>1. Bổ sung time-decay cho hành vi gần đây.</a:t>
            </a:r>
          </a:p>
          <a:p xmlns:a="http://schemas.openxmlformats.org/drawingml/2006/main">
            <a:pPr algn="l">
              <a:defRPr sz="1350" b="0">
                <a:solidFill>
                  <a:srgbClr val="F7F4EE"/>
                </a:solidFill>
                <a:latin typeface="Aptos"/>
                <a:ea typeface="Aptos"/>
                <a:cs typeface="Aptos"/>
              </a:defRPr>
            </a:pPr>
            <a:r>
              <a:rPr sz="1350" b="0">
                <a:solidFill>
                  <a:srgbClr val="F7F4EE"/>
                </a:solidFill>
                <a:latin typeface="Aptos"/>
                <a:ea typeface="Aptos"/>
                <a:cs typeface="Aptos"/>
              </a:rPr>
              <a:t>2. Huấn luyện định kỳ thay vì on-demand.</a:t>
            </a:r>
          </a:p>
          <a:p xmlns:a="http://schemas.openxmlformats.org/drawingml/2006/main">
            <a:pPr algn="l">
              <a:defRPr sz="1350" b="0">
                <a:solidFill>
                  <a:srgbClr val="F7F4EE"/>
                </a:solidFill>
                <a:latin typeface="Aptos"/>
                <a:ea typeface="Aptos"/>
                <a:cs typeface="Aptos"/>
              </a:defRPr>
            </a:pPr>
            <a:r>
              <a:rPr sz="1350" b="0">
                <a:solidFill>
                  <a:srgbClr val="F7F4EE"/>
                </a:solidFill>
                <a:latin typeface="Aptos"/>
                <a:ea typeface="Aptos"/>
                <a:cs typeface="Aptos"/>
              </a:rPr>
              <a:t>3. Dashboard doanh thu và biểu đồ vận hành.</a:t>
            </a:r>
          </a:p>
          <a:p xmlns:a="http://schemas.openxmlformats.org/drawingml/2006/main">
            <a:pPr algn="l">
              <a:defRPr sz="1350" b="0">
                <a:solidFill>
                  <a:srgbClr val="F7F4EE"/>
                </a:solidFill>
                <a:latin typeface="Aptos"/>
                <a:ea typeface="Aptos"/>
                <a:cs typeface="Aptos"/>
              </a:defRPr>
            </a:pPr>
            <a:r>
              <a:rPr sz="1350" b="0">
                <a:solidFill>
                  <a:srgbClr val="F7F4EE"/>
                </a:solidFill>
                <a:latin typeface="Aptos"/>
                <a:ea typeface="Aptos"/>
                <a:cs typeface="Aptos"/>
              </a:rPr>
              <a:t>4. Kiểm thử bảo mật, hiệu năng và mobile responsive sâu hơn.</a:t>
            </a:r>
          </a:p>
        </p:txBody>
      </p:sp>
      <p:sp>
        <p:nvSpPr>
          <p:cNvPr id="31" name="">
            <a:extLst xmlns:a="http://schemas.openxmlformats.org/drawingml/2006/main">
              <a:ext uri="{FF2B5EF4-FFF2-40B4-BE49-F238E27FC236}">
                <a16:creationId xmlns:a16="http://schemas.microsoft.com/office/drawing/2014/main" id="{F2CFDB54-8E65-49D4-AFDA-667BE4B91E6D}"/>
              </a:ext>
            </a:extLst>
          </p:cNvPr>
          <p:cNvSpPr>
            <a:spLocks xmlns:a="http://schemas.openxmlformats.org/drawingml/2006/main" noGrp="1"/>
          </p:cNvSpPr>
          <p:nvPr/>
        </p:nvSpPr>
        <p:spPr>
          <a:xfrm xmlns:a="http://schemas.openxmlformats.org/drawingml/2006/main">
            <a:off x="666750" y="6000750"/>
            <a:ext cx="66675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D7CCBB"/>
                </a:solidFill>
                <a:latin typeface="Aptos Mono"/>
                <a:ea typeface="Aptos Mono"/>
                <a:cs typeface="Aptos Mono"/>
              </a:defRPr>
            </a:pPr>
            <a:r>
              <a:rPr sz="1200" b="0">
                <a:solidFill>
                  <a:srgbClr val="D7CCBB"/>
                </a:solidFill>
                <a:latin typeface="Aptos Mono"/>
                <a:ea typeface="Aptos Mono"/>
                <a:cs typeface="Aptos Mono"/>
              </a:rPr>
              <a:t>Demo: https://mystore-kltn.vercel.app/  |  Seller: /seller</a:t>
            </a:r>
          </a:p>
        </p:txBody>
      </p:sp>
      <p:sp>
        <p:nvSpPr>
          <p:cNvPr id="32" name="">
            <a:extLst xmlns:a="http://schemas.openxmlformats.org/drawingml/2006/main">
              <a:ext uri="{FF2B5EF4-FFF2-40B4-BE49-F238E27FC236}">
                <a16:creationId xmlns:a16="http://schemas.microsoft.com/office/drawing/2014/main" id="{21A2F749-CAA7-4E59-A0BB-FF5905ADA82D}"/>
              </a:ext>
            </a:extLst>
          </p:cNvPr>
          <p:cNvSpPr>
            <a:spLocks xmlns:a="http://schemas.openxmlformats.org/drawingml/2006/main" noGrp="1"/>
          </p:cNvSpPr>
          <p:nvPr/>
        </p:nvSpPr>
        <p:spPr>
          <a:xfrm xmlns:a="http://schemas.openxmlformats.org/drawingml/2006/main">
            <a:off x="666750" y="6553200"/>
            <a:ext cx="7810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7A7470"/>
                </a:solidFill>
                <a:latin typeface="Aptos"/>
                <a:ea typeface="Aptos"/>
                <a:cs typeface="Aptos"/>
              </a:defRPr>
            </a:pPr>
            <a:r>
              <a:rPr sz="750" b="0">
                <a:solidFill>
                  <a:srgbClr val="7A7470"/>
                </a:solidFill>
                <a:latin typeface="Aptos"/>
                <a:ea typeface="Aptos"/>
                <a:cs typeface="Aptos"/>
              </a:rPr>
              <a:t>Nguồn: Báo cáo đồ án MyStore</a:t>
            </a:r>
          </a:p>
        </p:txBody>
      </p:sp>
      <p:sp>
        <p:nvSpPr>
          <p:cNvPr id="33" name="">
            <a:extLst xmlns:a="http://schemas.openxmlformats.org/drawingml/2006/main">
              <a:ext uri="{FF2B5EF4-FFF2-40B4-BE49-F238E27FC236}">
                <a16:creationId xmlns:a16="http://schemas.microsoft.com/office/drawing/2014/main" id="{DF69DA8D-6A5E-4B43-9C9D-7616CA6A66A3}"/>
              </a:ext>
            </a:extLst>
          </p:cNvPr>
          <p:cNvSpPr>
            <a:spLocks xmlns:a="http://schemas.openxmlformats.org/drawingml/2006/main" noGrp="1"/>
          </p:cNvSpPr>
          <p:nvPr/>
        </p:nvSpPr>
        <p:spPr>
          <a:xfrm xmlns:a="http://schemas.openxmlformats.org/drawingml/2006/main">
            <a:off x="11239500" y="6515100"/>
            <a:ext cx="3810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825" b="1">
                <a:solidFill>
                  <a:srgbClr val="7A7470"/>
                </a:solidFill>
                <a:latin typeface="Aptos"/>
                <a:ea typeface="Aptos"/>
                <a:cs typeface="Aptos"/>
              </a:defRPr>
            </a:pPr>
            <a:r>
              <a:rPr sz="825" b="1">
                <a:solidFill>
                  <a:srgbClr val="7A7470"/>
                </a:solidFill>
                <a:latin typeface="Aptos"/>
                <a:ea typeface="Aptos"/>
                <a:cs typeface="Aptos"/>
              </a:rPr>
              <a:t>12</a:t>
            </a:r>
          </a:p>
        </p:txBody>
      </p:sp>
    </p:spTree>
    <p:extLst>
      <p:ext uri="{BB962C8B-B14F-4D97-AF65-F5344CB8AC3E}">
        <p14:creationId xmlns:p14="http://schemas.microsoft.com/office/powerpoint/2010/main" val="180382843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2026-06-23T14:17:28.6470000Z</dcterms:created>
  <dcterms:modified xsi:type="dcterms:W3CDTF">2026-06-23T14:17:28.6470000Z</dcterms:modified>
</coreProperties>
</file>